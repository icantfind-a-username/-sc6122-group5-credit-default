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04" autoAdjust="0"/>
  </p:normalViewPr>
  <p:slideViewPr>
    <p:cSldViewPr snapToGrid="0" snapToObjects="1">
      <p:cViewPr varScale="1">
        <p:scale>
          <a:sx n="85" d="100"/>
          <a:sy n="85" d="100"/>
        </p:scale>
        <p:origin x="100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overlay val="0"/>
    </c:title>
    <c:autoTitleDeleted val="0"/>
    <c:plotArea>
      <c:layout/>
      <c:barChart>
        <c:barDir val="col"/>
        <c:grouping val="clustered"/>
        <c:varyColors val="1"/>
        <c:ser>
          <c:idx val="0"/>
          <c:order val="0"/>
          <c:tx>
            <c:strRef>
              <c:f>Sheet1!$B$1</c:f>
              <c:strCache>
                <c:ptCount val="1"/>
                <c:pt idx="0">
                  <c:v>AP</c:v>
                </c:pt>
              </c:strCache>
            </c:strRef>
          </c:tx>
          <c:spPr>
            <a:solidFill>
              <a:srgbClr val="127D88"/>
            </a:solidFill>
            <a:ln>
              <a:noFill/>
            </a:ln>
          </c:spPr>
          <c:invertIfNegative val="1"/>
          <c:dLbls>
            <c:numFmt formatCode="0.00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c:v>
                </c:pt>
                <c:pt idx="1">
                  <c:v>Selected</c:v>
                </c:pt>
              </c:strCache>
            </c:strRef>
          </c:cat>
          <c:val>
            <c:numRef>
              <c:f>Sheet1!$B$2:$B$3</c:f>
              <c:numCache>
                <c:formatCode>General</c:formatCode>
                <c:ptCount val="2"/>
                <c:pt idx="0">
                  <c:v>0.28426721706228197</c:v>
                </c:pt>
                <c:pt idx="1">
                  <c:v>0.52209187840141158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8E0-436F-BFB2-5EB1CBE8AC6D}"/>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a:pPr>
            <a:endParaRPr lang="zh-CN"/>
          </a:p>
        </c:txPr>
        <c:crossAx val="-2113994440"/>
        <c:crosses val="autoZero"/>
        <c:auto val="1"/>
        <c:lblAlgn val="ctr"/>
        <c:lblOffset val="100"/>
        <c:noMultiLvlLbl val="0"/>
      </c:catAx>
      <c:valAx>
        <c:axId val="-2113994440"/>
        <c:scaling>
          <c:orientation val="minMax"/>
          <c:max val="0.65"/>
          <c:min val="0"/>
        </c:scaling>
        <c:delete val="0"/>
        <c:axPos val="l"/>
        <c:majorGridlines/>
        <c:numFmt formatCode="0.0" sourceLinked="0"/>
        <c:majorTickMark val="out"/>
        <c:minorTickMark val="none"/>
        <c:tickLblPos val="nextTo"/>
        <c:txPr>
          <a:bodyPr/>
          <a:lstStyle/>
          <a:p>
            <a:pPr>
              <a:defRPr sz="1400"/>
            </a:pPr>
            <a:endParaRPr lang="zh-CN"/>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0"/>
    <c:plotArea>
      <c:layout/>
      <c:barChart>
        <c:barDir val="bar"/>
        <c:grouping val="clustered"/>
        <c:varyColors val="1"/>
        <c:ser>
          <c:idx val="0"/>
          <c:order val="0"/>
          <c:tx>
            <c:strRef>
              <c:f>Sheet1!$B$1</c:f>
              <c:strCache>
                <c:ptCount val="1"/>
                <c:pt idx="0">
                  <c:v>Baseline</c:v>
                </c:pt>
              </c:strCache>
            </c:strRef>
          </c:tx>
          <c:spPr>
            <a:solidFill>
              <a:srgbClr val="127D88"/>
            </a:solidFill>
            <a:ln>
              <a:noFill/>
            </a:ln>
          </c:spPr>
          <c:invertIfNegative val="1"/>
          <c:dLbls>
            <c:numFmt formatCode="0.00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LR*</c:v>
                </c:pt>
                <c:pt idx="1">
                  <c:v>Tree</c:v>
                </c:pt>
                <c:pt idx="2">
                  <c:v>RF</c:v>
                </c:pt>
                <c:pt idx="3">
                  <c:v>XGBoost</c:v>
                </c:pt>
              </c:strCache>
            </c:strRef>
          </c:cat>
          <c:val>
            <c:numRef>
              <c:f>Sheet1!$B$2:$B$5</c:f>
              <c:numCache>
                <c:formatCode>General</c:formatCode>
                <c:ptCount val="4"/>
                <c:pt idx="0">
                  <c:v>0.49699814292117273</c:v>
                </c:pt>
                <c:pt idx="1">
                  <c:v>0.28426721706228197</c:v>
                </c:pt>
                <c:pt idx="2">
                  <c:v>0.53116919968617304</c:v>
                </c:pt>
                <c:pt idx="3">
                  <c:v>0.55438030734953225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09FF-4DFF-809C-6D6F0F11D937}"/>
            </c:ext>
          </c:extLst>
        </c:ser>
        <c:ser>
          <c:idx val="1"/>
          <c:order val="1"/>
          <c:tx>
            <c:strRef>
              <c:f>Sheet1!$C$1</c:f>
              <c:strCache>
                <c:ptCount val="1"/>
                <c:pt idx="0">
                  <c:v>CV-selected</c:v>
                </c:pt>
              </c:strCache>
            </c:strRef>
          </c:tx>
          <c:spPr>
            <a:solidFill>
              <a:srgbClr val="DD843D"/>
            </a:solidFill>
            <a:ln>
              <a:noFill/>
            </a:ln>
          </c:spPr>
          <c:invertIfNegative val="1"/>
          <c:dLbls>
            <c:numFmt formatCode="0.00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LR*</c:v>
                </c:pt>
                <c:pt idx="1">
                  <c:v>Tree</c:v>
                </c:pt>
                <c:pt idx="2">
                  <c:v>RF</c:v>
                </c:pt>
                <c:pt idx="3">
                  <c:v>XGBoost</c:v>
                </c:pt>
              </c:strCache>
            </c:strRef>
          </c:cat>
          <c:val>
            <c:numRef>
              <c:f>Sheet1!$C$2:$C$5</c:f>
              <c:numCache>
                <c:formatCode>General</c:formatCode>
                <c:ptCount val="4"/>
                <c:pt idx="0">
                  <c:v>0.49674924303782697</c:v>
                </c:pt>
                <c:pt idx="1">
                  <c:v>0.52209187840141158</c:v>
                </c:pt>
                <c:pt idx="2">
                  <c:v>0.5507549511360591</c:v>
                </c:pt>
                <c:pt idx="3">
                  <c:v>0.55160363032130344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09FF-4DFF-809C-6D6F0F11D937}"/>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600"/>
            </a:pPr>
            <a:endParaRPr lang="zh-CN"/>
          </a:p>
        </c:txPr>
        <c:crossAx val="-2113994440"/>
        <c:crosses val="autoZero"/>
        <c:auto val="1"/>
        <c:lblAlgn val="ctr"/>
        <c:lblOffset val="100"/>
        <c:noMultiLvlLbl val="0"/>
      </c:catAx>
      <c:valAx>
        <c:axId val="-2113994440"/>
        <c:scaling>
          <c:orientation val="minMax"/>
          <c:max val="0.65"/>
          <c:min val="0"/>
        </c:scaling>
        <c:delete val="0"/>
        <c:axPos val="b"/>
        <c:majorGridlines/>
        <c:numFmt formatCode="0.000" sourceLinked="0"/>
        <c:majorTickMark val="out"/>
        <c:minorTickMark val="none"/>
        <c:tickLblPos val="nextTo"/>
        <c:txPr>
          <a:bodyPr/>
          <a:lstStyle/>
          <a:p>
            <a:pPr>
              <a:defRPr sz="1400"/>
            </a:pPr>
            <a:endParaRPr lang="zh-CN"/>
          </a:p>
        </c:txPr>
        <c:crossAx val="-2068027336"/>
        <c:crosses val="autoZero"/>
        <c:crossBetween val="between"/>
      </c:valAx>
    </c:plotArea>
    <c:legend>
      <c:legendPos val="b"/>
      <c:overlay val="0"/>
      <c:txPr>
        <a:bodyPr/>
        <a:lstStyle/>
        <a:p>
          <a:pPr>
            <a:defRPr sz="1500"/>
          </a:pPr>
          <a:endParaRPr lang="zh-CN"/>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overlay val="0"/>
    </c:title>
    <c:autoTitleDeleted val="0"/>
    <c:plotArea>
      <c:layout/>
      <c:barChart>
        <c:barDir val="col"/>
        <c:grouping val="clustered"/>
        <c:varyColors val="1"/>
        <c:ser>
          <c:idx val="0"/>
          <c:order val="0"/>
          <c:tx>
            <c:strRef>
              <c:f>Sheet1!$B$1</c:f>
              <c:strCache>
                <c:ptCount val="1"/>
                <c:pt idx="0">
                  <c:v>AP</c:v>
                </c:pt>
              </c:strCache>
            </c:strRef>
          </c:tx>
          <c:spPr>
            <a:solidFill>
              <a:srgbClr val="127D88"/>
            </a:solidFill>
            <a:ln>
              <a:noFill/>
            </a:ln>
          </c:spPr>
          <c:invertIfNegative val="1"/>
          <c:dLbls>
            <c:numFmt formatCode="0.00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c:v>
                </c:pt>
                <c:pt idx="1">
                  <c:v>Selected</c:v>
                </c:pt>
              </c:strCache>
            </c:strRef>
          </c:cat>
          <c:val>
            <c:numRef>
              <c:f>Sheet1!$B$2:$B$3</c:f>
              <c:numCache>
                <c:formatCode>General</c:formatCode>
                <c:ptCount val="2"/>
                <c:pt idx="0">
                  <c:v>0.53116919968617304</c:v>
                </c:pt>
                <c:pt idx="1">
                  <c:v>0.5507549511360591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77E-42D6-9D06-66E0A9CFA0F1}"/>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a:pPr>
            <a:endParaRPr lang="zh-CN"/>
          </a:p>
        </c:txPr>
        <c:crossAx val="-2113994440"/>
        <c:crosses val="autoZero"/>
        <c:auto val="1"/>
        <c:lblAlgn val="ctr"/>
        <c:lblOffset val="100"/>
        <c:noMultiLvlLbl val="0"/>
      </c:catAx>
      <c:valAx>
        <c:axId val="-2113994440"/>
        <c:scaling>
          <c:orientation val="minMax"/>
          <c:max val="0.65"/>
          <c:min val="0"/>
        </c:scaling>
        <c:delete val="0"/>
        <c:axPos val="l"/>
        <c:majorGridlines/>
        <c:numFmt formatCode="0.0" sourceLinked="0"/>
        <c:majorTickMark val="out"/>
        <c:minorTickMark val="none"/>
        <c:tickLblPos val="nextTo"/>
        <c:txPr>
          <a:bodyPr/>
          <a:lstStyle/>
          <a:p>
            <a:pPr>
              <a:defRPr sz="1400"/>
            </a:pPr>
            <a:endParaRPr lang="zh-CN"/>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title>
      <c:overlay val="0"/>
    </c:title>
    <c:autoTitleDeleted val="0"/>
    <c:plotArea>
      <c:layout/>
      <c:barChart>
        <c:barDir val="col"/>
        <c:grouping val="clustered"/>
        <c:varyColors val="1"/>
        <c:ser>
          <c:idx val="0"/>
          <c:order val="0"/>
          <c:tx>
            <c:strRef>
              <c:f>Sheet1!$B$1</c:f>
              <c:strCache>
                <c:ptCount val="1"/>
                <c:pt idx="0">
                  <c:v>AP</c:v>
                </c:pt>
              </c:strCache>
            </c:strRef>
          </c:tx>
          <c:spPr>
            <a:solidFill>
              <a:srgbClr val="127D88"/>
            </a:solidFill>
            <a:ln>
              <a:noFill/>
            </a:ln>
          </c:spPr>
          <c:invertIfNegative val="1"/>
          <c:dLbls>
            <c:numFmt formatCode="0.00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c:v>
                </c:pt>
                <c:pt idx="1">
                  <c:v>Selected</c:v>
                </c:pt>
              </c:strCache>
            </c:strRef>
          </c:cat>
          <c:val>
            <c:numRef>
              <c:f>Sheet1!$B$2:$B$3</c:f>
              <c:numCache>
                <c:formatCode>General</c:formatCode>
                <c:ptCount val="2"/>
                <c:pt idx="0">
                  <c:v>0.55438030734953225</c:v>
                </c:pt>
                <c:pt idx="1">
                  <c:v>0.55160363032130344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CD8-4631-A049-7868B4185BAD}"/>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a:pPr>
            <a:endParaRPr lang="zh-CN"/>
          </a:p>
        </c:txPr>
        <c:crossAx val="-2113994440"/>
        <c:crosses val="autoZero"/>
        <c:auto val="1"/>
        <c:lblAlgn val="ctr"/>
        <c:lblOffset val="100"/>
        <c:noMultiLvlLbl val="0"/>
      </c:catAx>
      <c:valAx>
        <c:axId val="-2113994440"/>
        <c:scaling>
          <c:orientation val="minMax"/>
          <c:max val="0.65"/>
          <c:min val="0"/>
        </c:scaling>
        <c:delete val="0"/>
        <c:axPos val="l"/>
        <c:majorGridlines/>
        <c:numFmt formatCode="0.0" sourceLinked="0"/>
        <c:majorTickMark val="out"/>
        <c:minorTickMark val="none"/>
        <c:tickLblPos val="nextTo"/>
        <c:txPr>
          <a:bodyPr/>
          <a:lstStyle/>
          <a:p>
            <a:pPr>
              <a:defRPr sz="1400"/>
            </a:pPr>
            <a:endParaRPr lang="zh-CN"/>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0"/>
    <c:plotArea>
      <c:layout/>
      <c:barChart>
        <c:barDir val="col"/>
        <c:grouping val="clustered"/>
        <c:varyColors val="1"/>
        <c:ser>
          <c:idx val="0"/>
          <c:order val="0"/>
          <c:tx>
            <c:strRef>
              <c:f>Sheet1!$B$1</c:f>
              <c:strCache>
                <c:ptCount val="1"/>
                <c:pt idx="0">
                  <c:v>Threshold 0.5</c:v>
                </c:pt>
              </c:strCache>
            </c:strRef>
          </c:tx>
          <c:spPr>
            <a:solidFill>
              <a:srgbClr val="127D88"/>
            </a:solidFill>
            <a:ln>
              <a:noFill/>
            </a:ln>
          </c:spPr>
          <c:invertIfNegative val="1"/>
          <c:dLbls>
            <c:numFmt formatCode="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False positives</c:v>
                </c:pt>
                <c:pt idx="1">
                  <c:v>False negatives</c:v>
                </c:pt>
              </c:strCache>
            </c:strRef>
          </c:cat>
          <c:val>
            <c:numRef>
              <c:f>Sheet1!$B$2:$B$3</c:f>
              <c:numCache>
                <c:formatCode>General</c:formatCode>
                <c:ptCount val="2"/>
                <c:pt idx="0">
                  <c:v>690</c:v>
                </c:pt>
                <c:pt idx="1">
                  <c:v>599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AD9C-4CFF-ABB1-E441FA06AA91}"/>
            </c:ext>
          </c:extLst>
        </c:ser>
        <c:ser>
          <c:idx val="1"/>
          <c:order val="1"/>
          <c:tx>
            <c:strRef>
              <c:f>Sheet1!$C$1</c:f>
              <c:strCache>
                <c:ptCount val="1"/>
                <c:pt idx="0">
                  <c:v>Validation r=5</c:v>
                </c:pt>
              </c:strCache>
            </c:strRef>
          </c:tx>
          <c:spPr>
            <a:solidFill>
              <a:srgbClr val="DD843D"/>
            </a:solidFill>
            <a:ln>
              <a:noFill/>
            </a:ln>
          </c:spPr>
          <c:invertIfNegative val="1"/>
          <c:dLbls>
            <c:numFmt formatCode="0" sourceLinked="0"/>
            <c:spPr>
              <a:noFill/>
              <a:ln>
                <a:noFill/>
              </a:ln>
              <a:effectLst/>
            </c:spPr>
            <c:txPr>
              <a:bodyPr/>
              <a:lstStyle/>
              <a:p>
                <a:pPr>
                  <a:defRPr sz="1700"/>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False positives</c:v>
                </c:pt>
                <c:pt idx="1">
                  <c:v>False negatives</c:v>
                </c:pt>
              </c:strCache>
            </c:strRef>
          </c:cat>
          <c:val>
            <c:numRef>
              <c:f>Sheet1!$C$2:$C$3</c:f>
              <c:numCache>
                <c:formatCode>General</c:formatCode>
                <c:ptCount val="2"/>
                <c:pt idx="0">
                  <c:v>2248</c:v>
                </c:pt>
                <c:pt idx="1">
                  <c:v>232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AD9C-4CFF-ABB1-E441FA06AA91}"/>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a:pPr>
            <a:endParaRPr lang="zh-CN"/>
          </a:p>
        </c:txPr>
        <c:crossAx val="-2113994440"/>
        <c:crosses val="autoZero"/>
        <c:auto val="1"/>
        <c:lblAlgn val="ctr"/>
        <c:lblOffset val="100"/>
        <c:noMultiLvlLbl val="0"/>
      </c:catAx>
      <c:valAx>
        <c:axId val="-2113994440"/>
        <c:scaling>
          <c:orientation val="minMax"/>
          <c:max val="2700"/>
          <c:min val="0"/>
        </c:scaling>
        <c:delete val="0"/>
        <c:axPos val="l"/>
        <c:majorGridlines/>
        <c:numFmt formatCode="0" sourceLinked="0"/>
        <c:majorTickMark val="out"/>
        <c:minorTickMark val="none"/>
        <c:tickLblPos val="nextTo"/>
        <c:txPr>
          <a:bodyPr/>
          <a:lstStyle/>
          <a:p>
            <a:pPr>
              <a:defRPr sz="1400"/>
            </a:pPr>
            <a:endParaRPr lang="zh-CN"/>
          </a:p>
        </c:txPr>
        <c:crossAx val="-2068027336"/>
        <c:crosses val="autoZero"/>
        <c:crossBetween val="between"/>
      </c:valAx>
    </c:plotArea>
    <c:legend>
      <c:legendPos val="b"/>
      <c:overlay val="0"/>
      <c:txPr>
        <a:bodyPr/>
        <a:lstStyle/>
        <a:p>
          <a:pPr>
            <a:defRPr sz="1500"/>
          </a:pPr>
          <a:endParaRPr lang="zh-CN"/>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2321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1 | 45 seconds | NAME / ID / SHARE TO CONFIRM</a:t>
            </a:r>
          </a:p>
          <a:p>
            <a:endParaRPr/>
          </a:p>
          <a:p>
            <a:r>
              <a:t>Our question is how to identify default risk while balancing predictive ranking, interpretability, and the cost of taking action. We compare logistic regression, a decision tree, random forest, and XGBoost on shared historical records. A model score ranks accounts, but a threshold decides which accounts receive attention. Those are different questions, and our results will show why the distinction matters. Each of our four roles has three minutes, followed by three minutes for questions. Member names, student IDs, and contribution shares remain visibly marked for confirmation. I will begin with the data and the evidence boundary.</a:t>
            </a:r>
          </a:p>
          <a:p>
            <a:endParaRPr/>
          </a:p>
          <a:p>
            <a:r>
              <a:t>Transition: First, let us see how the shared data supports a fair comparison.</a:t>
            </a:r>
          </a:p>
          <a:p>
            <a:endParaRPr/>
          </a:p>
          <a:p>
            <a:r>
              <a:t>UCI Default of Credit Card Clients; group experiment artifacts.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1 | 70 seconds | NAME / ID / SHARE TO CONFIRM</a:t>
            </a:r>
          </a:p>
          <a:p>
            <a:endParaRPr/>
          </a:p>
          <a:p>
            <a:r>
              <a:t>The UCI dataset contains thirty thousand Taiwan credit card clients and twenty-three predictors. About twenty-two percent default, so an always-negative classifier can appear accurate while detecting nobody. We retain the supplied stratified split: eighteen thousand fitting rows, six thousand validation rows, and six thousand historical test rows. Five shared folds inside fitting data select configurations by average precision. Each fold learns its own category encoding, and logistic regression also learns scaling there. Validation selects thresholds without a later refit. The audit confirms identical memberships across the reproducible models. This random historical holdout is not temporal or external validation.</a:t>
            </a:r>
          </a:p>
          <a:p>
            <a:endParaRPr/>
          </a:p>
          <a:p>
            <a:r>
              <a:t>Transition: With the data roles fixed, we can introduce the logistic reference and its caveat.</a:t>
            </a:r>
          </a:p>
          <a:p>
            <a:endParaRPr/>
          </a:p>
          <a:p>
            <a:r>
              <a:t>Source: data/splits; protocol_frozen.json; results/final/audit.json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1 | 65 seconds | NAME / ID / SHARE TO CONFIRM</a:t>
            </a:r>
          </a:p>
          <a:p>
            <a:endParaRPr/>
          </a:p>
          <a:p>
            <a:r>
              <a:t>Logistic regression offers a linear reference whose coefficients describe regularized associations. We used fold-trained scaling and categorical encoding, then compared twelve declared combinations of regularization strength and class weighting. Cross-validation selected C equal to zero point one without class weighting. The test AP is 0.4967, versus 0.4970 for the baseline, so selection did not improve ranking here. Crucially, the original logistic notebook was empty, and its original procedure cannot be verified. We preserve those artifacts and label our reproducible run as a post-hoc supplement after earlier test results existed. Part two now examines how tree regularization changes performance.</a:t>
            </a:r>
          </a:p>
          <a:p>
            <a:endParaRPr/>
          </a:p>
          <a:p>
            <a:r>
              <a:t>Transition: Part two now explains what changes when we regularize a decision tree.</a:t>
            </a:r>
          </a:p>
          <a:p>
            <a:endParaRPr/>
          </a:p>
          <a:p>
            <a:r>
              <a:t>Source: results/final/model_comparison.csv | Historical test n=6,000; default=1 | LR* = post-hoc reproducibility supplement after historic test results existed.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2 | 65 seconds | NAME / ID / SHARE TO CONFIRM</a:t>
            </a:r>
          </a:p>
          <a:p>
            <a:endParaRPr dirty="0"/>
          </a:p>
          <a:p>
            <a:r>
              <a:rPr lang="en-US" altLang="zh-CN" sz="1200" kern="1200" dirty="0">
                <a:solidFill>
                  <a:schemeClr val="tx1"/>
                </a:solidFill>
                <a:effectLst/>
                <a:latin typeface="+mn-lt"/>
                <a:ea typeface="+mn-ea"/>
                <a:cs typeface="+mn-cs"/>
              </a:rPr>
              <a:t>A decision tree can create very detailed splits, so it can easily overfit.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In our baseline model, the tree fits the training folds almost perfectly, but its cross-validation performance is much lower.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We therefore tested 21 combinations of maximum depth and minimum leaf size. The selected model requires at least 100 observations in each leaf, while keeping no explicit depth limit.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On the test set, average precision improves from 0.284 to 0.522.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So the key point is that controlling leaf size greatly improves generalization for the decision tree.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Next, I’ll show one of the main rules learned by this model.</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2 | 60 seconds | NAME / ID / SHARE TO CONFIRM</a:t>
            </a:r>
          </a:p>
          <a:p>
            <a:endParaRPr dirty="0"/>
          </a:p>
          <a:p>
            <a:r>
              <a:rPr lang="en-US" altLang="zh-CN" sz="1200" kern="1200" dirty="0">
                <a:solidFill>
                  <a:schemeClr val="tx1"/>
                </a:solidFill>
                <a:effectLst/>
                <a:latin typeface="+mn-lt"/>
                <a:ea typeface="+mn-ea"/>
                <a:cs typeface="+mn-cs"/>
              </a:rPr>
              <a:t>The selected tree starts with recent repayment status, PAY zero.</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root split is at 1.5. In the fitting sample, the default rate is about 16.5% on the left branch, compared with about 70.1% on the right branch.</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shows that recent repayment status is one of the strongest predictive signals used by the tree.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However, this is only an association in our fitted data. It does not mean repayment status directly causes default.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full tree is still quite large, with depth 18 and 134 leaves, so this rule is just one representative example rather than a complete explanation of the model.</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Next, we compare the tree with the other models using the same ranking metric.</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Finally, we compare the effect of tuning across all four model families using test average precision.</a:t>
            </a:r>
          </a:p>
          <a:p>
            <a:r>
              <a:rPr lang="zh-CN" altLang="zh-CN" dirty="0"/>
              <a:t>The most noticeable result is the decision tree. Its AP increases substantially from 0.284 to 0.522 after tuning. In comparison, logistic regression stays around 0.497, and random forest improves only moderately. XGBoost changes very little.</a:t>
            </a:r>
          </a:p>
          <a:p>
            <a:r>
              <a:rPr lang="zh-CN" altLang="zh-CN" dirty="0"/>
              <a:t>This shows that the decision tree benefits the most from hyperparameter tuning, which is consistent with what we saw earlier: controlling tree complexity is especially important for reducing overfitting.</a:t>
            </a:r>
          </a:p>
          <a:p>
            <a:r>
              <a:rPr lang="zh-CN" altLang="zh-CN" dirty="0"/>
              <a:t>In terms of final ranking performance, the selected XGBoost and random forest models achieve AP values of 0.552 and 0.551 respectively. These values are extremely close, so we should not claim that one is clearly superior.</a:t>
            </a:r>
          </a:p>
          <a:p>
            <a:r>
              <a:rPr lang="zh-CN" altLang="zh-CN" dirty="0"/>
              <a:t>Also, model selection was based on cross-validation before evaluating the test set, so we do not re-select a model simply because a baseline happens to perform slightly better on the test data.</a:t>
            </a:r>
          </a:p>
          <a:p>
            <a:r>
              <a:rPr lang="zh-CN" altLang="zh-CN" dirty="0"/>
              <a:t>Part three will now take a closer look at the random forest, including its tuning result and the audit behind the model comparison.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3 | 70 seconds | NAME / ID / SHARE TO CONFIRM</a:t>
            </a:r>
          </a:p>
          <a:p>
            <a:endParaRPr/>
          </a:p>
          <a:p>
            <a:r>
              <a:t>Random forest averages many trees, reducing dependence on any single partition. We evaluated a baseline and twenty-three seeded candidate configurations using the same five fitting folds and average-precision objective. The selected configuration uses five hundred trees, maximum depth eight, a minimum leaf size of two, and half the features at each split. It also weights the positive class three times as heavily. Test AP changes from 0.5312 to 0.5508. Class weighting affects the learned score distribution, so we should not assume these scores are calibrated probabilities. We next inspect the operating threshold and the resulting workload rather than relying on ranking alone.</a:t>
            </a:r>
          </a:p>
          <a:p>
            <a:endParaRPr/>
          </a:p>
          <a:p>
            <a:r>
              <a:t>Transition: We next move from the forest's ranking to its decision threshold.</a:t>
            </a:r>
          </a:p>
          <a:p>
            <a:endParaRPr/>
          </a:p>
          <a:p>
            <a:r>
              <a:t>Source: results/final/model_comparison.csv | Historical test n=6,000; default=1 | results/rf/protocol_frozen.json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3 | 60 seconds | NAME / ID / SHARE TO CONFIRM</a:t>
            </a:r>
          </a:p>
          <a:p>
            <a:endParaRPr/>
          </a:p>
          <a:p>
            <a:r>
              <a:t>For the forest, validation selected a threshold of 0.3229 under the hypothetical assumption that a missed default costs five times a false-positive review. On the historical test set, recall rises from 52.0% to 77.1%, but the alert rate also rises from 21.1% to 48.4%. Cost falls from 3758 to 3404 units. We independently checked the saved error profiles and case rules for both policies. The most confident errors can appear in both exports because they remain errors at both thresholds. Identical extreme examples alone therefore do not demonstrate an export mistake.</a:t>
            </a:r>
          </a:p>
          <a:p>
            <a:endParaRPr/>
          </a:p>
          <a:p>
            <a:r>
              <a:t>Transition: Before comparing policies, we should check that the underlying evidence aligns.</a:t>
            </a:r>
          </a:p>
          <a:p>
            <a:endParaRPr/>
          </a:p>
          <a:p>
            <a:r>
              <a:t>Source: results/final/model_comparison.csv | Historical test n=6,000; default=1 | RF misclassification audit; costs hypothetical.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 3 | 50 seconds | NAME / ID / SHARE TO CONFIRM</a:t>
            </a:r>
          </a:p>
          <a:p>
            <a:endParaRPr dirty="0"/>
          </a:p>
          <a:p>
            <a:r>
              <a:rPr dirty="0"/>
              <a:t>Our audit checks that comparisons use the same clients, labels, development partitions, and five-fold memberships. It recomputes metrics from row-aligned saved predictions and applies the exact greater-than-or-equal decision rule before rounding. Saved-model replay reproduces frozen decisions; minor floating-point differences are documented. These checks make the comparison traceable, but they do not make every aspect identical: search budgets differ, and the logistic supplement has a distinct evidence history. Nor can a repository audit prove everything performed outside the repository. With those boundaries explicit, part four now separates </a:t>
            </a:r>
            <a:r>
              <a:rPr dirty="0" err="1"/>
              <a:t>XGBoost's</a:t>
            </a:r>
            <a:r>
              <a:rPr dirty="0"/>
              <a:t> ranking result from its threshold-policy result.</a:t>
            </a:r>
          </a:p>
          <a:p>
            <a:endParaRPr dirty="0"/>
          </a:p>
          <a:p>
            <a:r>
              <a:rPr dirty="0"/>
              <a:t>Transition: Part four now separates </a:t>
            </a:r>
            <a:r>
              <a:rPr dirty="0" err="1"/>
              <a:t>XGBoost's</a:t>
            </a:r>
            <a:r>
              <a:rPr dirty="0"/>
              <a:t> ranking result from its action-policy result.</a:t>
            </a:r>
          </a:p>
          <a:p>
            <a:endParaRPr dirty="0"/>
          </a:p>
          <a:p>
            <a:r>
              <a:rPr dirty="0"/>
              <a:t>Source: results/final/</a:t>
            </a:r>
            <a:r>
              <a:rPr dirty="0" err="1"/>
              <a:t>audit.json</a:t>
            </a:r>
            <a:r>
              <a:rPr dirty="0"/>
              <a:t>; integration/LOGISTIC_PROVENANCE.md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4 | 60 seconds | NAME / ID / SHARE TO CONFIRM</a:t>
            </a:r>
          </a:p>
          <a:p>
            <a:endParaRPr/>
          </a:p>
          <a:p>
            <a:r>
              <a:t>XGBoost builds trees sequentially with regularization. We retained the baseline and searched twenty-three additional seeded configurations using the shared CV objective. The selected configuration has test AP 0.5516, compared with 0.5544 for the baseline. The paired bootstrap interval for the difference spans zero, so we do not claim a ranking improvement. This bootstrap resamples the fixed predictions and does not include model retraining or selection uncertainty. The useful next question is separate: given the selected model's scores, how does a validation-chosen action threshold change missed defaults, false positives, and the stated hypothetical cost?</a:t>
            </a:r>
          </a:p>
          <a:p>
            <a:endParaRPr/>
          </a:p>
          <a:p>
            <a:r>
              <a:t>Transition: The next slide holds scores fixed and changes only the validation-selected threshold.</a:t>
            </a:r>
          </a:p>
          <a:p>
            <a:endParaRPr/>
          </a:p>
          <a:p>
            <a:r>
              <a:t>Source: results/final/model_comparison.csv | Historical test n=6,000; default=1 | results/xgboost/bootstrap_intervals.csv</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4 | 80 seconds | NAME / ID / SHARE TO CONFIRM</a:t>
            </a:r>
          </a:p>
          <a:p>
            <a:endParaRPr/>
          </a:p>
          <a:p>
            <a:r>
              <a:t>At a cost ratio of five, validation selects XGBoost's threshold at 0.3150. Applying it unchanged to the historical test set reduces false negatives from 599 to 232, while false positives rise from 690 to 2248. Recall reaches 82.5%, but 55.7% of clients are flagged. The total hypothetical cost falls from 3685 to 3408, about 7.5%. This is not an improvement in AP or ROC-AUC; the scores have not changed. The policy may be impractical if review capacity is limited. Real exposure, loss severity, and intervention benefits are unavailable, so these cost units are a sensitivity analysis.</a:t>
            </a:r>
          </a:p>
          <a:p>
            <a:endParaRPr/>
          </a:p>
          <a:p>
            <a:r>
              <a:t>Transition: This trade-off leads to our main conclusion about ranking, costs, and workload.</a:t>
            </a:r>
          </a:p>
          <a:p>
            <a:endParaRPr/>
          </a:p>
          <a:p>
            <a:r>
              <a:t>Source: results/final/model_comparison.csv | Historical test n=6,000; default=1 | FP + 5×FN; threshold selected only on validation.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4 | 40 seconds | NAME / ID / SHARE TO CONFIRM</a:t>
            </a:r>
          </a:p>
          <a:p>
            <a:endParaRPr/>
          </a:p>
          <a:p>
            <a:r>
              <a:t>Ranking and action policy answer different questions. Tree regularization improves its baseline, while the selected ensembles have similar ranking estimates. Lower thresholds reduce the stated cost by creating more reviews. Operational recommendations require realistic costs and capacity constraints. Historical data, duplicates, random splitting, and logistic provenance remain limitations. A new study should use fresh temporal or external data and examine calibration and subgroup errors. Thank you; we now have three minutes for questions.</a:t>
            </a:r>
          </a:p>
          <a:p>
            <a:endParaRPr/>
          </a:p>
          <a:p>
            <a:r>
              <a:t>Transition: We welcome your questions; the following slides provide supporting details.</a:t>
            </a:r>
          </a:p>
          <a:p>
            <a:endParaRPr/>
          </a:p>
          <a:p>
            <a:r>
              <a:t>Historical educational study; no causal or deployment-readiness claim.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 0 seconds | NAME / ID / SHARE TO CONFIRM</a:t>
            </a:r>
          </a:p>
          <a:p>
            <a:endParaRPr/>
          </a:p>
          <a:p>
            <a:r>
              <a:t>If asked about the ranking metric, explain that average precision weights each precision value by the associated increase in recall. It does not linearly interpolate the precision-recall curve with trapezoids, so similarly named PR-AUC values need not agree. ROC-AUC instead summarizes positive-versus-negative score ordering. Neither metric changes when we apply a different operating threshold to the same saved scores. Precision and recall do change because the decision set changes. The historical logistic CSV uses a PR-AUC label whose computation cannot be verified, which is one reason it is excluded from our verified ranking table.</a:t>
            </a:r>
          </a:p>
          <a:p>
            <a:endParaRPr/>
          </a:p>
          <a:p>
            <a:r>
              <a:t>Transition: If useful, we can next explain the cost rule and the scope of its uncertainty.</a:t>
            </a:r>
          </a:p>
          <a:p>
            <a:endParaRPr/>
          </a:p>
          <a:p>
            <a:r>
              <a:t>Source: scikit-learn average_precision_score documentation; part4/evaluation.py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 0 seconds | NAME / ID / SHARE TO CONFIRM</a:t>
            </a:r>
          </a:p>
          <a:p>
            <a:endParaRPr/>
          </a:p>
          <a:p>
            <a:r>
              <a:t>The cost experiment declares four ratios rather than searching for a convenient ratio after viewing test results. At each ratio, the validation table includes all distinct score-based decision sets, with tied scores moving together. Equal costs select the largest threshold and therefore fewer alerts. The paired bootstrap samples the same test-row indices for each compared prediction vector, stratified by outcome. Its intervals are conditional on frozen models, thresholds, and class counts. They do not include uncertainty from refitting, hyperparameter search, threshold search, or a shift to another population. Real operational costs would require information that this dataset does not provide.</a:t>
            </a:r>
          </a:p>
          <a:p>
            <a:endParaRPr/>
          </a:p>
          <a:p>
            <a:r>
              <a:t>Transition: We can also explain where the source data and evidence boundaries come from.</a:t>
            </a:r>
          </a:p>
          <a:p>
            <a:endParaRPr/>
          </a:p>
          <a:p>
            <a:r>
              <a:t>Source: frozen protocols; integration/uncertainty.py; bootstrap_intervals.csv</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 0 seconds | NAME / ID / SHARE TO CONFIRM</a:t>
            </a:r>
          </a:p>
          <a:p>
            <a:endParaRPr/>
          </a:p>
          <a:p>
            <a:r>
              <a:t>The integration audit redownloaded the official source and reproduced the committed cleaned dataset in values, types, order, and schema. Undocumented education categories are consolidated, and marriage category zero is mapped to other. The original download bytes were not preserved, so the new download and its hash are documented separately. Duplicate feature vectors remain under the established protocol and may create dependence across partitions. For logistic regression, the original notebook history contained an empty model notebook. The supplement's code and search declaration were committed before execution, but previous team test results already existed. This makes the supplement reproducible without making it independent external evidence.</a:t>
            </a:r>
          </a:p>
          <a:p>
            <a:endParaRPr/>
          </a:p>
          <a:p>
            <a:r>
              <a:t>Transition: The last backup lists our references and the responsibilities still to confirm.</a:t>
            </a:r>
          </a:p>
          <a:p>
            <a:endParaRPr/>
          </a:p>
          <a:p>
            <a:r>
              <a:t>Sources: results/final/source_audit.json; integration/LOGISTIC_PROVENANCE.md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 0 seconds | NAME / ID / SHARE TO CONFIRM</a:t>
            </a:r>
          </a:p>
          <a:p>
            <a:endParaRPr/>
          </a:p>
          <a:p>
            <a:r>
              <a:t>The numerical source for this editable presentation is the audited final comparison CSV, with model-specific protocols and bootstrap artifacts supplying supporting context. The UCI dataset, scikit-learn average-precision documentation, and the XGBoost paper are the core external references. The role plan assigns three minutes each to data and logistic regression, decision trees and ranking, random forest and audit, and XGBoost and costs. Member identities and contribution percentages must be confirmed by the group; we have not invented them. Integration and the logistic supplement were prepared with AI assistance for member review. Reproducing artifacts is distinct from retraining and selecting new models.</a:t>
            </a:r>
          </a:p>
          <a:p>
            <a:endParaRPr/>
          </a:p>
          <a:p>
            <a:r>
              <a:t>Transition: We can return to the main conclusion or discuss a specific model or policy.</a:t>
            </a:r>
          </a:p>
          <a:p>
            <a:endParaRPr/>
          </a:p>
          <a:p>
            <a:r>
              <a:t>Sources: Group 5 repository, frozen protocols, row-level predictions and integration audit.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1  /  45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Credit default: rank risk, then choose an action</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How well can we identify default risk?</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What changes when missed defaults cost more?</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Four models. One auditable comparison.</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12 MIN + 3 MIN Q&amp;A</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SC6122 • Group 5</a:t>
            </a:r>
          </a:p>
          <a:p>
            <a:pPr>
              <a:spcAft>
                <a:spcPts val="1200"/>
              </a:spcAft>
              <a:defRPr sz="2100" b="0">
                <a:solidFill>
                  <a:srgbClr val="142C43"/>
                </a:solidFill>
                <a:latin typeface="Arial"/>
              </a:defRPr>
            </a:pPr>
            <a:r>
              <a:t>Four speakers × three minutes</a:t>
            </a:r>
          </a:p>
          <a:p>
            <a:pPr>
              <a:spcAft>
                <a:spcPts val="1200"/>
              </a:spcAft>
              <a:defRPr sz="2100" b="0">
                <a:solidFill>
                  <a:srgbClr val="142C43"/>
                </a:solidFill>
                <a:latin typeface="Arial"/>
              </a:defRPr>
            </a:pPr>
            <a:r>
              <a:t>NAME / ID / SHARE TO CONFIRM</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UCI Default of Credit Card Clients; group experiment artifacts.</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1  /  70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One split, shared folds, distinct responsibilities</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30,000 clients • 23 predictors • 22.12% default</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Categories learned within each training fold</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Validation selects policies; historical test reports outcomes</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18,000 → 6,000 → 6,000</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FIT: five CV folds, seed 42</a:t>
            </a:r>
          </a:p>
          <a:p>
            <a:pPr>
              <a:spcAft>
                <a:spcPts val="1200"/>
              </a:spcAft>
              <a:defRPr sz="2100" b="0">
                <a:solidFill>
                  <a:srgbClr val="142C43"/>
                </a:solidFill>
                <a:latin typeface="Arial"/>
              </a:defRPr>
            </a:pPr>
            <a:r>
              <a:t>VALIDATION: threshold selection</a:t>
            </a:r>
          </a:p>
          <a:p>
            <a:pPr>
              <a:spcAft>
                <a:spcPts val="1200"/>
              </a:spcAft>
              <a:defRPr sz="2100" b="0">
                <a:solidFill>
                  <a:srgbClr val="142C43"/>
                </a:solidFill>
                <a:latin typeface="Arial"/>
              </a:defRPr>
            </a:pPr>
            <a:r>
              <a:t>TEST: fixed historical holdout</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data/splits; protocol_frozen.json; results/final/audit.json</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1  /  65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Logistic regression: a transparent reference, with a caveat</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L2 model + fold-trained scaling + one-hot categories</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12 declared settings; CV selected C=0.1, unweighted</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Original LR notebook was empty; original process unverified</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AP 0.4967</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Baseline AP 0.4970</a:t>
            </a:r>
          </a:p>
          <a:p>
            <a:pPr>
              <a:spcAft>
                <a:spcPts val="1200"/>
              </a:spcAft>
              <a:defRPr sz="2100" b="0">
                <a:solidFill>
                  <a:srgbClr val="142C43"/>
                </a:solidFill>
                <a:latin typeface="Arial"/>
              </a:defRPr>
            </a:pPr>
            <a:r>
              <a:t>No ranking improvement from selection</a:t>
            </a:r>
          </a:p>
          <a:p>
            <a:pPr>
              <a:spcAft>
                <a:spcPts val="1200"/>
              </a:spcAft>
              <a:defRPr sz="2100" b="0">
                <a:solidFill>
                  <a:srgbClr val="142C43"/>
                </a:solidFill>
                <a:latin typeface="Arial"/>
              </a:defRPr>
            </a:pPr>
            <a:r>
              <a:t>LR* is a separate post-hoc supplement</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 | LR* = post-hoc reproducibility supplement after historic test results existed.</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2  /  65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Decision tree: constrain leaves to reduce overfitting</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21 configurations: depth × minimum leaf size</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Unrestricted baseline fits training folds almost perfectly</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Selected minimum leaf size: 100 observations</a:t>
            </a:r>
          </a:p>
        </p:txBody>
      </p:sp>
      <p:sp>
        <p:nvSpPr>
          <p:cNvPr id="11" name="TextBox 10"/>
          <p:cNvSpPr txBox="1"/>
          <p:nvPr/>
        </p:nvSpPr>
        <p:spPr>
          <a:xfrm>
            <a:off x="6263640" y="1691640"/>
            <a:ext cx="5303520" cy="411480"/>
          </a:xfrm>
          <a:prstGeom prst="rect">
            <a:avLst/>
          </a:prstGeom>
          <a:noFill/>
        </p:spPr>
        <p:txBody>
          <a:bodyPr wrap="square" lIns="27432" tIns="18288" rIns="27432" bIns="18288">
            <a:spAutoFit/>
          </a:bodyPr>
          <a:lstStyle/>
          <a:p>
            <a:pPr>
              <a:spcAft>
                <a:spcPts val="1200"/>
              </a:spcAft>
              <a:defRPr sz="2000" b="1">
                <a:solidFill>
                  <a:srgbClr val="127D88"/>
                </a:solidFill>
                <a:latin typeface="Arial"/>
              </a:defRPr>
            </a:pPr>
            <a:r>
              <a:t>Test average precision</a:t>
            </a:r>
          </a:p>
        </p:txBody>
      </p:sp>
      <p:graphicFrame>
        <p:nvGraphicFramePr>
          <p:cNvPr id="12" name="Chart 11"/>
          <p:cNvGraphicFramePr>
            <a:graphicFrameLocks noGrp="1"/>
          </p:cNvGraphicFramePr>
          <p:nvPr/>
        </p:nvGraphicFramePr>
        <p:xfrm>
          <a:off x="6217920" y="1965960"/>
          <a:ext cx="5440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6263640" y="5321808"/>
            <a:ext cx="5303520" cy="749808"/>
          </a:xfrm>
          <a:prstGeom prst="rect">
            <a:avLst/>
          </a:prstGeom>
          <a:noFill/>
        </p:spPr>
        <p:txBody>
          <a:bodyPr wrap="square" lIns="27432" tIns="18288" rIns="27432" bIns="18288">
            <a:spAutoFit/>
          </a:bodyPr>
          <a:lstStyle/>
          <a:p>
            <a:pPr>
              <a:spcAft>
                <a:spcPts val="1200"/>
              </a:spcAft>
              <a:defRPr sz="1600" b="0">
                <a:solidFill>
                  <a:srgbClr val="526575"/>
                </a:solidFill>
                <a:latin typeface="Arial"/>
              </a:defRPr>
            </a:pPr>
            <a:r>
              <a:t>A large baseline gap signals overfitting.</a:t>
            </a:r>
          </a:p>
          <a:p>
            <a:pPr>
              <a:spcAft>
                <a:spcPts val="1200"/>
              </a:spcAft>
              <a:defRPr sz="1600" b="0">
                <a:solidFill>
                  <a:srgbClr val="526575"/>
                </a:solidFill>
                <a:latin typeface="Arial"/>
              </a:defRPr>
            </a:pPr>
            <a:r>
              <a:t>CV selection improves this tree's ranking.</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2  /  60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Tree rules make a predictive association inspectable</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Root rule: recent repayment status PAY_0 ≤ 1.5</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Selected tree: depth 18, with 134 leaves</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Node proportions describe this fitting sample</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16.51%  |  70.13%</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Fit-row default proportions</a:t>
            </a:r>
          </a:p>
          <a:p>
            <a:pPr>
              <a:spcAft>
                <a:spcPts val="1200"/>
              </a:spcAft>
              <a:defRPr sz="2100" b="0">
                <a:solidFill>
                  <a:srgbClr val="142C43"/>
                </a:solidFill>
                <a:latin typeface="Arial"/>
              </a:defRPr>
            </a:pPr>
            <a:r>
              <a:t>Left branch | Right branch</a:t>
            </a:r>
          </a:p>
          <a:p>
            <a:pPr>
              <a:spcAft>
                <a:spcPts val="1200"/>
              </a:spcAft>
              <a:defRPr sz="2100" b="0">
                <a:solidFill>
                  <a:srgbClr val="142C43"/>
                </a:solidFill>
                <a:latin typeface="Arial"/>
              </a:defRPr>
            </a:pPr>
            <a:r>
              <a:t>Association, not a causal effect</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saved decision-tree model; integration audit/report evidence.</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2  /  55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Compare ranking point estimates without declaring a winner</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21116"/>
            <a:ext cx="5050536" cy="375487"/>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rPr lang="zh-CN" altLang="zh-CN" sz="2200" dirty="0"/>
              <a:t>Decision tree benefits most from tuning</a:t>
            </a:r>
            <a:endParaRPr dirty="0"/>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0476" y="2980248"/>
            <a:ext cx="5318760" cy="71404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rPr lang="zh-CN" altLang="zh-CN" sz="2200" dirty="0"/>
              <a:t>RF and XGBoost have the highest selected AP</a:t>
            </a:r>
            <a:endParaRPr dirty="0"/>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71404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rPr lang="zh-CN" altLang="zh-CN" sz="2200" dirty="0"/>
              <a:t>CV selection precedes test comparison</a:t>
            </a:r>
            <a:endParaRPr dirty="0"/>
          </a:p>
        </p:txBody>
      </p:sp>
      <p:sp>
        <p:nvSpPr>
          <p:cNvPr id="11" name="TextBox 10"/>
          <p:cNvSpPr txBox="1"/>
          <p:nvPr/>
        </p:nvSpPr>
        <p:spPr>
          <a:xfrm>
            <a:off x="6263640" y="1691640"/>
            <a:ext cx="5303520" cy="411480"/>
          </a:xfrm>
          <a:prstGeom prst="rect">
            <a:avLst/>
          </a:prstGeom>
          <a:noFill/>
        </p:spPr>
        <p:txBody>
          <a:bodyPr wrap="square" lIns="27432" tIns="18288" rIns="27432" bIns="18288">
            <a:spAutoFit/>
          </a:bodyPr>
          <a:lstStyle/>
          <a:p>
            <a:pPr>
              <a:spcAft>
                <a:spcPts val="1200"/>
              </a:spcAft>
              <a:defRPr sz="2000" b="1">
                <a:solidFill>
                  <a:srgbClr val="127D88"/>
                </a:solidFill>
                <a:latin typeface="Arial"/>
              </a:defRPr>
            </a:pPr>
            <a:r>
              <a:t>Test average precision</a:t>
            </a:r>
          </a:p>
        </p:txBody>
      </p:sp>
      <p:graphicFrame>
        <p:nvGraphicFramePr>
          <p:cNvPr id="12" name="Chart 11"/>
          <p:cNvGraphicFramePr>
            <a:graphicFrameLocks noGrp="1"/>
          </p:cNvGraphicFramePr>
          <p:nvPr/>
        </p:nvGraphicFramePr>
        <p:xfrm>
          <a:off x="6217920" y="1965960"/>
          <a:ext cx="5440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6263640" y="5321808"/>
            <a:ext cx="5303520" cy="749808"/>
          </a:xfrm>
          <a:prstGeom prst="rect">
            <a:avLst/>
          </a:prstGeom>
          <a:noFill/>
        </p:spPr>
        <p:txBody>
          <a:bodyPr wrap="square" lIns="27432" tIns="18288" rIns="27432" bIns="18288">
            <a:spAutoFit/>
          </a:bodyPr>
          <a:lstStyle/>
          <a:p>
            <a:pPr>
              <a:spcAft>
                <a:spcPts val="1200"/>
              </a:spcAft>
              <a:defRPr sz="1600" b="0">
                <a:solidFill>
                  <a:srgbClr val="526575"/>
                </a:solidFill>
                <a:latin typeface="Arial"/>
              </a:defRPr>
            </a:pPr>
            <a:r>
              <a:rPr dirty="0"/>
              <a:t>Baseline and selected models are both retained.</a:t>
            </a:r>
          </a:p>
          <a:p>
            <a:pPr>
              <a:spcAft>
                <a:spcPts val="1200"/>
              </a:spcAft>
              <a:defRPr sz="1600" b="0">
                <a:solidFill>
                  <a:srgbClr val="526575"/>
                </a:solidFill>
                <a:latin typeface="Arial"/>
              </a:defRPr>
            </a:pPr>
            <a:r>
              <a:rPr dirty="0"/>
              <a:t>Small ensemble differences do not establish superiority.</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 | LR* = post-hoc reproducibility supplement after historic test results existed.</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3  /  70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Random forest: average trees, then tune complexity</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Baseline + 23 seeded candidate settings</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Selected: 500 trees, depth 8, minimum leaf 2</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Positive-class weight 3; feature fraction 0.5</a:t>
            </a:r>
          </a:p>
        </p:txBody>
      </p:sp>
      <p:sp>
        <p:nvSpPr>
          <p:cNvPr id="11" name="TextBox 10"/>
          <p:cNvSpPr txBox="1"/>
          <p:nvPr/>
        </p:nvSpPr>
        <p:spPr>
          <a:xfrm>
            <a:off x="6263640" y="1691640"/>
            <a:ext cx="5303520" cy="411480"/>
          </a:xfrm>
          <a:prstGeom prst="rect">
            <a:avLst/>
          </a:prstGeom>
          <a:noFill/>
        </p:spPr>
        <p:txBody>
          <a:bodyPr wrap="square" lIns="27432" tIns="18288" rIns="27432" bIns="18288">
            <a:spAutoFit/>
          </a:bodyPr>
          <a:lstStyle/>
          <a:p>
            <a:pPr>
              <a:spcAft>
                <a:spcPts val="1200"/>
              </a:spcAft>
              <a:defRPr sz="2000" b="1">
                <a:solidFill>
                  <a:srgbClr val="127D88"/>
                </a:solidFill>
                <a:latin typeface="Arial"/>
              </a:defRPr>
            </a:pPr>
            <a:r>
              <a:t>Test average precision</a:t>
            </a:r>
          </a:p>
        </p:txBody>
      </p:sp>
      <p:graphicFrame>
        <p:nvGraphicFramePr>
          <p:cNvPr id="12" name="Chart 11"/>
          <p:cNvGraphicFramePr>
            <a:graphicFrameLocks noGrp="1"/>
          </p:cNvGraphicFramePr>
          <p:nvPr/>
        </p:nvGraphicFramePr>
        <p:xfrm>
          <a:off x="6217920" y="1965960"/>
          <a:ext cx="5440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6263640" y="5321808"/>
            <a:ext cx="5303520" cy="749808"/>
          </a:xfrm>
          <a:prstGeom prst="rect">
            <a:avLst/>
          </a:prstGeom>
          <a:noFill/>
        </p:spPr>
        <p:txBody>
          <a:bodyPr wrap="square" lIns="27432" tIns="18288" rIns="27432" bIns="18288">
            <a:spAutoFit/>
          </a:bodyPr>
          <a:lstStyle/>
          <a:p>
            <a:pPr>
              <a:spcAft>
                <a:spcPts val="1200"/>
              </a:spcAft>
              <a:defRPr sz="1600" b="0">
                <a:solidFill>
                  <a:srgbClr val="526575"/>
                </a:solidFill>
                <a:latin typeface="Arial"/>
              </a:defRPr>
            </a:pPr>
            <a:r>
              <a:t>Averaging reduces dependence on one tree.</a:t>
            </a:r>
          </a:p>
          <a:p>
            <a:pPr>
              <a:spcAft>
                <a:spcPts val="1200"/>
              </a:spcAft>
              <a:defRPr sz="1600" b="0">
                <a:solidFill>
                  <a:srgbClr val="526575"/>
                </a:solidFill>
                <a:latin typeface="Arial"/>
              </a:defRPr>
            </a:pPr>
            <a:r>
              <a:t>Weights also change the score distribution.</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 | results/rf/protocol_frozen.json</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3  /  60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Forest policy: fewer misses, more review alerts</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Validation selected r=5 threshold: 0.3229</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Recall: 52.0% → 77.1%</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Alert rate: 21.1% → 48.4%</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3,758 → 3,404</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Test cost = FP + 5 × FN</a:t>
            </a:r>
          </a:p>
          <a:p>
            <a:pPr>
              <a:spcAft>
                <a:spcPts val="1200"/>
              </a:spcAft>
              <a:defRPr sz="2100" b="0">
                <a:solidFill>
                  <a:srgbClr val="142C43"/>
                </a:solidFill>
                <a:latin typeface="Arial"/>
              </a:defRPr>
            </a:pPr>
            <a:r>
              <a:t>Error cases checked under each policy</a:t>
            </a:r>
          </a:p>
          <a:p>
            <a:pPr>
              <a:spcAft>
                <a:spcPts val="1200"/>
              </a:spcAft>
              <a:defRPr sz="2100" b="0">
                <a:solidFill>
                  <a:srgbClr val="142C43"/>
                </a:solidFill>
                <a:latin typeface="Arial"/>
              </a:defRPr>
            </a:pPr>
            <a:r>
              <a:t>Same extreme cases can legitimately recur</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 | RF misclassification audit; costs hypothetical.</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3  /  50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What the audit establishes—and what it cannot</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Identical fit / validation / five-fold memberships</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Metrics recomputed after row-ID alignment</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Frozen thresholds use score ≥ threshold at full precision</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COMPARABLE ≠ IDENTICAL</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Shared data and objective</a:t>
            </a:r>
          </a:p>
          <a:p>
            <a:pPr>
              <a:spcAft>
                <a:spcPts val="1200"/>
              </a:spcAft>
              <a:defRPr sz="2100" b="0">
                <a:solidFill>
                  <a:srgbClr val="142C43"/>
                </a:solidFill>
                <a:latin typeface="Arial"/>
              </a:defRPr>
            </a:pPr>
            <a:r>
              <a:t>Different search budgets</a:t>
            </a:r>
          </a:p>
          <a:p>
            <a:pPr>
              <a:spcAft>
                <a:spcPts val="1200"/>
              </a:spcAft>
              <a:defRPr sz="2100" b="0">
                <a:solidFill>
                  <a:srgbClr val="142C43"/>
                </a:solidFill>
                <a:latin typeface="Arial"/>
              </a:defRPr>
            </a:pPr>
            <a:r>
              <a:t>Historical exposure and LR* caveat remain</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results/final/audit.json; integration/LOGISTIC_PROVENANCE.md</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4  /  60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XGBoost: tuning did not improve test ranking</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Baseline + 23 seeded configurations; select by CV AP</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Selected: 150 trees, depth 4, rate 0.03</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Selected ROC-AUC: 0.7762</a:t>
            </a:r>
          </a:p>
        </p:txBody>
      </p:sp>
      <p:sp>
        <p:nvSpPr>
          <p:cNvPr id="11" name="TextBox 10"/>
          <p:cNvSpPr txBox="1"/>
          <p:nvPr/>
        </p:nvSpPr>
        <p:spPr>
          <a:xfrm>
            <a:off x="6263640" y="1691640"/>
            <a:ext cx="5303520" cy="411480"/>
          </a:xfrm>
          <a:prstGeom prst="rect">
            <a:avLst/>
          </a:prstGeom>
          <a:noFill/>
        </p:spPr>
        <p:txBody>
          <a:bodyPr wrap="square" lIns="27432" tIns="18288" rIns="27432" bIns="18288">
            <a:spAutoFit/>
          </a:bodyPr>
          <a:lstStyle/>
          <a:p>
            <a:pPr>
              <a:spcAft>
                <a:spcPts val="1200"/>
              </a:spcAft>
              <a:defRPr sz="2000" b="1">
                <a:solidFill>
                  <a:srgbClr val="127D88"/>
                </a:solidFill>
                <a:latin typeface="Arial"/>
              </a:defRPr>
            </a:pPr>
            <a:r>
              <a:t>Test average precision</a:t>
            </a:r>
          </a:p>
        </p:txBody>
      </p:sp>
      <p:graphicFrame>
        <p:nvGraphicFramePr>
          <p:cNvPr id="12" name="Chart 11"/>
          <p:cNvGraphicFramePr>
            <a:graphicFrameLocks noGrp="1"/>
          </p:cNvGraphicFramePr>
          <p:nvPr/>
        </p:nvGraphicFramePr>
        <p:xfrm>
          <a:off x="6217920" y="1965960"/>
          <a:ext cx="5440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6263640" y="5321808"/>
            <a:ext cx="5303520" cy="749808"/>
          </a:xfrm>
          <a:prstGeom prst="rect">
            <a:avLst/>
          </a:prstGeom>
          <a:noFill/>
        </p:spPr>
        <p:txBody>
          <a:bodyPr wrap="square" lIns="27432" tIns="18288" rIns="27432" bIns="18288">
            <a:spAutoFit/>
          </a:bodyPr>
          <a:lstStyle/>
          <a:p>
            <a:pPr>
              <a:spcAft>
                <a:spcPts val="1200"/>
              </a:spcAft>
              <a:defRPr sz="1600" b="0">
                <a:solidFill>
                  <a:srgbClr val="526575"/>
                </a:solidFill>
                <a:latin typeface="Arial"/>
              </a:defRPr>
            </a:pPr>
            <a:r>
              <a:t>Tuned − baseline AP: -0.0028</a:t>
            </a:r>
          </a:p>
          <a:p>
            <a:pPr>
              <a:spcAft>
                <a:spcPts val="1200"/>
              </a:spcAft>
              <a:defRPr sz="1600" b="0">
                <a:solidFill>
                  <a:srgbClr val="526575"/>
                </a:solidFill>
                <a:latin typeface="Arial"/>
              </a:defRPr>
            </a:pPr>
            <a:r>
              <a:t>Conditional 95% interval: [-0.0106, 0.0054]</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 | results/xgboost/bootstrap_intervals.csv</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4  /  80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A lower threshold trades review capacity for fewer misses</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Validation r=5 cutoff: 0.3150</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Recall 54.9% → 82.5%; alerts 55.7%</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Cost 3,685 → 3,408: 7.5% reduction</a:t>
            </a:r>
          </a:p>
        </p:txBody>
      </p:sp>
      <p:sp>
        <p:nvSpPr>
          <p:cNvPr id="11" name="TextBox 10"/>
          <p:cNvSpPr txBox="1"/>
          <p:nvPr/>
        </p:nvSpPr>
        <p:spPr>
          <a:xfrm>
            <a:off x="6263640" y="1691640"/>
            <a:ext cx="5303520" cy="411480"/>
          </a:xfrm>
          <a:prstGeom prst="rect">
            <a:avLst/>
          </a:prstGeom>
          <a:noFill/>
        </p:spPr>
        <p:txBody>
          <a:bodyPr wrap="square" lIns="27432" tIns="18288" rIns="27432" bIns="18288">
            <a:spAutoFit/>
          </a:bodyPr>
          <a:lstStyle/>
          <a:p>
            <a:pPr>
              <a:spcAft>
                <a:spcPts val="1200"/>
              </a:spcAft>
              <a:defRPr sz="2000" b="1">
                <a:solidFill>
                  <a:srgbClr val="127D88"/>
                </a:solidFill>
                <a:latin typeface="Arial"/>
              </a:defRPr>
            </a:pPr>
            <a:r>
              <a:t>Test confusion trade-off</a:t>
            </a:r>
          </a:p>
        </p:txBody>
      </p:sp>
      <p:graphicFrame>
        <p:nvGraphicFramePr>
          <p:cNvPr id="12" name="Chart 11"/>
          <p:cNvGraphicFramePr>
            <a:graphicFrameLocks noGrp="1"/>
          </p:cNvGraphicFramePr>
          <p:nvPr/>
        </p:nvGraphicFramePr>
        <p:xfrm>
          <a:off x="6217920" y="1965960"/>
          <a:ext cx="54406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6263640" y="5321808"/>
            <a:ext cx="5303520" cy="749808"/>
          </a:xfrm>
          <a:prstGeom prst="rect">
            <a:avLst/>
          </a:prstGeom>
          <a:noFill/>
        </p:spPr>
        <p:txBody>
          <a:bodyPr wrap="square" lIns="27432" tIns="18288" rIns="27432" bIns="18288">
            <a:spAutoFit/>
          </a:bodyPr>
          <a:lstStyle/>
          <a:p>
            <a:pPr>
              <a:spcAft>
                <a:spcPts val="1200"/>
              </a:spcAft>
              <a:defRPr sz="1600" b="0">
                <a:solidFill>
                  <a:srgbClr val="526575"/>
                </a:solidFill>
                <a:latin typeface="Arial"/>
              </a:defRPr>
            </a:pPr>
            <a:r>
              <a:t>Same ranking scores, different action policy.</a:t>
            </a:r>
          </a:p>
          <a:p>
            <a:pPr>
              <a:spcAft>
                <a:spcPts val="1200"/>
              </a:spcAft>
              <a:defRPr sz="1600" b="0">
                <a:solidFill>
                  <a:srgbClr val="526575"/>
                </a:solidFill>
                <a:latin typeface="Arial"/>
              </a:defRPr>
            </a:pPr>
            <a:r>
              <a:t>Review costs are hypothetical; capacity is unmeasured.</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results/final/model_comparison.csv | Historical test n=6,000; default=1 | FP + 5×FN; threshold selected only on validation.</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PART 4  /  40 SEC</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Choose the decision question before choosing the policy</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Ranking, explanations, and workload need separate evidence</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No clear ensemble winner from these small differences</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Next: fresh temporal data, calibration, subgroup errors</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QUESTIONS • 3 MIN</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Freeze realistic costs and capacity first.</a:t>
            </a:r>
          </a:p>
          <a:p>
            <a:pPr>
              <a:spcAft>
                <a:spcPts val="1200"/>
              </a:spcAft>
              <a:defRPr sz="2100" b="0">
                <a:solidFill>
                  <a:srgbClr val="142C43"/>
                </a:solidFill>
                <a:latin typeface="Arial"/>
              </a:defRPr>
            </a:pPr>
            <a:r>
              <a:t>Validate a new policy on new data.</a:t>
            </a:r>
          </a:p>
          <a:p>
            <a:pPr>
              <a:spcAft>
                <a:spcPts val="1200"/>
              </a:spcAft>
              <a:defRPr sz="2100" b="0">
                <a:solidFill>
                  <a:srgbClr val="142C43"/>
                </a:solidFill>
                <a:latin typeface="Arial"/>
              </a:defRPr>
            </a:pPr>
            <a:r>
              <a:t>NAME / ID / SHARE TO CONFIRM</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Historical educational study; no causal or deployment-readiness claim.</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Q&amp;A  /  BACKUP</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Backup A • AP, ROC-AUC and threshold metrics</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AP = sum of recall increments × precision</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ROC-AUC measures positive/negative score ordering</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Precision, recall, F1 and accuracy require a threshold</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AP ≠ TRAPEZOIDAL PR-AUC</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Saved continuous scores supply ranking metrics.</a:t>
            </a:r>
          </a:p>
          <a:p>
            <a:pPr>
              <a:spcAft>
                <a:spcPts val="1200"/>
              </a:spcAft>
              <a:defRPr sz="2100" b="0">
                <a:solidFill>
                  <a:srgbClr val="142C43"/>
                </a:solidFill>
                <a:latin typeface="Arial"/>
              </a:defRPr>
            </a:pPr>
            <a:r>
              <a:t>Changing the cutoff changes decisions only.</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scikit-learn average_precision_score documentation; part4/evaluation.py</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Q&amp;A  /  BACKUP</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Backup B • Cost ratios and fixed-prediction uncertainty</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Predeclared ratios: r = 1, 3, 5, 10</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Validation minimum cost; ties prefer largest cutoff</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1,000 stratified paired bootstrap resamples</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CONDITIONAL UNCERTAINTY</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Fixed models / thresholds / class counts</a:t>
            </a:r>
          </a:p>
          <a:p>
            <a:pPr>
              <a:spcAft>
                <a:spcPts val="1200"/>
              </a:spcAft>
              <a:defRPr sz="2100" b="0">
                <a:solidFill>
                  <a:srgbClr val="142C43"/>
                </a:solidFill>
                <a:latin typeface="Arial"/>
              </a:defRPr>
            </a:pPr>
            <a:r>
              <a:t>Excludes fitting / selection uncertainty</a:t>
            </a:r>
          </a:p>
          <a:p>
            <a:pPr>
              <a:spcAft>
                <a:spcPts val="1200"/>
              </a:spcAft>
              <a:defRPr sz="2100" b="0">
                <a:solidFill>
                  <a:srgbClr val="142C43"/>
                </a:solidFill>
                <a:latin typeface="Arial"/>
              </a:defRPr>
            </a:pPr>
            <a:r>
              <a:t>Excludes population / prevalence shifts</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 frozen protocols; integration/uncertainty.py; bootstrap_intervals.csv</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Q&amp;A  /  BACKUP</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Backup C • Data provenance and evidence boundaries</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UCI cleaning reproduced exactly from downloaded source</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EDUCATION 0/5/6 → 4; MARRIAGE 0 → 3</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Retained duplicate vectors can span partitions</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HISTORICAL TEST REUSED</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Original LR process remains unverified.</a:t>
            </a:r>
          </a:p>
          <a:p>
            <a:pPr>
              <a:spcAft>
                <a:spcPts val="1200"/>
              </a:spcAft>
              <a:defRPr sz="2100" b="0">
                <a:solidFill>
                  <a:srgbClr val="142C43"/>
                </a:solidFill>
                <a:latin typeface="Arial"/>
              </a:defRPr>
            </a:pPr>
            <a:r>
              <a:t>LR* source was committed before its one run.</a:t>
            </a:r>
          </a:p>
          <a:p>
            <a:pPr>
              <a:spcAft>
                <a:spcPts val="1200"/>
              </a:spcAft>
              <a:defRPr sz="2100" b="0">
                <a:solidFill>
                  <a:srgbClr val="142C43"/>
                </a:solidFill>
                <a:latin typeface="Arial"/>
              </a:defRPr>
            </a:pPr>
            <a:r>
              <a:t>No new unseen-test claim is made.</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Sources: results/final/source_audit.json; integration/LOGISTIC_PROVENANCE.md</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1155680" cy="338328"/>
          </a:xfrm>
          <a:prstGeom prst="rect">
            <a:avLst/>
          </a:prstGeom>
          <a:noFill/>
        </p:spPr>
        <p:txBody>
          <a:bodyPr wrap="square" lIns="27432" tIns="18288" rIns="27432" bIns="18288">
            <a:spAutoFit/>
          </a:bodyPr>
          <a:lstStyle/>
          <a:p>
            <a:pPr>
              <a:spcAft>
                <a:spcPts val="1200"/>
              </a:spcAft>
              <a:defRPr sz="1300" b="1">
                <a:solidFill>
                  <a:srgbClr val="127D88"/>
                </a:solidFill>
                <a:latin typeface="Arial"/>
              </a:defRPr>
            </a:pPr>
            <a:r>
              <a:t>GROUP 5  /  Q&amp;A  /  BACKUP</a:t>
            </a:r>
          </a:p>
        </p:txBody>
      </p:sp>
      <p:sp>
        <p:nvSpPr>
          <p:cNvPr id="4" name="TextBox 3"/>
          <p:cNvSpPr txBox="1"/>
          <p:nvPr/>
        </p:nvSpPr>
        <p:spPr>
          <a:xfrm>
            <a:off x="502920" y="841248"/>
            <a:ext cx="11155680" cy="914400"/>
          </a:xfrm>
          <a:prstGeom prst="rect">
            <a:avLst/>
          </a:prstGeom>
          <a:noFill/>
        </p:spPr>
        <p:txBody>
          <a:bodyPr wrap="square" lIns="27432" tIns="18288" rIns="27432" bIns="18288">
            <a:spAutoFit/>
          </a:bodyPr>
          <a:lstStyle/>
          <a:p>
            <a:pPr>
              <a:spcAft>
                <a:spcPts val="1200"/>
              </a:spcAft>
              <a:defRPr sz="3000" b="1">
                <a:solidFill>
                  <a:srgbClr val="142C43"/>
                </a:solidFill>
                <a:latin typeface="Arial"/>
              </a:defRPr>
            </a:pPr>
            <a:r>
              <a:t>Backup D • Sources, responsibilities and reproducibility</a:t>
            </a:r>
          </a:p>
        </p:txBody>
      </p:sp>
      <p:sp>
        <p:nvSpPr>
          <p:cNvPr id="5" name="Rectangle 4"/>
          <p:cNvSpPr/>
          <p:nvPr/>
        </p:nvSpPr>
        <p:spPr>
          <a:xfrm>
            <a:off x="548640" y="2057400"/>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11680"/>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UCI: doi.org/10.24432/C55S3H</a:t>
            </a:r>
          </a:p>
        </p:txBody>
      </p:sp>
      <p:sp>
        <p:nvSpPr>
          <p:cNvPr id="7" name="Rectangle 6"/>
          <p:cNvSpPr/>
          <p:nvPr/>
        </p:nvSpPr>
        <p:spPr>
          <a:xfrm>
            <a:off x="548640" y="3090672"/>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3044952"/>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scikit-learn: average_precision_score documentation</a:t>
            </a:r>
          </a:p>
        </p:txBody>
      </p:sp>
      <p:sp>
        <p:nvSpPr>
          <p:cNvPr id="9" name="Rectangle 8"/>
          <p:cNvSpPr/>
          <p:nvPr/>
        </p:nvSpPr>
        <p:spPr>
          <a:xfrm>
            <a:off x="548640" y="4123944"/>
            <a:ext cx="73152" cy="502920"/>
          </a:xfrm>
          <a:prstGeom prst="rect">
            <a:avLst/>
          </a:prstGeom>
          <a:solidFill>
            <a:srgbClr val="127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78224"/>
            <a:ext cx="4892040" cy="941832"/>
          </a:xfrm>
          <a:prstGeom prst="rect">
            <a:avLst/>
          </a:prstGeom>
          <a:noFill/>
        </p:spPr>
        <p:txBody>
          <a:bodyPr wrap="square" lIns="27432" tIns="18288" rIns="27432" bIns="18288">
            <a:spAutoFit/>
          </a:bodyPr>
          <a:lstStyle/>
          <a:p>
            <a:pPr>
              <a:spcAft>
                <a:spcPts val="1200"/>
              </a:spcAft>
              <a:defRPr sz="2200" b="0">
                <a:solidFill>
                  <a:srgbClr val="142C43"/>
                </a:solidFill>
                <a:latin typeface="Arial"/>
              </a:defRPr>
            </a:pPr>
            <a:r>
              <a:t>XGBoost paper: doi.org/10.1145/2939672.2939785</a:t>
            </a:r>
          </a:p>
        </p:txBody>
      </p:sp>
      <p:sp>
        <p:nvSpPr>
          <p:cNvPr id="11" name="Rectangle 10"/>
          <p:cNvSpPr/>
          <p:nvPr/>
        </p:nvSpPr>
        <p:spPr>
          <a:xfrm>
            <a:off x="6126480" y="1938528"/>
            <a:ext cx="5532120" cy="3566160"/>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77440"/>
            <a:ext cx="4937760" cy="932688"/>
          </a:xfrm>
          <a:prstGeom prst="rect">
            <a:avLst/>
          </a:prstGeom>
          <a:noFill/>
        </p:spPr>
        <p:txBody>
          <a:bodyPr wrap="square" lIns="27432" tIns="18288" rIns="27432" bIns="18288">
            <a:spAutoFit/>
          </a:bodyPr>
          <a:lstStyle/>
          <a:p>
            <a:pPr>
              <a:spcAft>
                <a:spcPts val="1200"/>
              </a:spcAft>
              <a:defRPr sz="2800" b="1">
                <a:solidFill>
                  <a:srgbClr val="127D88"/>
                </a:solidFill>
                <a:latin typeface="Arial"/>
              </a:defRPr>
            </a:pPr>
            <a:r>
              <a:t>FOUR ROLES • REVIEW REQUIRED</a:t>
            </a:r>
          </a:p>
        </p:txBody>
      </p:sp>
      <p:sp>
        <p:nvSpPr>
          <p:cNvPr id="13" name="TextBox 12"/>
          <p:cNvSpPr txBox="1"/>
          <p:nvPr/>
        </p:nvSpPr>
        <p:spPr>
          <a:xfrm>
            <a:off x="6400800" y="3611880"/>
            <a:ext cx="4937760" cy="1645920"/>
          </a:xfrm>
          <a:prstGeom prst="rect">
            <a:avLst/>
          </a:prstGeom>
          <a:noFill/>
        </p:spPr>
        <p:txBody>
          <a:bodyPr wrap="square" lIns="27432" tIns="18288" rIns="27432" bIns="18288">
            <a:spAutoFit/>
          </a:bodyPr>
          <a:lstStyle/>
          <a:p>
            <a:pPr>
              <a:spcAft>
                <a:spcPts val="1200"/>
              </a:spcAft>
              <a:defRPr sz="2100" b="0">
                <a:solidFill>
                  <a:srgbClr val="142C43"/>
                </a:solidFill>
                <a:latin typeface="Arial"/>
              </a:defRPr>
            </a:pPr>
            <a:r>
              <a:t>P1 data/LR • P2 tree/ranking</a:t>
            </a:r>
          </a:p>
          <a:p>
            <a:pPr>
              <a:spcAft>
                <a:spcPts val="1200"/>
              </a:spcAft>
              <a:defRPr sz="2100" b="0">
                <a:solidFill>
                  <a:srgbClr val="142C43"/>
                </a:solidFill>
                <a:latin typeface="Arial"/>
              </a:defRPr>
            </a:pPr>
            <a:r>
              <a:t>P3 forest/audit • P4 XGBoost/costs</a:t>
            </a:r>
          </a:p>
          <a:p>
            <a:pPr>
              <a:spcAft>
                <a:spcPts val="1200"/>
              </a:spcAft>
              <a:defRPr sz="2100" b="0">
                <a:solidFill>
                  <a:srgbClr val="142C43"/>
                </a:solidFill>
                <a:latin typeface="Arial"/>
              </a:defRPr>
            </a:pPr>
            <a:r>
              <a:t>NAME / ID / SHARE TO CONFIRM</a:t>
            </a:r>
          </a:p>
        </p:txBody>
      </p:sp>
      <p:sp>
        <p:nvSpPr>
          <p:cNvPr id="14" name="Rectangle 13"/>
          <p:cNvSpPr/>
          <p:nvPr/>
        </p:nvSpPr>
        <p:spPr>
          <a:xfrm>
            <a:off x="0" y="6272784"/>
            <a:ext cx="12191695" cy="585216"/>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6382512"/>
            <a:ext cx="10881360" cy="365760"/>
          </a:xfrm>
          <a:prstGeom prst="rect">
            <a:avLst/>
          </a:prstGeom>
          <a:noFill/>
        </p:spPr>
        <p:txBody>
          <a:bodyPr wrap="square" lIns="27432" tIns="18288" rIns="27432" bIns="18288">
            <a:spAutoFit/>
          </a:bodyPr>
          <a:lstStyle/>
          <a:p>
            <a:pPr>
              <a:spcAft>
                <a:spcPts val="1200"/>
              </a:spcAft>
              <a:defRPr sz="1100" b="0">
                <a:solidFill>
                  <a:srgbClr val="FFFFFF"/>
                </a:solidFill>
                <a:latin typeface="Arial"/>
              </a:defRPr>
            </a:pPr>
            <a:r>
              <a:t>Sources: Group 5 repository, frozen protocols, row-level predictions and integration audit.</a:t>
            </a:r>
          </a:p>
        </p:txBody>
      </p:sp>
      <p:sp>
        <p:nvSpPr>
          <p:cNvPr id="16" name="TextBox 15"/>
          <p:cNvSpPr txBox="1"/>
          <p:nvPr/>
        </p:nvSpPr>
        <p:spPr>
          <a:xfrm>
            <a:off x="11567160" y="6364224"/>
            <a:ext cx="365760" cy="365760"/>
          </a:xfrm>
          <a:prstGeom prst="rect">
            <a:avLst/>
          </a:prstGeom>
          <a:noFill/>
        </p:spPr>
        <p:txBody>
          <a:bodyPr wrap="square" lIns="27432" tIns="18288" rIns="27432" bIns="18288">
            <a:spAutoFit/>
          </a:bodyPr>
          <a:lstStyle/>
          <a:p>
            <a:pPr>
              <a:spcAft>
                <a:spcPts val="1200"/>
              </a:spcAft>
              <a:defRPr sz="1400" b="1">
                <a:solidFill>
                  <a:srgbClr val="FFFFFF"/>
                </a:solidFill>
                <a:latin typeface="Arial"/>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4695</Words>
  <Application>Microsoft Office PowerPoint</Application>
  <PresentationFormat>宽屏</PresentationFormat>
  <Paragraphs>286</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#ZHANG HANYU#</cp:lastModifiedBy>
  <cp:revision>5</cp:revision>
  <dcterms:created xsi:type="dcterms:W3CDTF">2013-01-27T09:14:16Z</dcterms:created>
  <dcterms:modified xsi:type="dcterms:W3CDTF">2026-09-07T02:18:08Z</dcterms:modified>
  <cp:category/>
</cp:coreProperties>
</file>