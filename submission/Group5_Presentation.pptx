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charts/chart3.xml" ContentType="application/vnd.openxmlformats-officedocument.drawingml.chart+xml"/>
  <Override PartName="/ppt/charts/chart4.xml" ContentType="application/vnd.openxmlformats-officedocument.drawingml.chart+xml"/>
  <Override PartName="/ppt/charts/chart5.xml" ContentType="application/vnd.openxmlformats-officedocument.drawingml.chart+xml"/>
  <Override PartName="/ppt/charts/chart6.xml" ContentType="application/vnd.openxmlformats-officedocument.drawingml.chart+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_rels/chart3.xml.rels><?xml version='1.0' encoding='UTF-8' standalone='yes'?>
<Relationships xmlns="http://schemas.openxmlformats.org/package/2006/relationships"><Relationship Id="rId1" Type="http://schemas.openxmlformats.org/officeDocument/2006/relationships/package" Target="../embeddings/Microsoft_Excel_Sheet3.xlsx"/></Relationships>
</file>

<file path=ppt/charts/_rels/chart4.xml.rels><?xml version='1.0' encoding='UTF-8' standalone='yes'?>
<Relationships xmlns="http://schemas.openxmlformats.org/package/2006/relationships"><Relationship Id="rId1" Type="http://schemas.openxmlformats.org/officeDocument/2006/relationships/package" Target="../embeddings/Microsoft_Excel_Sheet4.xlsx"/></Relationships>
</file>

<file path=ppt/charts/_rels/chart5.xml.rels><?xml version='1.0' encoding='UTF-8' standalone='yes'?>
<Relationships xmlns="http://schemas.openxmlformats.org/package/2006/relationships"><Relationship Id="rId1" Type="http://schemas.openxmlformats.org/officeDocument/2006/relationships/package" Target="../embeddings/Microsoft_Excel_Sheet5.xlsx"/></Relationships>
</file>

<file path=ppt/charts/_rels/chart6.xml.rels><?xml version='1.0' encoding='UTF-8' standalone='yes'?>
<Relationships xmlns="http://schemas.openxmlformats.org/package/2006/relationships"><Relationship Id="rId1" Type="http://schemas.openxmlformats.org/officeDocument/2006/relationships/package" Target="../embeddings/Microsoft_Excel_Sheet6.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AP</c:v>
                </c:pt>
              </c:strCache>
            </c:strRef>
          </c:tx>
          <c:spPr>
            <a:solidFill>
              <a:srgbClr val="899CA5"/>
            </a:solidFill>
            <a:ln>
              <a:noFill/>
            </a:ln>
          </c:spPr>
          <c:dPt>
            <c:idx val="0"/>
            <c:spPr>
              <a:solidFill>
                <a:srgbClr val="899CA5"/>
              </a:solidFill>
              <a:ln>
                <a:noFill/>
              </a:ln>
            </c:spPr>
          </c:dPt>
          <c:dPt>
            <c:idx val="1"/>
            <c:spPr>
              <a:solidFill>
                <a:srgbClr val="187B78"/>
              </a:solidFill>
              <a:ln>
                <a:noFill/>
              </a:ln>
            </c:spPr>
          </c:dPt>
          <c:cat>
            <c:strRef>
              <c:f>Sheet1!$A$2:$A$3</c:f>
              <c:strCache>
                <c:ptCount val="2"/>
                <c:pt idx="0">
                  <c:v>Baseline</c:v>
                </c:pt>
                <c:pt idx="1">
                  <c:v>Selected</c:v>
                </c:pt>
              </c:strCache>
            </c:strRef>
          </c:cat>
          <c:val>
            <c:numRef>
              <c:f>Sheet1!$B$2:$B$3</c:f>
              <c:numCache>
                <c:formatCode>General</c:formatCode>
                <c:ptCount val="2"/>
                <c:pt idx="0">
                  <c:v>0.284267217062282</c:v>
                </c:pt>
                <c:pt idx="1">
                  <c:v>0.5220918784014116</c:v>
                </c:pt>
              </c:numCache>
            </c:numRef>
          </c:val>
        </c:ser>
        <c:dLbls>
          <c:numFmt formatCode="0.000" sourceLinked="0"/>
          <c:txPr>
            <a:bodyPr/>
            <a:lstStyle/>
            <a:p>
              <a:pPr>
                <a:defRPr sz="1700"/>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b"/>
        <c:majorTickMark val="out"/>
        <c:minorTickMark val="none"/>
        <c:tickLblPos val="nextTo"/>
        <c:spPr>
          <a:ln>
            <a:solidFill>
              <a:srgbClr val="E1E8E8"/>
            </a:solidFill>
          </a:ln>
        </c:spPr>
        <c:txPr>
          <a:bodyPr/>
          <a:lstStyle/>
          <a:p>
            <a:pPr>
              <a:defRPr sz="1600"/>
            </a:pPr>
          </a:p>
        </c:txPr>
        <c:crossAx val="-2113994440"/>
        <c:crosses val="autoZero"/>
        <c:auto val="1"/>
        <c:lblAlgn val="ctr"/>
        <c:lblOffset val="100"/>
        <c:noMultiLvlLbl val="0"/>
      </c:catAx>
      <c:valAx>
        <c:axId val="-2113994440"/>
        <c:scaling>
          <c:max val="0.65"/>
          <c:min val="0.0"/>
        </c:scaling>
        <c:delete val="0"/>
        <c:axPos val="l"/>
        <c:majorGridlines>
          <c:spPr>
            <a:ln>
              <a:solidFill>
                <a:srgbClr val="E1E8E8"/>
              </a:solidFill>
            </a:ln>
          </c:spPr>
        </c:majorGridlines>
        <c:numFmt formatCode="0.0" sourceLinked="0"/>
        <c:majorTickMark val="out"/>
        <c:minorTickMark val="none"/>
        <c:tickLblPos val="nextTo"/>
        <c:spPr>
          <a:ln>
            <a:noFill/>
          </a:ln>
        </c:spPr>
        <c:txPr>
          <a:bodyPr/>
          <a:lstStyle/>
          <a:p>
            <a:pPr>
              <a:defRPr sz="14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Baseline</c:v>
                </c:pt>
              </c:strCache>
            </c:strRef>
          </c:tx>
          <c:spPr>
            <a:solidFill>
              <a:srgbClr val="899CA5"/>
            </a:solidFill>
            <a:ln>
              <a:noFill/>
            </a:ln>
          </c:spPr>
          <c:cat>
            <c:strRef>
              <c:f>Sheet1!$A$2:$A$5</c:f>
              <c:strCache>
                <c:ptCount val="4"/>
                <c:pt idx="0">
                  <c:v>LR*</c:v>
                </c:pt>
                <c:pt idx="1">
                  <c:v>Tree</c:v>
                </c:pt>
                <c:pt idx="2">
                  <c:v>RF</c:v>
                </c:pt>
                <c:pt idx="3">
                  <c:v>XGBoost</c:v>
                </c:pt>
              </c:strCache>
            </c:strRef>
          </c:cat>
          <c:val>
            <c:numRef>
              <c:f>Sheet1!$B$2:$B$5</c:f>
              <c:numCache>
                <c:formatCode>General</c:formatCode>
                <c:ptCount val="4"/>
                <c:pt idx="0">
                  <c:v>0.4969981429211727</c:v>
                </c:pt>
                <c:pt idx="1">
                  <c:v>0.284267217062282</c:v>
                </c:pt>
                <c:pt idx="2">
                  <c:v>0.531169199686173</c:v>
                </c:pt>
                <c:pt idx="3">
                  <c:v>0.5543803073495323</c:v>
                </c:pt>
              </c:numCache>
            </c:numRef>
          </c:val>
        </c:ser>
        <c:ser>
          <c:idx val="1"/>
          <c:order val="1"/>
          <c:tx>
            <c:strRef>
              <c:f>Sheet1!$C$1</c:f>
              <c:strCache>
                <c:ptCount val="1"/>
                <c:pt idx="0">
                  <c:v>CV-selected</c:v>
                </c:pt>
              </c:strCache>
            </c:strRef>
          </c:tx>
          <c:spPr>
            <a:solidFill>
              <a:srgbClr val="187B78"/>
            </a:solidFill>
            <a:ln>
              <a:noFill/>
            </a:ln>
          </c:spPr>
          <c:cat>
            <c:strRef>
              <c:f>Sheet1!$A$2:$A$5</c:f>
              <c:strCache>
                <c:ptCount val="4"/>
                <c:pt idx="0">
                  <c:v>LR*</c:v>
                </c:pt>
                <c:pt idx="1">
                  <c:v>Tree</c:v>
                </c:pt>
                <c:pt idx="2">
                  <c:v>RF</c:v>
                </c:pt>
                <c:pt idx="3">
                  <c:v>XGBoost</c:v>
                </c:pt>
              </c:strCache>
            </c:strRef>
          </c:cat>
          <c:val>
            <c:numRef>
              <c:f>Sheet1!$C$2:$C$5</c:f>
              <c:numCache>
                <c:formatCode>General</c:formatCode>
                <c:ptCount val="4"/>
                <c:pt idx="0">
                  <c:v>0.49674924303782697</c:v>
                </c:pt>
                <c:pt idx="1">
                  <c:v>0.5220918784014116</c:v>
                </c:pt>
                <c:pt idx="2">
                  <c:v>0.5507549511360591</c:v>
                </c:pt>
                <c:pt idx="3">
                  <c:v>0.5516036303213034</c:v>
                </c:pt>
              </c:numCache>
            </c:numRef>
          </c:val>
        </c:ser>
        <c:dLbls>
          <c:numFmt formatCode="0.000" sourceLinked="0"/>
          <c:txPr>
            <a:bodyPr/>
            <a:lstStyle/>
            <a:p>
              <a:pPr>
                <a:defRPr sz="1700"/>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l"/>
        <c:majorTickMark val="out"/>
        <c:minorTickMark val="none"/>
        <c:tickLblPos val="nextTo"/>
        <c:spPr>
          <a:ln>
            <a:solidFill>
              <a:srgbClr val="E1E8E8"/>
            </a:solidFill>
          </a:ln>
        </c:spPr>
        <c:txPr>
          <a:bodyPr/>
          <a:lstStyle/>
          <a:p>
            <a:pPr>
              <a:defRPr sz="1600"/>
            </a:pPr>
          </a:p>
        </c:txPr>
        <c:crossAx val="-2113994440"/>
        <c:crosses val="autoZero"/>
        <c:auto val="1"/>
        <c:lblAlgn val="ctr"/>
        <c:lblOffset val="100"/>
        <c:noMultiLvlLbl val="0"/>
      </c:catAx>
      <c:valAx>
        <c:axId val="-2113994440"/>
        <c:scaling>
          <c:max val="0.65"/>
          <c:min val="0.0"/>
        </c:scaling>
        <c:delete val="0"/>
        <c:axPos val="b"/>
        <c:majorGridlines>
          <c:spPr>
            <a:ln>
              <a:solidFill>
                <a:srgbClr val="E1E8E8"/>
              </a:solidFill>
            </a:ln>
          </c:spPr>
        </c:majorGridlines>
        <c:numFmt formatCode="0.000" sourceLinked="0"/>
        <c:majorTickMark val="out"/>
        <c:minorTickMark val="none"/>
        <c:tickLblPos val="nextTo"/>
        <c:spPr>
          <a:ln>
            <a:noFill/>
          </a:ln>
        </c:spPr>
        <c:txPr>
          <a:bodyPr/>
          <a:lstStyle/>
          <a:p>
            <a:pPr>
              <a:defRPr sz="1400"/>
            </a:pPr>
          </a:p>
        </c:txPr>
        <c:crossAx val="-2068027336"/>
        <c:crosses val="autoZero"/>
      </c:valAx>
    </c:plotArea>
    <c:legend>
      <c:legendPos val="b"/>
      <c:overlay val="0"/>
      <c:txPr>
        <a:bodyPr/>
        <a:lstStyle/>
        <a:p>
          <a:pPr>
            <a:defRPr sz="1500"/>
          </a:pPr>
        </a:p>
      </c:txPr>
    </c:legend>
    <c:dispBlanksAs val="gap"/>
  </c:chart>
  <c:txPr>
    <a:bodyPr/>
    <a:lstStyle/>
    <a:p>
      <a:pPr>
        <a:defRPr sz="1800"/>
      </a:pPr>
      <a:endParaRPr lang="en-US"/>
    </a:p>
  </c:txPr>
  <c:externalData r:id="rId1">
    <c:autoUpdate val="0"/>
  </c:externalData>
</c:chartSpace>
</file>

<file path=ppt/charts/chart3.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AP</c:v>
                </c:pt>
              </c:strCache>
            </c:strRef>
          </c:tx>
          <c:spPr>
            <a:solidFill>
              <a:srgbClr val="899CA5"/>
            </a:solidFill>
            <a:ln>
              <a:noFill/>
            </a:ln>
          </c:spPr>
          <c:dPt>
            <c:idx val="0"/>
            <c:spPr>
              <a:solidFill>
                <a:srgbClr val="899CA5"/>
              </a:solidFill>
              <a:ln>
                <a:noFill/>
              </a:ln>
            </c:spPr>
          </c:dPt>
          <c:dPt>
            <c:idx val="1"/>
            <c:spPr>
              <a:solidFill>
                <a:srgbClr val="187B78"/>
              </a:solidFill>
              <a:ln>
                <a:noFill/>
              </a:ln>
            </c:spPr>
          </c:dPt>
          <c:cat>
            <c:strRef>
              <c:f>Sheet1!$A$2:$A$3</c:f>
              <c:strCache>
                <c:ptCount val="2"/>
                <c:pt idx="0">
                  <c:v>Baseline</c:v>
                </c:pt>
                <c:pt idx="1">
                  <c:v>Selected</c:v>
                </c:pt>
              </c:strCache>
            </c:strRef>
          </c:cat>
          <c:val>
            <c:numRef>
              <c:f>Sheet1!$B$2:$B$3</c:f>
              <c:numCache>
                <c:formatCode>General</c:formatCode>
                <c:ptCount val="2"/>
                <c:pt idx="0">
                  <c:v>0.531169199686173</c:v>
                </c:pt>
                <c:pt idx="1">
                  <c:v>0.5507549511360591</c:v>
                </c:pt>
              </c:numCache>
            </c:numRef>
          </c:val>
        </c:ser>
        <c:dLbls>
          <c:numFmt formatCode="0.000" sourceLinked="0"/>
          <c:txPr>
            <a:bodyPr/>
            <a:lstStyle/>
            <a:p>
              <a:pPr>
                <a:defRPr sz="1700"/>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b"/>
        <c:majorTickMark val="out"/>
        <c:minorTickMark val="none"/>
        <c:tickLblPos val="nextTo"/>
        <c:spPr>
          <a:ln>
            <a:solidFill>
              <a:srgbClr val="E1E8E8"/>
            </a:solidFill>
          </a:ln>
        </c:spPr>
        <c:txPr>
          <a:bodyPr/>
          <a:lstStyle/>
          <a:p>
            <a:pPr>
              <a:defRPr sz="1600"/>
            </a:pPr>
          </a:p>
        </c:txPr>
        <c:crossAx val="-2113994440"/>
        <c:crosses val="autoZero"/>
        <c:auto val="1"/>
        <c:lblAlgn val="ctr"/>
        <c:lblOffset val="100"/>
        <c:noMultiLvlLbl val="0"/>
      </c:catAx>
      <c:valAx>
        <c:axId val="-2113994440"/>
        <c:scaling>
          <c:max val="0.65"/>
          <c:min val="0.0"/>
        </c:scaling>
        <c:delete val="0"/>
        <c:axPos val="l"/>
        <c:majorGridlines>
          <c:spPr>
            <a:ln>
              <a:solidFill>
                <a:srgbClr val="E1E8E8"/>
              </a:solidFill>
            </a:ln>
          </c:spPr>
        </c:majorGridlines>
        <c:numFmt formatCode="0.0" sourceLinked="0"/>
        <c:majorTickMark val="out"/>
        <c:minorTickMark val="none"/>
        <c:tickLblPos val="nextTo"/>
        <c:spPr>
          <a:ln>
            <a:noFill/>
          </a:ln>
        </c:spPr>
        <c:txPr>
          <a:bodyPr/>
          <a:lstStyle/>
          <a:p>
            <a:pPr>
              <a:defRPr sz="14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4.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Mean AP decrease</c:v>
                </c:pt>
              </c:strCache>
            </c:strRef>
          </c:tx>
          <c:spPr>
            <a:solidFill>
              <a:srgbClr val="899CA5"/>
            </a:solidFill>
            <a:ln>
              <a:noFill/>
            </a:ln>
          </c:spPr>
          <c:dPt>
            <c:idx val="0"/>
            <c:spPr>
              <a:solidFill>
                <a:srgbClr val="187B78"/>
              </a:solidFill>
              <a:ln>
                <a:noFill/>
              </a:ln>
            </c:spPr>
          </c:dPt>
          <c:dPt>
            <c:idx val="1"/>
            <c:spPr>
              <a:solidFill>
                <a:srgbClr val="187B78"/>
              </a:solidFill>
              <a:ln>
                <a:noFill/>
              </a:ln>
            </c:spPr>
          </c:dPt>
          <c:dPt>
            <c:idx val="2"/>
            <c:spPr>
              <a:solidFill>
                <a:srgbClr val="187B78"/>
              </a:solidFill>
              <a:ln>
                <a:noFill/>
              </a:ln>
            </c:spPr>
          </c:dPt>
          <c:dPt>
            <c:idx val="3"/>
            <c:spPr>
              <a:solidFill>
                <a:srgbClr val="187B78"/>
              </a:solidFill>
              <a:ln>
                <a:noFill/>
              </a:ln>
            </c:spPr>
          </c:dPt>
          <c:dPt>
            <c:idx val="4"/>
            <c:spPr>
              <a:solidFill>
                <a:srgbClr val="187B78"/>
              </a:solidFill>
              <a:ln>
                <a:noFill/>
              </a:ln>
            </c:spPr>
          </c:dPt>
          <c:cat>
            <c:strRef>
              <c:f>Sheet1!$A$2:$A$6</c:f>
              <c:strCache>
                <c:ptCount val="5"/>
                <c:pt idx="0">
                  <c:v>BILL_AMT1</c:v>
                </c:pt>
                <c:pt idx="1">
                  <c:v>LIMIT_BAL</c:v>
                </c:pt>
                <c:pt idx="2">
                  <c:v>PAY_3</c:v>
                </c:pt>
                <c:pt idx="3">
                  <c:v>PAY_2</c:v>
                </c:pt>
                <c:pt idx="4">
                  <c:v>PAY_0</c:v>
                </c:pt>
              </c:strCache>
            </c:strRef>
          </c:cat>
          <c:val>
            <c:numRef>
              <c:f>Sheet1!$B$2:$B$6</c:f>
              <c:numCache>
                <c:formatCode>General</c:formatCode>
                <c:ptCount val="5"/>
                <c:pt idx="0">
                  <c:v>0.008748613100078417</c:v>
                </c:pt>
                <c:pt idx="1">
                  <c:v>0.010001940536327946</c:v>
                </c:pt>
                <c:pt idx="2">
                  <c:v>0.010869789890604298</c:v>
                </c:pt>
                <c:pt idx="3">
                  <c:v>0.019572348649687286</c:v>
                </c:pt>
                <c:pt idx="4">
                  <c:v>0.19707230912780407</c:v>
                </c:pt>
              </c:numCache>
            </c:numRef>
          </c:val>
        </c:ser>
        <c:dLbls>
          <c:numFmt formatCode="0.000" sourceLinked="0"/>
          <c:txPr>
            <a:bodyPr/>
            <a:lstStyle/>
            <a:p>
              <a:pPr>
                <a:defRPr sz="1700"/>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l"/>
        <c:majorTickMark val="out"/>
        <c:minorTickMark val="none"/>
        <c:tickLblPos val="nextTo"/>
        <c:spPr>
          <a:ln>
            <a:solidFill>
              <a:srgbClr val="E1E8E8"/>
            </a:solidFill>
          </a:ln>
        </c:spPr>
        <c:txPr>
          <a:bodyPr/>
          <a:lstStyle/>
          <a:p>
            <a:pPr>
              <a:defRPr sz="1600"/>
            </a:pPr>
          </a:p>
        </c:txPr>
        <c:crossAx val="-2113994440"/>
        <c:crosses val="autoZero"/>
        <c:auto val="1"/>
        <c:lblAlgn val="ctr"/>
        <c:lblOffset val="100"/>
        <c:noMultiLvlLbl val="0"/>
      </c:catAx>
      <c:valAx>
        <c:axId val="-2113994440"/>
        <c:scaling>
          <c:max val="0.24"/>
          <c:min val="0.0"/>
        </c:scaling>
        <c:delete val="0"/>
        <c:axPos val="b"/>
        <c:majorGridlines>
          <c:spPr>
            <a:ln>
              <a:solidFill>
                <a:srgbClr val="E1E8E8"/>
              </a:solidFill>
            </a:ln>
          </c:spPr>
        </c:majorGridlines>
        <c:numFmt formatCode="0.000" sourceLinked="0"/>
        <c:majorTickMark val="out"/>
        <c:minorTickMark val="none"/>
        <c:tickLblPos val="nextTo"/>
        <c:spPr>
          <a:ln>
            <a:noFill/>
          </a:ln>
        </c:spPr>
        <c:txPr>
          <a:bodyPr/>
          <a:lstStyle/>
          <a:p>
            <a:pPr>
              <a:defRPr sz="14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5.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AP</c:v>
                </c:pt>
              </c:strCache>
            </c:strRef>
          </c:tx>
          <c:spPr>
            <a:solidFill>
              <a:srgbClr val="899CA5"/>
            </a:solidFill>
            <a:ln>
              <a:noFill/>
            </a:ln>
          </c:spPr>
          <c:dPt>
            <c:idx val="0"/>
            <c:spPr>
              <a:solidFill>
                <a:srgbClr val="899CA5"/>
              </a:solidFill>
              <a:ln>
                <a:noFill/>
              </a:ln>
            </c:spPr>
          </c:dPt>
          <c:dPt>
            <c:idx val="1"/>
            <c:spPr>
              <a:solidFill>
                <a:srgbClr val="187B78"/>
              </a:solidFill>
              <a:ln>
                <a:noFill/>
              </a:ln>
            </c:spPr>
          </c:dPt>
          <c:cat>
            <c:strRef>
              <c:f>Sheet1!$A$2:$A$3</c:f>
              <c:strCache>
                <c:ptCount val="2"/>
                <c:pt idx="0">
                  <c:v>Baseline</c:v>
                </c:pt>
                <c:pt idx="1">
                  <c:v>Selected</c:v>
                </c:pt>
              </c:strCache>
            </c:strRef>
          </c:cat>
          <c:val>
            <c:numRef>
              <c:f>Sheet1!$B$2:$B$3</c:f>
              <c:numCache>
                <c:formatCode>General</c:formatCode>
                <c:ptCount val="2"/>
                <c:pt idx="0">
                  <c:v>0.5543803073495323</c:v>
                </c:pt>
                <c:pt idx="1">
                  <c:v>0.5516036303213034</c:v>
                </c:pt>
              </c:numCache>
            </c:numRef>
          </c:val>
        </c:ser>
        <c:dLbls>
          <c:numFmt formatCode="0.000" sourceLinked="0"/>
          <c:txPr>
            <a:bodyPr/>
            <a:lstStyle/>
            <a:p>
              <a:pPr>
                <a:defRPr sz="1700"/>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b"/>
        <c:majorTickMark val="out"/>
        <c:minorTickMark val="none"/>
        <c:tickLblPos val="nextTo"/>
        <c:spPr>
          <a:ln>
            <a:solidFill>
              <a:srgbClr val="E1E8E8"/>
            </a:solidFill>
          </a:ln>
        </c:spPr>
        <c:txPr>
          <a:bodyPr/>
          <a:lstStyle/>
          <a:p>
            <a:pPr>
              <a:defRPr sz="1600"/>
            </a:pPr>
          </a:p>
        </c:txPr>
        <c:crossAx val="-2113994440"/>
        <c:crosses val="autoZero"/>
        <c:auto val="1"/>
        <c:lblAlgn val="ctr"/>
        <c:lblOffset val="100"/>
        <c:noMultiLvlLbl val="0"/>
      </c:catAx>
      <c:valAx>
        <c:axId val="-2113994440"/>
        <c:scaling>
          <c:max val="0.65"/>
          <c:min val="0.0"/>
        </c:scaling>
        <c:delete val="0"/>
        <c:axPos val="l"/>
        <c:majorGridlines>
          <c:spPr>
            <a:ln>
              <a:solidFill>
                <a:srgbClr val="E1E8E8"/>
              </a:solidFill>
            </a:ln>
          </c:spPr>
        </c:majorGridlines>
        <c:numFmt formatCode="0.0" sourceLinked="0"/>
        <c:majorTickMark val="out"/>
        <c:minorTickMark val="none"/>
        <c:tickLblPos val="nextTo"/>
        <c:spPr>
          <a:ln>
            <a:noFill/>
          </a:ln>
        </c:spPr>
        <c:txPr>
          <a:bodyPr/>
          <a:lstStyle/>
          <a:p>
            <a:pPr>
              <a:defRPr sz="1400"/>
            </a:pPr>
          </a:p>
        </c:txPr>
        <c:crossAx val="-2068027336"/>
        <c:crosses val="autoZero"/>
      </c:valAx>
    </c:plotArea>
    <c:dispBlanksAs val="gap"/>
  </c:chart>
  <c:txPr>
    <a:bodyPr/>
    <a:lstStyle/>
    <a:p>
      <a:pPr>
        <a:defRPr sz="1800"/>
      </a:pPr>
      <a:endParaRPr lang="en-US"/>
    </a:p>
  </c:txPr>
  <c:externalData r:id="rId1">
    <c:autoUpdate val="0"/>
  </c:externalData>
</c:chartSpace>
</file>

<file path=ppt/charts/chart6.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Threshold 0.5</c:v>
                </c:pt>
              </c:strCache>
            </c:strRef>
          </c:tx>
          <c:spPr>
            <a:solidFill>
              <a:srgbClr val="899CA5"/>
            </a:solidFill>
            <a:ln>
              <a:noFill/>
            </a:ln>
          </c:spPr>
          <c:cat>
            <c:strRef>
              <c:f>Sheet1!$A$2:$A$3</c:f>
              <c:strCache>
                <c:ptCount val="2"/>
                <c:pt idx="0">
                  <c:v>False positives</c:v>
                </c:pt>
                <c:pt idx="1">
                  <c:v>False negatives</c:v>
                </c:pt>
              </c:strCache>
            </c:strRef>
          </c:cat>
          <c:val>
            <c:numRef>
              <c:f>Sheet1!$B$2:$B$3</c:f>
              <c:numCache>
                <c:formatCode>General</c:formatCode>
                <c:ptCount val="2"/>
                <c:pt idx="0">
                  <c:v>690</c:v>
                </c:pt>
                <c:pt idx="1">
                  <c:v>599</c:v>
                </c:pt>
              </c:numCache>
            </c:numRef>
          </c:val>
        </c:ser>
        <c:ser>
          <c:idx val="1"/>
          <c:order val="1"/>
          <c:tx>
            <c:strRef>
              <c:f>Sheet1!$C$1</c:f>
              <c:strCache>
                <c:ptCount val="1"/>
                <c:pt idx="0">
                  <c:v>Validation r=5</c:v>
                </c:pt>
              </c:strCache>
            </c:strRef>
          </c:tx>
          <c:spPr>
            <a:solidFill>
              <a:srgbClr val="C8784A"/>
            </a:solidFill>
            <a:ln>
              <a:noFill/>
            </a:ln>
          </c:spPr>
          <c:cat>
            <c:strRef>
              <c:f>Sheet1!$A$2:$A$3</c:f>
              <c:strCache>
                <c:ptCount val="2"/>
                <c:pt idx="0">
                  <c:v>False positives</c:v>
                </c:pt>
                <c:pt idx="1">
                  <c:v>False negatives</c:v>
                </c:pt>
              </c:strCache>
            </c:strRef>
          </c:cat>
          <c:val>
            <c:numRef>
              <c:f>Sheet1!$C$2:$C$3</c:f>
              <c:numCache>
                <c:formatCode>General</c:formatCode>
                <c:ptCount val="2"/>
                <c:pt idx="0">
                  <c:v>2248</c:v>
                </c:pt>
                <c:pt idx="1">
                  <c:v>232</c:v>
                </c:pt>
              </c:numCache>
            </c:numRef>
          </c:val>
        </c:ser>
        <c:dLbls>
          <c:numFmt formatCode="0" sourceLinked="0"/>
          <c:txPr>
            <a:bodyPr/>
            <a:lstStyle/>
            <a:p>
              <a:pPr>
                <a:defRPr sz="1700"/>
              </a:pPr>
            </a:p>
          </c:txPr>
          <c:dLblPos val="outEnd"/>
          <c:showLegendKey val="0"/>
          <c:showVal val="1"/>
          <c:showCatName val="0"/>
          <c:showSerName val="0"/>
          <c:showPercent val="0"/>
          <c:showBubbleSize val="0"/>
          <c:showLeaderLines val="1"/>
        </c:dLbls>
        <c:gapWidth val="90"/>
        <c:axId val="-2068027336"/>
        <c:axId val="-2113994440"/>
      </c:barChart>
      <c:catAx>
        <c:axId val="-2068027336"/>
        <c:scaling>
          <c:orientation val="minMax"/>
        </c:scaling>
        <c:delete val="0"/>
        <c:axPos val="b"/>
        <c:majorTickMark val="out"/>
        <c:minorTickMark val="none"/>
        <c:tickLblPos val="nextTo"/>
        <c:spPr>
          <a:ln>
            <a:solidFill>
              <a:srgbClr val="E1E8E8"/>
            </a:solidFill>
          </a:ln>
        </c:spPr>
        <c:txPr>
          <a:bodyPr/>
          <a:lstStyle/>
          <a:p>
            <a:pPr>
              <a:defRPr sz="1600"/>
            </a:pPr>
          </a:p>
        </c:txPr>
        <c:crossAx val="-2113994440"/>
        <c:crosses val="autoZero"/>
        <c:auto val="1"/>
        <c:lblAlgn val="ctr"/>
        <c:lblOffset val="100"/>
        <c:noMultiLvlLbl val="0"/>
      </c:catAx>
      <c:valAx>
        <c:axId val="-2113994440"/>
        <c:scaling>
          <c:max val="2700.0"/>
          <c:min val="0.0"/>
        </c:scaling>
        <c:delete val="0"/>
        <c:axPos val="l"/>
        <c:majorGridlines>
          <c:spPr>
            <a:ln>
              <a:solidFill>
                <a:srgbClr val="E1E8E8"/>
              </a:solidFill>
            </a:ln>
          </c:spPr>
        </c:majorGridlines>
        <c:numFmt formatCode="0" sourceLinked="0"/>
        <c:majorTickMark val="out"/>
        <c:minorTickMark val="none"/>
        <c:tickLblPos val="nextTo"/>
        <c:spPr>
          <a:ln>
            <a:noFill/>
          </a:ln>
        </c:spPr>
        <c:txPr>
          <a:bodyPr/>
          <a:lstStyle/>
          <a:p>
            <a:pPr>
              <a:defRPr sz="1400"/>
            </a:pPr>
          </a:p>
        </c:txPr>
        <c:crossAx val="-2068027336"/>
        <c:crosses val="autoZero"/>
      </c:valAx>
    </c:plotArea>
    <c:legend>
      <c:legendPos val="b"/>
      <c:overlay val="0"/>
      <c:txPr>
        <a:bodyPr/>
        <a:lstStyle/>
        <a:p>
          <a:pPr>
            <a:defRPr sz="1500"/>
          </a:pPr>
        </a:p>
      </c:txPr>
    </c:legend>
    <c:dispBlanksAs val="gap"/>
  </c:chart>
  <c:txPr>
    <a:bodyPr/>
    <a:lstStyle/>
    <a:p>
      <a:pPr>
        <a:defRPr sz="1800"/>
      </a:pPr>
      <a:endParaRPr lang="en-US"/>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 Credit Card Default Prediction</a:t>
            </a:r>
          </a:p>
          <a:p>
            <a:r>
              <a:t>Lei Peng (G2509090C) | Part 1: Data and logistic regression | Contribution 25%</a:t>
            </a:r>
          </a:p>
          <a:p>
            <a:r>
              <a:t>Target: 45 seconds</a:t>
            </a:r>
          </a:p>
          <a:p/>
          <a:p>
            <a:r>
              <a:t>Our question is how to identify default risk while balancing predictive ranking, interpretability, and the cost of taking action. We compare logistic regression, a decision tree, random forest, and XGBoost on shared historical records. A model score ranks accounts, but a threshold decides which accounts receive attention. Those are different questions, and our results will show why the distinction matters. I am Lei Peng, and I will begin with the data and logistic regression. Zhang Hanyu will cover the decision tree, Zhou Xinzhe the random forest, and Xu Yiqun XGBoost and decision costs.</a:t>
            </a:r>
          </a:p>
          <a:p/>
          <a:p>
            <a:r>
              <a:t>Transition: First, let us see how the shared data supports a fair comparison.</a:t>
            </a:r>
          </a:p>
          <a:p/>
          <a:p>
            <a:r>
              <a:t>UCI Default of Credit Card Clients; group experiment artifacts.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2: How we split and use the data</a:t>
            </a:r>
          </a:p>
          <a:p>
            <a:r>
              <a:t>Lei Peng (G2509090C) | Part 1: Data and logistic regression | Contribution 25%</a:t>
            </a:r>
          </a:p>
          <a:p>
            <a:r>
              <a:t>Target: 70 seconds</a:t>
            </a:r>
          </a:p>
          <a:p/>
          <a:p>
            <a:r>
              <a:t>The UCI dataset contains thirty thousand Taiwan credit card clients and twenty-three predictors. About twenty-two percent default, so an always-negative classifier can appear accurate while detecting nobody. We retain the supplied stratified split: eighteen thousand fitting rows, six thousand validation rows, and six thousand historical test rows. Five shared folds inside fitting data select configurations by average precision. Each fold learns its own category encoding, and logistic regression also learns scaling there. Validation selects thresholds without a later refit. The audit confirms identical memberships across the reproducible models. This random historical holdout is not temporal or external validation.</a:t>
            </a:r>
          </a:p>
          <a:p/>
          <a:p>
            <a:r>
              <a:t>Transition: With the data roles fixed, we can introduce the logistic reference and its caveat.</a:t>
            </a:r>
          </a:p>
          <a:p/>
          <a:p>
            <a:r>
              <a:t>Source: data/splits; protocol_frozen.json; results/final/audit.json</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3: Logistic regression: the linear reference</a:t>
            </a:r>
          </a:p>
          <a:p>
            <a:r>
              <a:t>Lei Peng (G2509090C) | Part 1: Data and logistic regression | Contribution 25%</a:t>
            </a:r>
          </a:p>
          <a:p>
            <a:r>
              <a:t>Target: 65 seconds</a:t>
            </a:r>
          </a:p>
          <a:p/>
          <a:p>
            <a:r>
              <a:t>Logistic regression offers a linear reference whose coefficients describe regularized associations. We used fold-trained scaling and categorical encoding, then compared twelve declared combinations of regularization strength and class weighting. Cross-validation selected C equal to zero point one without class weighting. The test AP is 0.4967, versus 0.4970 for the baseline, so selection did not improve ranking here. Crucially, the original logistic notebook was empty, and its original procedure cannot be verified. We preserve those artifacts and label our reproducible run as a post-hoc supplement after earlier test results existed. Part two now examines how tree regularization changes performance.</a:t>
            </a:r>
          </a:p>
          <a:p/>
          <a:p>
            <a:r>
              <a:t>Transition: I will now hand over to Zhang Hanyu to explain decision-tree regularization.</a:t>
            </a:r>
          </a:p>
          <a:p/>
          <a:p>
            <a:r>
              <a:t>Source: results/final/model_comparison.csv | Historical test n=6,000; default=1 | LR* = post-hoc reproducibility supplement after historic test results existed.</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4: Decision tree: controlling overfitting</a:t>
            </a:r>
          </a:p>
          <a:p>
            <a:r>
              <a:t>Zhang Hanyu (G2509091L) | Part 2: Decision tree and overfitting | Contribution 25%</a:t>
            </a:r>
          </a:p>
          <a:p>
            <a:r>
              <a:t>Target: 65 seconds</a:t>
            </a:r>
          </a:p>
          <a:p/>
          <a:p>
            <a:r>
              <a:t>A decision tree can fit very detailed partitions, which makes overfitting easy. Our baseline achieves nearly perfect fitting-fold AP but only about zero point three in cross-validation. The declared grid searches seven depth limits and three minimum leaf sizes, giving twenty-one configurations. The selected model requires at least one hundred observations in each leaf, although it has no explicit depth cap. Test AP rises from 0.2843 to 0.5221. This is a substantial change for this model and split. It supports regularization as an explanation, rather than treating training performance as evidence of generalization. Next, we inspect what the tree actually uses.</a:t>
            </a:r>
          </a:p>
          <a:p/>
          <a:p>
            <a:r>
              <a:t>Transition: Next, we inspect one rule to understand the tree's predictive pattern.</a:t>
            </a:r>
          </a:p>
          <a:p/>
          <a:p>
            <a:r>
              <a:t>Source: results/final/model_comparison.csv | Historical test n=6,000; default=1</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5: Reading the tree’s first decision</a:t>
            </a:r>
          </a:p>
          <a:p>
            <a:r>
              <a:t>Zhang Hanyu (G2509091L) | Part 2: Decision tree and overfitting | Contribution 25%</a:t>
            </a:r>
          </a:p>
          <a:p>
            <a:r>
              <a:t>Target: 60 seconds</a:t>
            </a:r>
          </a:p>
          <a:p/>
          <a:p>
            <a:r>
              <a:t>The selected tree begins with recent repayment status, PAY zero. Its root separates values at one point five. In the fitting sample, the default proportions are sixteen point five one percent on the left and seventy point one three percent on the right. This provides a concise description of an important predictive pattern. It does not mean repayment status causes the outcome, and node proportions are not a substitute for calibration analysis. The full selected tree still has depth eighteen and one hundred thirty-four leaves. We therefore use a representative rule rather than claiming the whole tree is a small explanation.</a:t>
            </a:r>
          </a:p>
          <a:p/>
          <a:p>
            <a:r>
              <a:t>Transition: We can now place the tree beside the other models using a common ranking metric.</a:t>
            </a:r>
          </a:p>
          <a:p/>
          <a:p>
            <a:r>
              <a:t>Source: saved decision-tree model; integration audit/report evidence.</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6: Ranking performance across four models</a:t>
            </a:r>
          </a:p>
          <a:p>
            <a:r>
              <a:t>Zhang Hanyu (G2509091L) | Part 2: Decision tree and overfitting | Contribution 25%</a:t>
            </a:r>
          </a:p>
          <a:p>
            <a:r>
              <a:t>Target: 55 seconds</a:t>
            </a:r>
          </a:p>
          <a:p/>
          <a:p>
            <a:r>
              <a:t>This comparison retains both the baseline and the cross-validation-selected model for each family. Average precision is a recall-increment weighted sum of precision, not the trapezoidal area sometimes also called PR-AUC. Our positive prevalence is approximately zero point two two, which gives useful context for these scores. The selected forest has AP 0.5508, and selected XGBoost has 0.5516. Those close point estimates do not establish superiority. The XGBoost baseline is numerically higher, but this retrospective observation does not authorize another selection round on test results. Zhou Xinzhe will now explain the forest, its feature importance, and examples of its errors.</a:t>
            </a:r>
          </a:p>
          <a:p/>
          <a:p>
            <a:r>
              <a:t>Transition: I will now hand over to Zhou Xinzhe for random forest, feature importance, and error cases.</a:t>
            </a:r>
          </a:p>
          <a:p/>
          <a:p>
            <a:r>
              <a:t>Source: results/final/model_comparison.csv | Historical test n=6,000; default=1 | LR* = post-hoc reproducibility supplement after historic test results existed.</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7: Random forest: averaging and regularization</a:t>
            </a:r>
          </a:p>
          <a:p>
            <a:r>
              <a:t>Zhou Xinzhe (G2509033F) | Part 3: Random forest and error analysis | Contribution 25%</a:t>
            </a:r>
          </a:p>
          <a:p>
            <a:r>
              <a:t>Target: 70 seconds</a:t>
            </a:r>
          </a:p>
          <a:p/>
          <a:p>
            <a:r>
              <a:t>Random forest averages many trees, reducing dependence on any single partition. We evaluated a baseline and twenty-three seeded candidate configurations using the same five fitting folds and average-precision objective. The selected configuration uses five hundred trees, maximum depth eight, a minimum leaf size of two, and half the features at each split. It also weights the positive class three times as heavily. Test AP changes from 0.5312 to 0.5508. Class weighting affects the learned score distribution, so we should not assume these scores are calibrated probabilities. We next examine which features the fitted forest relies on and where it makes errors.</a:t>
            </a:r>
          </a:p>
          <a:p/>
          <a:p>
            <a:r>
              <a:t>Transition: We next examine which features the forest uses to rank risk.</a:t>
            </a:r>
          </a:p>
          <a:p/>
          <a:p>
            <a:r>
              <a:t>Source: results/final/model_comparison.csv | Historical test n=6,000; default=1 | results/rf/protocol_frozen.json</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8: Random forest: which features matter?</a:t>
            </a:r>
          </a:p>
          <a:p>
            <a:r>
              <a:t>Zhou Xinzhe (G2509033F) | Part 3: Random forest and error analysis | Contribution 25%</a:t>
            </a:r>
          </a:p>
          <a:p>
            <a:r>
              <a:t>Target: 60 seconds</a:t>
            </a:r>
          </a:p>
          <a:p/>
          <a:p>
            <a:r>
              <a:t>We measure importance by shuffling one feature on validation data and observing the fall in average precision. The forest relies most strongly on recent repayment status, PAY zero: its mean AP decrease is 0.1971. Earlier repayment status, PAY two, follows at 0.0196. These values come from five saved permutations of each feature. They describe the fitted forest's predictive reliance, not a causal effect or a feature's isolated contribution. Correlated predictors can substitute for one another, and shuffling may create combinations that do not occur naturally. The chart shows mean decreases; variation across shuffles is recorded in the report. Even an influential variable cannot explain every customer's outcome.</a:t>
            </a:r>
          </a:p>
          <a:p/>
          <a:p>
            <a:r>
              <a:t>Transition: We now look at two saved errors to understand the limits of these patterns.</a:t>
            </a:r>
          </a:p>
          <a:p/>
          <a:p>
            <a:r>
              <a:t>Source: results/rf/validation_importance.csv | Five validation permutations; frozen model.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9: Random forest: two illustrative errors</a:t>
            </a:r>
          </a:p>
          <a:p>
            <a:r>
              <a:t>Zhou Xinzhe (G2509033F) | Part 3: Random forest and error analysis | Contribution 25%</a:t>
            </a:r>
          </a:p>
          <a:p>
            <a:r>
              <a:t>Target: 50 seconds</a:t>
            </a:r>
          </a:p>
          <a:p/>
          <a:p>
            <a:r>
              <a:t>At the fixed threshold of zero point five, the selected forest misses 637 defaults and falsely flags 573 non-defaults. Consider two examples already present in the saved error export. Row 982 actually defaults but receives a score of 0.1012; its recent repayment code is -2. Row 28747 does not default but scores 0.9415; its recent repayment code is 3. These examples show that repayment history is informative but not deterministic. They are the most confident errors from the existing export, not representative average customers. We do not change the model after inspecting them. Xu Yiqun will now examine the separate trade-off created by changing a validation-selected threshold.</a:t>
            </a:r>
          </a:p>
          <a:p/>
          <a:p>
            <a:r>
              <a:t>Transition: I will now hand over to Xu Yiqun for XGBoost and the cost of acting on its scores.</a:t>
            </a:r>
          </a:p>
          <a:p/>
          <a:p>
            <a:r>
              <a:t>Source: results/rf/misclassification_cases_05.csv | Tuned RF; score ≥ 0.5 predicts default.</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10: XGBoost: no gain in test ranking</a:t>
            </a:r>
          </a:p>
          <a:p>
            <a:r>
              <a:t>Xu Yiqun (G2509092H) | Part 4: XGBoost and threshold trade-offs | Contribution 25%</a:t>
            </a:r>
          </a:p>
          <a:p>
            <a:r>
              <a:t>Target: 60 seconds</a:t>
            </a:r>
          </a:p>
          <a:p/>
          <a:p>
            <a:r>
              <a:t>XGBoost builds trees sequentially with regularization. We retained the baseline and searched twenty-three additional seeded configurations using the shared CV objective. The selected configuration has test AP 0.5516, compared with 0.5544 for the baseline. The paired bootstrap interval for the difference spans zero, so we do not claim a ranking improvement. This bootstrap resamples the fixed predictions and does not include model retraining or selection uncertainty. The useful next question is separate: given the selected model's scores, how does a validation-chosen action threshold change missed defaults, false positives, and the stated hypothetical cost?</a:t>
            </a:r>
          </a:p>
          <a:p/>
          <a:p>
            <a:r>
              <a:t>Transition: The next slide holds scores fixed and changes only the validation-selected threshold.</a:t>
            </a:r>
          </a:p>
          <a:p/>
          <a:p>
            <a:r>
              <a:t>Source: results/final/model_comparison.csv | Historical test n=6,000; default=1 | results/xgboost/bootstrap_intervals.csv</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11: XGBoost: fewer misses, more reviews</a:t>
            </a:r>
          </a:p>
          <a:p>
            <a:r>
              <a:t>Xu Yiqun (G2509092H) | Part 4: XGBoost and threshold trade-offs | Contribution 25%</a:t>
            </a:r>
          </a:p>
          <a:p>
            <a:r>
              <a:t>Target: 80 seconds</a:t>
            </a:r>
          </a:p>
          <a:p/>
          <a:p>
            <a:r>
              <a:t>At a cost ratio of five, validation selects XGBoost's threshold at 0.3150. Applying it unchanged to the historical test set reduces false negatives from 599 to 232, while false positives rise from 690 to 2248. Recall reaches 82.5%, but 55.7% of clients are flagged. The total hypothetical cost falls from 3685 to 3408, about 7.5%. This is not an improvement in AP or ROC-AUC; the scores have not changed. The policy may be impractical if review capacity is limited. Real exposure, loss severity, and intervention benefits are unavailable, so these cost units are a sensitivity analysis.</a:t>
            </a:r>
          </a:p>
          <a:p/>
          <a:p>
            <a:r>
              <a:t>Transition: This trade-off leads to our main conclusion about ranking, costs, and workload.</a:t>
            </a:r>
          </a:p>
          <a:p/>
          <a:p>
            <a:r>
              <a:t>Source: results/final/model_comparison.csv | Historical test n=6,000; default=1 | FP + 5×FN; threshold selected only on validation.</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12: What the results mean for credit review</a:t>
            </a:r>
          </a:p>
          <a:p>
            <a:r>
              <a:t>Xu Yiqun (G2509092H) | Part 4: XGBoost and threshold trade-offs | Contribution 25%</a:t>
            </a:r>
          </a:p>
          <a:p>
            <a:r>
              <a:t>Target: 40 seconds</a:t>
            </a:r>
          </a:p>
          <a:p/>
          <a:p>
            <a:r>
              <a:t>Ranking and action policy answer different questions. Tree regularization improves its baseline, while the selected ensembles have similar ranking estimates. Lower thresholds reduce the stated cost by creating more reviews. Operational recommendations require realistic costs and capacity constraints. Historical data, duplicates, random splitting, and logistic provenance remain limitations. A new study should use fresh temporal or external data and examine calibration and subgroup errors. Thank you. We welcome your questions.</a:t>
            </a:r>
          </a:p>
          <a:p/>
          <a:p>
            <a:r>
              <a:t>Transition: We welcome your questions; the following slides provide supporting details.</a:t>
            </a:r>
          </a:p>
          <a:p/>
          <a:p>
            <a:r>
              <a:t>Historical educational study; no causal or deployment-readiness claim.</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13: Backup A • AP, ROC-AUC and threshold metrics</a:t>
            </a:r>
          </a:p>
          <a:p>
            <a:r>
              <a:t>Zhang Hanyu (G2509091L) | Part 2: Decision tree and overfitting | Contribution 25%</a:t>
            </a:r>
          </a:p>
          <a:p>
            <a:r>
              <a:t>Q&amp;A backup — use when relevant</a:t>
            </a:r>
          </a:p>
          <a:p/>
          <a:p>
            <a:r>
              <a:t>If asked about the ranking metric, explain that average precision weights each precision value by the associated increase in recall. It does not linearly interpolate the precision-recall curve with trapezoids, so similarly named PR-AUC values need not agree. ROC-AUC instead summarizes positive-versus-negative score ordering. Neither metric changes when we apply a different operating threshold to the same saved scores. Precision and recall do change because the decision set changes. The historical logistic CSV uses a PR-AUC label whose computation cannot be verified, which is one reason it is excluded from our verified ranking table.</a:t>
            </a:r>
          </a:p>
          <a:p/>
          <a:p>
            <a:r>
              <a:t>Transition: If useful, we can next explain the cost rule and the scope of its uncertainty.</a:t>
            </a:r>
          </a:p>
          <a:p/>
          <a:p>
            <a:r>
              <a:t>Source: scikit-learn average_precision_score documentation; part4/evaluation.py</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14: Backup B • Cost ratios and fixed-prediction uncertainty</a:t>
            </a:r>
          </a:p>
          <a:p>
            <a:r>
              <a:t>Xu Yiqun (G2509092H) | Part 4: XGBoost and threshold trade-offs | Contribution 25%</a:t>
            </a:r>
          </a:p>
          <a:p>
            <a:r>
              <a:t>Q&amp;A backup — use when relevant</a:t>
            </a:r>
          </a:p>
          <a:p/>
          <a:p>
            <a:r>
              <a:t>The cost experiment declares four ratios rather than searching for a convenient ratio after viewing test results. At each ratio, the validation table includes all distinct score-based decision sets, with tied scores moving together. Equal costs select the largest threshold and therefore fewer alerts. The paired bootstrap samples the same test-row indices for each compared prediction vector, stratified by outcome. Its intervals are conditional on frozen models, thresholds, and class counts. They do not include uncertainty from refitting, hyperparameter search, threshold search, or a shift to another population. Real operational costs would require information that this dataset does not provide.</a:t>
            </a:r>
          </a:p>
          <a:p/>
          <a:p>
            <a:r>
              <a:t>Transition: We can also explain where the source data and evidence boundaries come from.</a:t>
            </a:r>
          </a:p>
          <a:p/>
          <a:p>
            <a:r>
              <a:t>Source: frozen protocols; integration/uncertainty.py; bootstrap_intervals.csv</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15: Backup C • Data provenance and evidence boundaries</a:t>
            </a:r>
          </a:p>
          <a:p>
            <a:r>
              <a:t>Lei Peng (G2509090C) | Part 1: Data and logistic regression | Contribution 25%</a:t>
            </a:r>
          </a:p>
          <a:p>
            <a:r>
              <a:t>Q&amp;A backup — use when relevant</a:t>
            </a:r>
          </a:p>
          <a:p/>
          <a:p>
            <a:r>
              <a:t>The integration audit redownloaded the official source and reproduced the committed cleaned dataset in values, types, order, and schema. Undocumented education categories are consolidated, and marriage category zero is mapped to other. The original download bytes were not preserved, so the new download and its hash are documented separately. Duplicate feature vectors remain under the established protocol and may create dependence across partitions. For logistic regression, the original notebook history contained an empty model notebook. The supplement's code and search declaration were committed before execution, but previous team test results already existed. This makes the supplement reproducible without making it independent external evidence.</a:t>
            </a:r>
          </a:p>
          <a:p/>
          <a:p>
            <a:r>
              <a:t>Transition: The last backup lists the references and each member’s contribution.</a:t>
            </a:r>
          </a:p>
          <a:p/>
          <a:p>
            <a:r>
              <a:t>Sources: results/final/source_audit.json; integration/LOGISTIC_PROVENANCE.md</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Slide 16: Backup D • Sources, responsibilities and reproducibility</a:t>
            </a:r>
          </a:p>
          <a:p>
            <a:r>
              <a:t>Zhou Xinzhe (G2509033F) | Part 3: Random forest and error analysis | Contribution 25%</a:t>
            </a:r>
          </a:p>
          <a:p>
            <a:r>
              <a:t>Q&amp;A backup — use when relevant</a:t>
            </a:r>
          </a:p>
          <a:p/>
          <a:p>
            <a:r>
              <a:t>The numerical source for this editable presentation is the audited final comparison CSV, with model-specific protocols and bootstrap artifacts supplying supporting context. The UCI dataset, scikit-learn average-precision documentation, and the XGBoost paper are the core external references. The role plan assigns three minutes each to data and logistic regression, decision trees and ranking, random forest with feature importance and error cases, and XGBoost with threshold trade-offs. Lei Peng covers part one, Zhang Hanyu part two, Zhou Xinzhe part three, and Xu Yiqun part four. The group has confirmed equal contributions of twenty-five percent each. Data-split and metric agreement, final integration, checking and rehearsal are shared by all four members. Integration and the logistic supplement were prepared with AI assistance for member review. Reproducing artifacts is distinct from retraining and selecting new models.</a:t>
            </a:r>
          </a:p>
          <a:p/>
          <a:p>
            <a:r>
              <a:t>Transition: We can return to the main conclusion or discuss a specific model or policy.</a:t>
            </a:r>
          </a:p>
          <a:p/>
          <a:p>
            <a:r>
              <a:t>Sources: Group 5 repository, frozen protocols, row-level predictions and integration audit.</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1.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2.xml"/><Relationship Id="rId3"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3.xml"/><Relationship Id="rId3"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4.xml"/><Relationship Id="rId3"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5.xml"/><Relationship Id="rId3"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chart" Target="../charts/chart6.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Rectangle 1"/>
          <p:cNvSpPr/>
          <p:nvPr/>
        </p:nvSpPr>
        <p:spPr>
          <a:xfrm>
            <a:off x="0" y="0"/>
            <a:ext cx="12191695" cy="6858000"/>
          </a:xfrm>
          <a:prstGeom prst="rect">
            <a:avLst/>
          </a:prstGeom>
          <a:solidFill>
            <a:srgbClr val="FAFAF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3" name="Rectangle 2"/>
          <p:cNvSpPr/>
          <p:nvPr/>
        </p:nvSpPr>
        <p:spPr>
          <a:xfrm>
            <a:off x="7406640" y="0"/>
            <a:ext cx="4785055" cy="6858000"/>
          </a:xfrm>
          <a:prstGeom prst="rect">
            <a:avLst/>
          </a:prstGeom>
          <a:solidFill>
            <a:srgbClr val="183447"/>
          </a:solidFill>
          <a:ln>
            <a:noFill/>
          </a:ln>
          <a:effectLst/>
        </p:spPr>
        <p:style>
          <a:lnRef idx="1">
            <a:schemeClr val="accent1"/>
          </a:lnRef>
          <a:fillRef idx="3">
            <a:schemeClr val="accent1"/>
          </a:fillRef>
          <a:effectRef idx="0">
            <a:schemeClr val="accent1"/>
          </a:effectRef>
          <a:fontRef idx="minor">
            <a:schemeClr val="lt1"/>
          </a:fontRef>
        </p:style>
        <p:txBody>
          <a:bodyPr rtlCol="0" anchor="ctr"/>
          <a:lstStyle/>
          <a:p>
            <a:pPr algn="ctr"/>
          </a:p>
        </p:txBody>
      </p:sp>
      <p:sp>
        <p:nvSpPr>
          <p:cNvPr id="4" name="TextBox 3"/>
          <p:cNvSpPr txBox="1"/>
          <p:nvPr/>
        </p:nvSpPr>
        <p:spPr>
          <a:xfrm>
            <a:off x="640080" y="548640"/>
            <a:ext cx="6400800" cy="411480"/>
          </a:xfrm>
          <a:prstGeom prst="rect">
            <a:avLst/>
          </a:prstGeom>
          <a:noFill/>
        </p:spPr>
        <p:txBody>
          <a:bodyPr wrap="square" lIns="27432" rIns="27432" tIns="18288" bIns="18288">
            <a:spAutoFit/>
          </a:bodyPr>
          <a:lstStyle/>
          <a:p>
            <a:pPr>
              <a:spcAft>
                <a:spcPts val="700"/>
              </a:spcAft>
              <a:defRPr sz="1400" b="1">
                <a:solidFill>
                  <a:srgbClr val="187B78"/>
                </a:solidFill>
                <a:latin typeface="Arial"/>
              </a:defRPr>
            </a:pPr>
            <a:r>
              <a:t>NTU  /  SC6122  /  GROUP 5</a:t>
            </a:r>
          </a:p>
        </p:txBody>
      </p:sp>
      <p:sp>
        <p:nvSpPr>
          <p:cNvPr id="5" name="TextBox 4"/>
          <p:cNvSpPr txBox="1"/>
          <p:nvPr/>
        </p:nvSpPr>
        <p:spPr>
          <a:xfrm>
            <a:off x="640080" y="1572768"/>
            <a:ext cx="6400800" cy="1737360"/>
          </a:xfrm>
          <a:prstGeom prst="rect">
            <a:avLst/>
          </a:prstGeom>
          <a:noFill/>
        </p:spPr>
        <p:txBody>
          <a:bodyPr wrap="square" lIns="27432" rIns="27432" tIns="18288" bIns="18288">
            <a:spAutoFit/>
          </a:bodyPr>
          <a:lstStyle/>
          <a:p>
            <a:pPr>
              <a:spcAft>
                <a:spcPts val="700"/>
              </a:spcAft>
              <a:defRPr sz="4400" b="1">
                <a:solidFill>
                  <a:srgbClr val="183447"/>
                </a:solidFill>
                <a:latin typeface="Arial"/>
              </a:defRPr>
            </a:pPr>
            <a:r>
              <a:t>Credit Card</a:t>
            </a:r>
          </a:p>
          <a:p>
            <a:pPr>
              <a:spcAft>
                <a:spcPts val="700"/>
              </a:spcAft>
              <a:defRPr sz="4400" b="1">
                <a:solidFill>
                  <a:srgbClr val="183447"/>
                </a:solidFill>
                <a:latin typeface="Arial"/>
              </a:defRPr>
            </a:pPr>
            <a:r>
              <a:t>Default Prediction</a:t>
            </a:r>
          </a:p>
        </p:txBody>
      </p:sp>
      <p:cxnSp>
        <p:nvCxnSpPr>
          <p:cNvPr id="6" name="Connector 5"/>
          <p:cNvCxnSpPr/>
          <p:nvPr/>
        </p:nvCxnSpPr>
        <p:spPr>
          <a:xfrm>
            <a:off x="667512" y="3657600"/>
            <a:ext cx="1161288" cy="0"/>
          </a:xfrm>
          <a:prstGeom prst="line">
            <a:avLst/>
          </a:prstGeom>
          <a:ln w="25400">
            <a:solidFill>
              <a:srgbClr val="187B78"/>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40080" y="3931920"/>
            <a:ext cx="6035040" cy="1097280"/>
          </a:xfrm>
          <a:prstGeom prst="rect">
            <a:avLst/>
          </a:prstGeom>
          <a:noFill/>
        </p:spPr>
        <p:txBody>
          <a:bodyPr wrap="square" lIns="27432" rIns="27432" tIns="18288" bIns="18288">
            <a:spAutoFit/>
          </a:bodyPr>
          <a:lstStyle/>
          <a:p>
            <a:pPr>
              <a:spcAft>
                <a:spcPts val="700"/>
              </a:spcAft>
              <a:defRPr sz="2500" b="0">
                <a:solidFill>
                  <a:srgbClr val="526575"/>
                </a:solidFill>
                <a:latin typeface="Arial"/>
              </a:defRPr>
            </a:pPr>
            <a:r>
              <a:t>Risk, interpretation and decision costs</a:t>
            </a:r>
          </a:p>
        </p:txBody>
      </p:sp>
      <p:sp>
        <p:nvSpPr>
          <p:cNvPr id="8" name="TextBox 7"/>
          <p:cNvSpPr txBox="1"/>
          <p:nvPr/>
        </p:nvSpPr>
        <p:spPr>
          <a:xfrm>
            <a:off x="640080" y="5852160"/>
            <a:ext cx="6217920" cy="457200"/>
          </a:xfrm>
          <a:prstGeom prst="rect">
            <a:avLst/>
          </a:prstGeom>
          <a:noFill/>
        </p:spPr>
        <p:txBody>
          <a:bodyPr wrap="square" lIns="27432" rIns="27432" tIns="18288" bIns="18288">
            <a:spAutoFit/>
          </a:bodyPr>
          <a:lstStyle/>
          <a:p>
            <a:pPr>
              <a:spcAft>
                <a:spcPts val="700"/>
              </a:spcAft>
              <a:defRPr sz="1600" b="0">
                <a:solidFill>
                  <a:srgbClr val="526575"/>
                </a:solidFill>
                <a:latin typeface="Arial"/>
              </a:defRPr>
            </a:pPr>
            <a:r>
              <a:t>Emerging Topics in FinTech</a:t>
            </a:r>
          </a:p>
        </p:txBody>
      </p:sp>
      <p:sp>
        <p:nvSpPr>
          <p:cNvPr id="9" name="TextBox 8"/>
          <p:cNvSpPr txBox="1"/>
          <p:nvPr/>
        </p:nvSpPr>
        <p:spPr>
          <a:xfrm>
            <a:off x="7818120" y="594360"/>
            <a:ext cx="3840480" cy="457200"/>
          </a:xfrm>
          <a:prstGeom prst="rect">
            <a:avLst/>
          </a:prstGeom>
          <a:noFill/>
        </p:spPr>
        <p:txBody>
          <a:bodyPr wrap="square" lIns="27432" rIns="27432" tIns="18288" bIns="18288">
            <a:spAutoFit/>
          </a:bodyPr>
          <a:lstStyle/>
          <a:p>
            <a:pPr>
              <a:spcAft>
                <a:spcPts val="700"/>
              </a:spcAft>
              <a:defRPr sz="1300" b="1">
                <a:solidFill>
                  <a:srgbClr val="A6C8CB"/>
                </a:solidFill>
                <a:latin typeface="Arial"/>
              </a:defRPr>
            </a:pPr>
            <a:r>
              <a:t>THE TEAM</a:t>
            </a:r>
          </a:p>
        </p:txBody>
      </p:sp>
      <p:sp>
        <p:nvSpPr>
          <p:cNvPr id="10" name="TextBox 9"/>
          <p:cNvSpPr txBox="1"/>
          <p:nvPr/>
        </p:nvSpPr>
        <p:spPr>
          <a:xfrm>
            <a:off x="7818120" y="1417320"/>
            <a:ext cx="3794760" cy="365760"/>
          </a:xfrm>
          <a:prstGeom prst="rect">
            <a:avLst/>
          </a:prstGeom>
          <a:noFill/>
        </p:spPr>
        <p:txBody>
          <a:bodyPr wrap="square" lIns="27432" rIns="27432" tIns="18288" bIns="18288">
            <a:spAutoFit/>
          </a:bodyPr>
          <a:lstStyle/>
          <a:p>
            <a:pPr>
              <a:spcAft>
                <a:spcPts val="700"/>
              </a:spcAft>
              <a:defRPr sz="2300" b="1">
                <a:solidFill>
                  <a:srgbClr val="FFFFFF"/>
                </a:solidFill>
                <a:latin typeface="Arial"/>
              </a:defRPr>
            </a:pPr>
            <a:r>
              <a:t>Lei Peng</a:t>
            </a:r>
          </a:p>
        </p:txBody>
      </p:sp>
      <p:sp>
        <p:nvSpPr>
          <p:cNvPr id="11" name="TextBox 10"/>
          <p:cNvSpPr txBox="1"/>
          <p:nvPr/>
        </p:nvSpPr>
        <p:spPr>
          <a:xfrm>
            <a:off x="7818120" y="1828800"/>
            <a:ext cx="3794760" cy="365760"/>
          </a:xfrm>
          <a:prstGeom prst="rect">
            <a:avLst/>
          </a:prstGeom>
          <a:noFill/>
        </p:spPr>
        <p:txBody>
          <a:bodyPr wrap="square" lIns="27432" rIns="27432" tIns="18288" bIns="18288">
            <a:spAutoFit/>
          </a:bodyPr>
          <a:lstStyle/>
          <a:p>
            <a:pPr>
              <a:spcAft>
                <a:spcPts val="700"/>
              </a:spcAft>
              <a:defRPr sz="1400" b="0">
                <a:solidFill>
                  <a:srgbClr val="CBDADC"/>
                </a:solidFill>
                <a:latin typeface="Arial"/>
              </a:defRPr>
            </a:pPr>
            <a:r>
              <a:t>G2509090C  ·  Part 1</a:t>
            </a:r>
          </a:p>
        </p:txBody>
      </p:sp>
      <p:cxnSp>
        <p:nvCxnSpPr>
          <p:cNvPr id="12" name="Connector 11"/>
          <p:cNvCxnSpPr/>
          <p:nvPr/>
        </p:nvCxnSpPr>
        <p:spPr>
          <a:xfrm>
            <a:off x="7845552" y="2313432"/>
            <a:ext cx="3721608" cy="0"/>
          </a:xfrm>
          <a:prstGeom prst="line">
            <a:avLst/>
          </a:prstGeom>
          <a:ln w="8890">
            <a:solidFill>
              <a:srgbClr val="385365"/>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7818120" y="2551176"/>
            <a:ext cx="3794760" cy="365760"/>
          </a:xfrm>
          <a:prstGeom prst="rect">
            <a:avLst/>
          </a:prstGeom>
          <a:noFill/>
        </p:spPr>
        <p:txBody>
          <a:bodyPr wrap="square" lIns="27432" rIns="27432" tIns="18288" bIns="18288">
            <a:spAutoFit/>
          </a:bodyPr>
          <a:lstStyle/>
          <a:p>
            <a:pPr>
              <a:spcAft>
                <a:spcPts val="700"/>
              </a:spcAft>
              <a:defRPr sz="2300" b="1">
                <a:solidFill>
                  <a:srgbClr val="FFFFFF"/>
                </a:solidFill>
                <a:latin typeface="Arial"/>
              </a:defRPr>
            </a:pPr>
            <a:r>
              <a:t>Zhang Hanyu</a:t>
            </a:r>
          </a:p>
        </p:txBody>
      </p:sp>
      <p:sp>
        <p:nvSpPr>
          <p:cNvPr id="14" name="TextBox 13"/>
          <p:cNvSpPr txBox="1"/>
          <p:nvPr/>
        </p:nvSpPr>
        <p:spPr>
          <a:xfrm>
            <a:off x="7818120" y="2962656"/>
            <a:ext cx="3794760" cy="365760"/>
          </a:xfrm>
          <a:prstGeom prst="rect">
            <a:avLst/>
          </a:prstGeom>
          <a:noFill/>
        </p:spPr>
        <p:txBody>
          <a:bodyPr wrap="square" lIns="27432" rIns="27432" tIns="18288" bIns="18288">
            <a:spAutoFit/>
          </a:bodyPr>
          <a:lstStyle/>
          <a:p>
            <a:pPr>
              <a:spcAft>
                <a:spcPts val="700"/>
              </a:spcAft>
              <a:defRPr sz="1400" b="0">
                <a:solidFill>
                  <a:srgbClr val="CBDADC"/>
                </a:solidFill>
                <a:latin typeface="Arial"/>
              </a:defRPr>
            </a:pPr>
            <a:r>
              <a:t>G2509091L  ·  Part 2</a:t>
            </a:r>
          </a:p>
        </p:txBody>
      </p:sp>
      <p:cxnSp>
        <p:nvCxnSpPr>
          <p:cNvPr id="15" name="Connector 14"/>
          <p:cNvCxnSpPr/>
          <p:nvPr/>
        </p:nvCxnSpPr>
        <p:spPr>
          <a:xfrm>
            <a:off x="7845552" y="3447288"/>
            <a:ext cx="3721608" cy="0"/>
          </a:xfrm>
          <a:prstGeom prst="line">
            <a:avLst/>
          </a:prstGeom>
          <a:ln w="8890">
            <a:solidFill>
              <a:srgbClr val="385365"/>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7818120" y="3685032"/>
            <a:ext cx="3794760" cy="365760"/>
          </a:xfrm>
          <a:prstGeom prst="rect">
            <a:avLst/>
          </a:prstGeom>
          <a:noFill/>
        </p:spPr>
        <p:txBody>
          <a:bodyPr wrap="square" lIns="27432" rIns="27432" tIns="18288" bIns="18288">
            <a:spAutoFit/>
          </a:bodyPr>
          <a:lstStyle/>
          <a:p>
            <a:pPr>
              <a:spcAft>
                <a:spcPts val="700"/>
              </a:spcAft>
              <a:defRPr sz="2300" b="1">
                <a:solidFill>
                  <a:srgbClr val="FFFFFF"/>
                </a:solidFill>
                <a:latin typeface="Arial"/>
              </a:defRPr>
            </a:pPr>
            <a:r>
              <a:t>Zhou Xinzhe</a:t>
            </a:r>
          </a:p>
        </p:txBody>
      </p:sp>
      <p:sp>
        <p:nvSpPr>
          <p:cNvPr id="17" name="TextBox 16"/>
          <p:cNvSpPr txBox="1"/>
          <p:nvPr/>
        </p:nvSpPr>
        <p:spPr>
          <a:xfrm>
            <a:off x="7818120" y="4096512"/>
            <a:ext cx="3794760" cy="365760"/>
          </a:xfrm>
          <a:prstGeom prst="rect">
            <a:avLst/>
          </a:prstGeom>
          <a:noFill/>
        </p:spPr>
        <p:txBody>
          <a:bodyPr wrap="square" lIns="27432" rIns="27432" tIns="18288" bIns="18288">
            <a:spAutoFit/>
          </a:bodyPr>
          <a:lstStyle/>
          <a:p>
            <a:pPr>
              <a:spcAft>
                <a:spcPts val="700"/>
              </a:spcAft>
              <a:defRPr sz="1400" b="0">
                <a:solidFill>
                  <a:srgbClr val="CBDADC"/>
                </a:solidFill>
                <a:latin typeface="Arial"/>
              </a:defRPr>
            </a:pPr>
            <a:r>
              <a:t>G2509033F  ·  Part 3</a:t>
            </a:r>
          </a:p>
        </p:txBody>
      </p:sp>
      <p:cxnSp>
        <p:nvCxnSpPr>
          <p:cNvPr id="18" name="Connector 17"/>
          <p:cNvCxnSpPr/>
          <p:nvPr/>
        </p:nvCxnSpPr>
        <p:spPr>
          <a:xfrm>
            <a:off x="7845552" y="4581144"/>
            <a:ext cx="3721608" cy="0"/>
          </a:xfrm>
          <a:prstGeom prst="line">
            <a:avLst/>
          </a:prstGeom>
          <a:ln w="8890">
            <a:solidFill>
              <a:srgbClr val="385365"/>
            </a:solidFill>
          </a:ln>
          <a:effectLst/>
        </p:spPr>
        <p:style>
          <a:lnRef idx="2">
            <a:schemeClr val="accent1"/>
          </a:lnRef>
          <a:fillRef idx="0">
            <a:schemeClr val="accent1"/>
          </a:fillRef>
          <a:effectRef idx="0">
            <a:schemeClr val="accent1"/>
          </a:effectRef>
          <a:fontRef idx="minor">
            <a:schemeClr val="tx1"/>
          </a:fontRef>
        </p:style>
      </p:cxnSp>
      <p:sp>
        <p:nvSpPr>
          <p:cNvPr id="19" name="TextBox 18"/>
          <p:cNvSpPr txBox="1"/>
          <p:nvPr/>
        </p:nvSpPr>
        <p:spPr>
          <a:xfrm>
            <a:off x="7818120" y="4818888"/>
            <a:ext cx="3794760" cy="365760"/>
          </a:xfrm>
          <a:prstGeom prst="rect">
            <a:avLst/>
          </a:prstGeom>
          <a:noFill/>
        </p:spPr>
        <p:txBody>
          <a:bodyPr wrap="square" lIns="27432" rIns="27432" tIns="18288" bIns="18288">
            <a:spAutoFit/>
          </a:bodyPr>
          <a:lstStyle/>
          <a:p>
            <a:pPr>
              <a:spcAft>
                <a:spcPts val="700"/>
              </a:spcAft>
              <a:defRPr sz="2300" b="1">
                <a:solidFill>
                  <a:srgbClr val="FFFFFF"/>
                </a:solidFill>
                <a:latin typeface="Arial"/>
              </a:defRPr>
            </a:pPr>
            <a:r>
              <a:t>Xu Yiqun</a:t>
            </a:r>
          </a:p>
        </p:txBody>
      </p:sp>
      <p:sp>
        <p:nvSpPr>
          <p:cNvPr id="20" name="TextBox 19"/>
          <p:cNvSpPr txBox="1"/>
          <p:nvPr/>
        </p:nvSpPr>
        <p:spPr>
          <a:xfrm>
            <a:off x="7818120" y="5230368"/>
            <a:ext cx="3794760" cy="365760"/>
          </a:xfrm>
          <a:prstGeom prst="rect">
            <a:avLst/>
          </a:prstGeom>
          <a:noFill/>
        </p:spPr>
        <p:txBody>
          <a:bodyPr wrap="square" lIns="27432" rIns="27432" tIns="18288" bIns="18288">
            <a:spAutoFit/>
          </a:bodyPr>
          <a:lstStyle/>
          <a:p>
            <a:pPr>
              <a:spcAft>
                <a:spcPts val="700"/>
              </a:spcAft>
              <a:defRPr sz="1400" b="0">
                <a:solidFill>
                  <a:srgbClr val="CBDADC"/>
                </a:solidFill>
                <a:latin typeface="Arial"/>
              </a:defRPr>
            </a:pPr>
            <a:r>
              <a:t>G2509092H  ·  Part 4</a:t>
            </a:r>
          </a:p>
        </p:txBody>
      </p:sp>
      <p:sp>
        <p:nvSpPr>
          <p:cNvPr id="21" name="TextBox 20"/>
          <p:cNvSpPr txBox="1"/>
          <p:nvPr/>
        </p:nvSpPr>
        <p:spPr>
          <a:xfrm>
            <a:off x="7818120" y="6172200"/>
            <a:ext cx="3749039" cy="320040"/>
          </a:xfrm>
          <a:prstGeom prst="rect">
            <a:avLst/>
          </a:prstGeom>
          <a:noFill/>
        </p:spPr>
        <p:txBody>
          <a:bodyPr wrap="square" lIns="27432" rIns="27432" tIns="18288" bIns="18288">
            <a:spAutoFit/>
          </a:bodyPr>
          <a:lstStyle/>
          <a:p>
            <a:pPr>
              <a:spcAft>
                <a:spcPts val="700"/>
              </a:spcAft>
              <a:defRPr sz="1300" b="0">
                <a:solidFill>
                  <a:srgbClr val="CBDADC"/>
                </a:solidFill>
                <a:latin typeface="Arial"/>
              </a:defRPr>
            </a:pPr>
            <a:r>
              <a:t>Contribution: 25% each</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lIns="27432" rIns="27432" tIns="18288" bIns="18288">
            <a:spAutoFit/>
          </a:bodyPr>
          <a:lstStyle/>
          <a:p>
            <a:pPr>
              <a:spcAft>
                <a:spcPts val="700"/>
              </a:spcAft>
              <a:defRPr sz="1300" b="1">
                <a:solidFill>
                  <a:srgbClr val="187B78"/>
                </a:solidFill>
                <a:latin typeface="Arial"/>
              </a:defRPr>
            </a:pPr>
            <a:r>
              <a:t>PART 1  /  Lei Peng  /  Data and logistic regression</a:t>
            </a:r>
          </a:p>
        </p:txBody>
      </p:sp>
      <p:sp>
        <p:nvSpPr>
          <p:cNvPr id="3" name="TextBox 2"/>
          <p:cNvSpPr txBox="1"/>
          <p:nvPr/>
        </p:nvSpPr>
        <p:spPr>
          <a:xfrm>
            <a:off x="640080" y="914400"/>
            <a:ext cx="10972800" cy="786384"/>
          </a:xfrm>
          <a:prstGeom prst="rect">
            <a:avLst/>
          </a:prstGeom>
          <a:noFill/>
        </p:spPr>
        <p:txBody>
          <a:bodyPr wrap="square" lIns="27432" rIns="27432" tIns="18288" bIns="18288">
            <a:spAutoFit/>
          </a:bodyPr>
          <a:lstStyle/>
          <a:p>
            <a:pPr>
              <a:spcAft>
                <a:spcPts val="700"/>
              </a:spcAft>
              <a:defRPr sz="3100" b="1">
                <a:solidFill>
                  <a:srgbClr val="183447"/>
                </a:solidFill>
                <a:latin typeface="Arial"/>
              </a:defRPr>
            </a:pPr>
            <a:r>
              <a:t>How we split and use the data</a:t>
            </a:r>
          </a:p>
        </p:txBody>
      </p:sp>
      <p:cxnSp>
        <p:nvCxnSpPr>
          <p:cNvPr id="4" name="Connector 3"/>
          <p:cNvCxnSpPr/>
          <p:nvPr/>
        </p:nvCxnSpPr>
        <p:spPr>
          <a:xfrm>
            <a:off x="667512" y="1746504"/>
            <a:ext cx="10835640"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58368" y="2167128"/>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30,000 clients • 23 predictors • 22.12% default</a:t>
            </a:r>
          </a:p>
        </p:txBody>
      </p:sp>
      <p:cxnSp>
        <p:nvCxnSpPr>
          <p:cNvPr id="6" name="Connector 5"/>
          <p:cNvCxnSpPr/>
          <p:nvPr/>
        </p:nvCxnSpPr>
        <p:spPr>
          <a:xfrm>
            <a:off x="685800" y="3154680"/>
            <a:ext cx="4745736"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58368" y="3282696"/>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Categories learned within each training fold</a:t>
            </a:r>
          </a:p>
        </p:txBody>
      </p:sp>
      <p:cxnSp>
        <p:nvCxnSpPr>
          <p:cNvPr id="8" name="Connector 7"/>
          <p:cNvCxnSpPr/>
          <p:nvPr/>
        </p:nvCxnSpPr>
        <p:spPr>
          <a:xfrm>
            <a:off x="685800" y="4270248"/>
            <a:ext cx="4745736"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58368" y="4398264"/>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Validation selects policies; historical test reports outcomes</a:t>
            </a:r>
          </a:p>
        </p:txBody>
      </p:sp>
      <p:cxnSp>
        <p:nvCxnSpPr>
          <p:cNvPr id="10" name="Connector 9"/>
          <p:cNvCxnSpPr/>
          <p:nvPr/>
        </p:nvCxnSpPr>
        <p:spPr>
          <a:xfrm>
            <a:off x="5870448" y="2194560"/>
            <a:ext cx="0" cy="342900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6263640" y="2103120"/>
            <a:ext cx="4937760" cy="411480"/>
          </a:xfrm>
          <a:prstGeom prst="rect">
            <a:avLst/>
          </a:prstGeom>
          <a:noFill/>
        </p:spPr>
        <p:txBody>
          <a:bodyPr wrap="square" lIns="27432" rIns="27432" tIns="18288" bIns="18288">
            <a:spAutoFit/>
          </a:bodyPr>
          <a:lstStyle/>
          <a:p>
            <a:pPr>
              <a:spcAft>
                <a:spcPts val="700"/>
              </a:spcAft>
              <a:defRPr sz="2100" b="1">
                <a:solidFill>
                  <a:srgbClr val="187B78"/>
                </a:solidFill>
                <a:latin typeface="Arial"/>
              </a:defRPr>
            </a:pPr>
            <a:r>
              <a:t>Partition and purpose</a:t>
            </a:r>
          </a:p>
        </p:txBody>
      </p:sp>
      <p:sp>
        <p:nvSpPr>
          <p:cNvPr id="12" name="TextBox 11"/>
          <p:cNvSpPr txBox="1"/>
          <p:nvPr/>
        </p:nvSpPr>
        <p:spPr>
          <a:xfrm>
            <a:off x="6263640" y="2788920"/>
            <a:ext cx="3291840" cy="365760"/>
          </a:xfrm>
          <a:prstGeom prst="rect">
            <a:avLst/>
          </a:prstGeom>
          <a:noFill/>
        </p:spPr>
        <p:txBody>
          <a:bodyPr wrap="square" lIns="27432" rIns="27432" tIns="18288" bIns="18288">
            <a:spAutoFit/>
          </a:bodyPr>
          <a:lstStyle/>
          <a:p>
            <a:pPr>
              <a:spcAft>
                <a:spcPts val="700"/>
              </a:spcAft>
              <a:defRPr sz="2100" b="1">
                <a:solidFill>
                  <a:srgbClr val="183447"/>
                </a:solidFill>
                <a:latin typeface="Arial"/>
              </a:defRPr>
            </a:pPr>
            <a:r>
              <a:t>Fitting</a:t>
            </a:r>
          </a:p>
        </p:txBody>
      </p:sp>
      <p:sp>
        <p:nvSpPr>
          <p:cNvPr id="13" name="TextBox 12"/>
          <p:cNvSpPr txBox="1"/>
          <p:nvPr/>
        </p:nvSpPr>
        <p:spPr>
          <a:xfrm>
            <a:off x="9765792" y="2788920"/>
            <a:ext cx="1554480" cy="365760"/>
          </a:xfrm>
          <a:prstGeom prst="rect">
            <a:avLst/>
          </a:prstGeom>
          <a:noFill/>
        </p:spPr>
        <p:txBody>
          <a:bodyPr wrap="square" lIns="27432" rIns="27432" tIns="18288" bIns="18288">
            <a:spAutoFit/>
          </a:bodyPr>
          <a:lstStyle/>
          <a:p>
            <a:pPr>
              <a:spcAft>
                <a:spcPts val="700"/>
              </a:spcAft>
              <a:defRPr sz="2100" b="0">
                <a:solidFill>
                  <a:srgbClr val="187B78"/>
                </a:solidFill>
                <a:latin typeface="Arial"/>
              </a:defRPr>
            </a:pPr>
            <a:r>
              <a:t>18,000</a:t>
            </a:r>
          </a:p>
        </p:txBody>
      </p:sp>
      <p:sp>
        <p:nvSpPr>
          <p:cNvPr id="14" name="TextBox 13"/>
          <p:cNvSpPr txBox="1"/>
          <p:nvPr/>
        </p:nvSpPr>
        <p:spPr>
          <a:xfrm>
            <a:off x="6263640" y="3200400"/>
            <a:ext cx="4846320" cy="320040"/>
          </a:xfrm>
          <a:prstGeom prst="rect">
            <a:avLst/>
          </a:prstGeom>
          <a:noFill/>
        </p:spPr>
        <p:txBody>
          <a:bodyPr wrap="square" lIns="27432" rIns="27432" tIns="18288" bIns="18288">
            <a:spAutoFit/>
          </a:bodyPr>
          <a:lstStyle/>
          <a:p>
            <a:pPr>
              <a:spcAft>
                <a:spcPts val="700"/>
              </a:spcAft>
              <a:defRPr sz="1600" b="0">
                <a:solidFill>
                  <a:srgbClr val="526575"/>
                </a:solidFill>
                <a:latin typeface="Arial"/>
              </a:defRPr>
            </a:pPr>
            <a:r>
              <a:t>Five-fold CV and final fitting</a:t>
            </a:r>
          </a:p>
        </p:txBody>
      </p:sp>
      <p:cxnSp>
        <p:nvCxnSpPr>
          <p:cNvPr id="15" name="Connector 14"/>
          <p:cNvCxnSpPr/>
          <p:nvPr/>
        </p:nvCxnSpPr>
        <p:spPr>
          <a:xfrm>
            <a:off x="6291072" y="3611879"/>
            <a:ext cx="5138928"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263640" y="3749039"/>
            <a:ext cx="3291840" cy="365760"/>
          </a:xfrm>
          <a:prstGeom prst="rect">
            <a:avLst/>
          </a:prstGeom>
          <a:noFill/>
        </p:spPr>
        <p:txBody>
          <a:bodyPr wrap="square" lIns="27432" rIns="27432" tIns="18288" bIns="18288">
            <a:spAutoFit/>
          </a:bodyPr>
          <a:lstStyle/>
          <a:p>
            <a:pPr>
              <a:spcAft>
                <a:spcPts val="700"/>
              </a:spcAft>
              <a:defRPr sz="2100" b="1">
                <a:solidFill>
                  <a:srgbClr val="183447"/>
                </a:solidFill>
                <a:latin typeface="Arial"/>
              </a:defRPr>
            </a:pPr>
            <a:r>
              <a:t>Validation</a:t>
            </a:r>
          </a:p>
        </p:txBody>
      </p:sp>
      <p:sp>
        <p:nvSpPr>
          <p:cNvPr id="17" name="TextBox 16"/>
          <p:cNvSpPr txBox="1"/>
          <p:nvPr/>
        </p:nvSpPr>
        <p:spPr>
          <a:xfrm>
            <a:off x="9765792" y="3749039"/>
            <a:ext cx="1554480" cy="365760"/>
          </a:xfrm>
          <a:prstGeom prst="rect">
            <a:avLst/>
          </a:prstGeom>
          <a:noFill/>
        </p:spPr>
        <p:txBody>
          <a:bodyPr wrap="square" lIns="27432" rIns="27432" tIns="18288" bIns="18288">
            <a:spAutoFit/>
          </a:bodyPr>
          <a:lstStyle/>
          <a:p>
            <a:pPr>
              <a:spcAft>
                <a:spcPts val="700"/>
              </a:spcAft>
              <a:defRPr sz="2100" b="0">
                <a:solidFill>
                  <a:srgbClr val="187B78"/>
                </a:solidFill>
                <a:latin typeface="Arial"/>
              </a:defRPr>
            </a:pPr>
            <a:r>
              <a:t>6,000</a:t>
            </a:r>
          </a:p>
        </p:txBody>
      </p:sp>
      <p:sp>
        <p:nvSpPr>
          <p:cNvPr id="18" name="TextBox 17"/>
          <p:cNvSpPr txBox="1"/>
          <p:nvPr/>
        </p:nvSpPr>
        <p:spPr>
          <a:xfrm>
            <a:off x="6263640" y="4160520"/>
            <a:ext cx="4846320" cy="320040"/>
          </a:xfrm>
          <a:prstGeom prst="rect">
            <a:avLst/>
          </a:prstGeom>
          <a:noFill/>
        </p:spPr>
        <p:txBody>
          <a:bodyPr wrap="square" lIns="27432" rIns="27432" tIns="18288" bIns="18288">
            <a:spAutoFit/>
          </a:bodyPr>
          <a:lstStyle/>
          <a:p>
            <a:pPr>
              <a:spcAft>
                <a:spcPts val="700"/>
              </a:spcAft>
              <a:defRPr sz="1600" b="0">
                <a:solidFill>
                  <a:srgbClr val="526575"/>
                </a:solidFill>
                <a:latin typeface="Arial"/>
              </a:defRPr>
            </a:pPr>
            <a:r>
              <a:t>Select decision thresholds</a:t>
            </a:r>
          </a:p>
        </p:txBody>
      </p:sp>
      <p:cxnSp>
        <p:nvCxnSpPr>
          <p:cNvPr id="19" name="Connector 18"/>
          <p:cNvCxnSpPr/>
          <p:nvPr/>
        </p:nvCxnSpPr>
        <p:spPr>
          <a:xfrm>
            <a:off x="6291072" y="4572000"/>
            <a:ext cx="5138928"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6263640" y="4709160"/>
            <a:ext cx="3291840" cy="365760"/>
          </a:xfrm>
          <a:prstGeom prst="rect">
            <a:avLst/>
          </a:prstGeom>
          <a:noFill/>
        </p:spPr>
        <p:txBody>
          <a:bodyPr wrap="square" lIns="27432" rIns="27432" tIns="18288" bIns="18288">
            <a:spAutoFit/>
          </a:bodyPr>
          <a:lstStyle/>
          <a:p>
            <a:pPr>
              <a:spcAft>
                <a:spcPts val="700"/>
              </a:spcAft>
              <a:defRPr sz="2100" b="1">
                <a:solidFill>
                  <a:srgbClr val="183447"/>
                </a:solidFill>
                <a:latin typeface="Arial"/>
              </a:defRPr>
            </a:pPr>
            <a:r>
              <a:t>Test</a:t>
            </a:r>
          </a:p>
        </p:txBody>
      </p:sp>
      <p:sp>
        <p:nvSpPr>
          <p:cNvPr id="21" name="TextBox 20"/>
          <p:cNvSpPr txBox="1"/>
          <p:nvPr/>
        </p:nvSpPr>
        <p:spPr>
          <a:xfrm>
            <a:off x="9765792" y="4709160"/>
            <a:ext cx="1554480" cy="365760"/>
          </a:xfrm>
          <a:prstGeom prst="rect">
            <a:avLst/>
          </a:prstGeom>
          <a:noFill/>
        </p:spPr>
        <p:txBody>
          <a:bodyPr wrap="square" lIns="27432" rIns="27432" tIns="18288" bIns="18288">
            <a:spAutoFit/>
          </a:bodyPr>
          <a:lstStyle/>
          <a:p>
            <a:pPr>
              <a:spcAft>
                <a:spcPts val="700"/>
              </a:spcAft>
              <a:defRPr sz="2100" b="0">
                <a:solidFill>
                  <a:srgbClr val="187B78"/>
                </a:solidFill>
                <a:latin typeface="Arial"/>
              </a:defRPr>
            </a:pPr>
            <a:r>
              <a:t>6,000</a:t>
            </a:r>
          </a:p>
        </p:txBody>
      </p:sp>
      <p:sp>
        <p:nvSpPr>
          <p:cNvPr id="22" name="TextBox 21"/>
          <p:cNvSpPr txBox="1"/>
          <p:nvPr/>
        </p:nvSpPr>
        <p:spPr>
          <a:xfrm>
            <a:off x="6263640" y="5120640"/>
            <a:ext cx="4846320" cy="320040"/>
          </a:xfrm>
          <a:prstGeom prst="rect">
            <a:avLst/>
          </a:prstGeom>
          <a:noFill/>
        </p:spPr>
        <p:txBody>
          <a:bodyPr wrap="square" lIns="27432" rIns="27432" tIns="18288" bIns="18288">
            <a:spAutoFit/>
          </a:bodyPr>
          <a:lstStyle/>
          <a:p>
            <a:pPr>
              <a:spcAft>
                <a:spcPts val="700"/>
              </a:spcAft>
              <a:defRPr sz="1600" b="0">
                <a:solidFill>
                  <a:srgbClr val="526575"/>
                </a:solidFill>
                <a:latin typeface="Arial"/>
              </a:defRPr>
            </a:pPr>
            <a:r>
              <a:t>Evaluate frozen decisions</a:t>
            </a:r>
          </a:p>
        </p:txBody>
      </p:sp>
      <p:cxnSp>
        <p:nvCxnSpPr>
          <p:cNvPr id="23" name="Connector 22"/>
          <p:cNvCxnSpPr/>
          <p:nvPr/>
        </p:nvCxnSpPr>
        <p:spPr>
          <a:xfrm>
            <a:off x="6291072" y="5532120"/>
            <a:ext cx="5138928"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24" name="TextBox 23"/>
          <p:cNvSpPr txBox="1"/>
          <p:nvPr/>
        </p:nvSpPr>
        <p:spPr>
          <a:xfrm>
            <a:off x="658368" y="6071616"/>
            <a:ext cx="10652760" cy="347472"/>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Source: data/splits; protocol_frozen.json; results/final/audit.json</a:t>
            </a:r>
          </a:p>
        </p:txBody>
      </p:sp>
      <p:cxnSp>
        <p:nvCxnSpPr>
          <p:cNvPr id="25" name="Connector 24"/>
          <p:cNvCxnSpPr/>
          <p:nvPr/>
        </p:nvCxnSpPr>
        <p:spPr>
          <a:xfrm>
            <a:off x="667512" y="6483096"/>
            <a:ext cx="10844784"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26" name="TextBox 25"/>
          <p:cNvSpPr txBox="1"/>
          <p:nvPr/>
        </p:nvSpPr>
        <p:spPr>
          <a:xfrm>
            <a:off x="658368" y="6565392"/>
            <a:ext cx="9966960" cy="246888"/>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SC6122  ·  GROUP 5</a:t>
            </a:r>
          </a:p>
        </p:txBody>
      </p:sp>
      <p:sp>
        <p:nvSpPr>
          <p:cNvPr id="27" name="TextBox 26"/>
          <p:cNvSpPr txBox="1"/>
          <p:nvPr/>
        </p:nvSpPr>
        <p:spPr>
          <a:xfrm>
            <a:off x="11091672" y="6519672"/>
            <a:ext cx="457200" cy="292608"/>
          </a:xfrm>
          <a:prstGeom prst="rect">
            <a:avLst/>
          </a:prstGeom>
          <a:noFill/>
        </p:spPr>
        <p:txBody>
          <a:bodyPr wrap="square" lIns="27432" rIns="27432" tIns="18288" bIns="18288">
            <a:spAutoFit/>
          </a:bodyPr>
          <a:lstStyle/>
          <a:p>
            <a:pPr>
              <a:spcAft>
                <a:spcPts val="700"/>
              </a:spcAft>
              <a:defRPr sz="1200" b="1">
                <a:solidFill>
                  <a:srgbClr val="187B78"/>
                </a:solidFill>
                <a:latin typeface="Arial"/>
              </a:defRPr>
            </a:pPr>
            <a:r>
              <a:t>02</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lIns="27432" rIns="27432" tIns="18288" bIns="18288">
            <a:spAutoFit/>
          </a:bodyPr>
          <a:lstStyle/>
          <a:p>
            <a:pPr>
              <a:spcAft>
                <a:spcPts val="700"/>
              </a:spcAft>
              <a:defRPr sz="1300" b="1">
                <a:solidFill>
                  <a:srgbClr val="187B78"/>
                </a:solidFill>
                <a:latin typeface="Arial"/>
              </a:defRPr>
            </a:pPr>
            <a:r>
              <a:t>PART 1  /  Lei Peng  /  Data and logistic regression</a:t>
            </a:r>
          </a:p>
        </p:txBody>
      </p:sp>
      <p:sp>
        <p:nvSpPr>
          <p:cNvPr id="3" name="TextBox 2"/>
          <p:cNvSpPr txBox="1"/>
          <p:nvPr/>
        </p:nvSpPr>
        <p:spPr>
          <a:xfrm>
            <a:off x="640080" y="914400"/>
            <a:ext cx="10972800" cy="786384"/>
          </a:xfrm>
          <a:prstGeom prst="rect">
            <a:avLst/>
          </a:prstGeom>
          <a:noFill/>
        </p:spPr>
        <p:txBody>
          <a:bodyPr wrap="square" lIns="27432" rIns="27432" tIns="18288" bIns="18288">
            <a:spAutoFit/>
          </a:bodyPr>
          <a:lstStyle/>
          <a:p>
            <a:pPr>
              <a:spcAft>
                <a:spcPts val="700"/>
              </a:spcAft>
              <a:defRPr sz="3100" b="1">
                <a:solidFill>
                  <a:srgbClr val="183447"/>
                </a:solidFill>
                <a:latin typeface="Arial"/>
              </a:defRPr>
            </a:pPr>
            <a:r>
              <a:t>Logistic regression: the linear reference</a:t>
            </a:r>
          </a:p>
        </p:txBody>
      </p:sp>
      <p:cxnSp>
        <p:nvCxnSpPr>
          <p:cNvPr id="4" name="Connector 3"/>
          <p:cNvCxnSpPr/>
          <p:nvPr/>
        </p:nvCxnSpPr>
        <p:spPr>
          <a:xfrm>
            <a:off x="667512" y="1746504"/>
            <a:ext cx="10835640"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58368" y="2167128"/>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L2 model + fold-trained scaling + one-hot categories</a:t>
            </a:r>
          </a:p>
        </p:txBody>
      </p:sp>
      <p:cxnSp>
        <p:nvCxnSpPr>
          <p:cNvPr id="6" name="Connector 5"/>
          <p:cNvCxnSpPr/>
          <p:nvPr/>
        </p:nvCxnSpPr>
        <p:spPr>
          <a:xfrm>
            <a:off x="685800" y="3154680"/>
            <a:ext cx="4745736"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58368" y="3282696"/>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12 declared settings; CV selected C=0.1, unweighted</a:t>
            </a:r>
          </a:p>
        </p:txBody>
      </p:sp>
      <p:cxnSp>
        <p:nvCxnSpPr>
          <p:cNvPr id="8" name="Connector 7"/>
          <p:cNvCxnSpPr/>
          <p:nvPr/>
        </p:nvCxnSpPr>
        <p:spPr>
          <a:xfrm>
            <a:off x="685800" y="4270248"/>
            <a:ext cx="4745736"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58368" y="4398264"/>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Original LR notebook was empty; original process unverified</a:t>
            </a:r>
          </a:p>
        </p:txBody>
      </p:sp>
      <p:cxnSp>
        <p:nvCxnSpPr>
          <p:cNvPr id="10" name="Connector 9"/>
          <p:cNvCxnSpPr/>
          <p:nvPr/>
        </p:nvCxnSpPr>
        <p:spPr>
          <a:xfrm>
            <a:off x="5870448" y="2194560"/>
            <a:ext cx="0" cy="342900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6291072" y="2331720"/>
            <a:ext cx="5029200" cy="1143000"/>
          </a:xfrm>
          <a:prstGeom prst="rect">
            <a:avLst/>
          </a:prstGeom>
          <a:noFill/>
        </p:spPr>
        <p:txBody>
          <a:bodyPr wrap="square" lIns="27432" rIns="27432" tIns="18288" bIns="18288">
            <a:spAutoFit/>
          </a:bodyPr>
          <a:lstStyle/>
          <a:p>
            <a:pPr>
              <a:spcAft>
                <a:spcPts val="700"/>
              </a:spcAft>
              <a:defRPr sz="3100" b="1">
                <a:solidFill>
                  <a:srgbClr val="187B78"/>
                </a:solidFill>
                <a:latin typeface="Arial"/>
              </a:defRPr>
            </a:pPr>
            <a:r>
              <a:t>AP 0.4967</a:t>
            </a:r>
          </a:p>
        </p:txBody>
      </p:sp>
      <p:cxnSp>
        <p:nvCxnSpPr>
          <p:cNvPr id="12" name="Connector 11"/>
          <p:cNvCxnSpPr/>
          <p:nvPr/>
        </p:nvCxnSpPr>
        <p:spPr>
          <a:xfrm>
            <a:off x="6327648" y="3685032"/>
            <a:ext cx="1078992" cy="0"/>
          </a:xfrm>
          <a:prstGeom prst="line">
            <a:avLst/>
          </a:prstGeom>
          <a:ln w="25400">
            <a:solidFill>
              <a:srgbClr val="187B78"/>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6291072" y="4023360"/>
            <a:ext cx="5074920" cy="1600200"/>
          </a:xfrm>
          <a:prstGeom prst="rect">
            <a:avLst/>
          </a:prstGeom>
          <a:noFill/>
        </p:spPr>
        <p:txBody>
          <a:bodyPr wrap="square" lIns="27432" rIns="27432" tIns="18288" bIns="18288">
            <a:spAutoFit/>
          </a:bodyPr>
          <a:lstStyle/>
          <a:p>
            <a:pPr>
              <a:spcAft>
                <a:spcPts val="700"/>
              </a:spcAft>
              <a:defRPr sz="2100" b="0">
                <a:solidFill>
                  <a:srgbClr val="526575"/>
                </a:solidFill>
                <a:latin typeface="Arial"/>
              </a:defRPr>
            </a:pPr>
            <a:r>
              <a:t>Baseline AP 0.4970</a:t>
            </a:r>
          </a:p>
          <a:p>
            <a:pPr>
              <a:spcAft>
                <a:spcPts val="700"/>
              </a:spcAft>
              <a:defRPr sz="2100" b="0">
                <a:solidFill>
                  <a:srgbClr val="526575"/>
                </a:solidFill>
                <a:latin typeface="Arial"/>
              </a:defRPr>
            </a:pPr>
            <a:r>
              <a:t>No ranking improvement from selection</a:t>
            </a:r>
          </a:p>
          <a:p>
            <a:pPr>
              <a:spcAft>
                <a:spcPts val="700"/>
              </a:spcAft>
              <a:defRPr sz="2100" b="0">
                <a:solidFill>
                  <a:srgbClr val="526575"/>
                </a:solidFill>
                <a:latin typeface="Arial"/>
              </a:defRPr>
            </a:pPr>
            <a:r>
              <a:t>LR* is a separate post-hoc supplement</a:t>
            </a:r>
          </a:p>
        </p:txBody>
      </p:sp>
      <p:sp>
        <p:nvSpPr>
          <p:cNvPr id="14" name="TextBox 13"/>
          <p:cNvSpPr txBox="1"/>
          <p:nvPr/>
        </p:nvSpPr>
        <p:spPr>
          <a:xfrm>
            <a:off x="658368" y="6071616"/>
            <a:ext cx="10652760" cy="347472"/>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Source: results/final/model_comparison.csv</a:t>
            </a:r>
          </a:p>
        </p:txBody>
      </p:sp>
      <p:cxnSp>
        <p:nvCxnSpPr>
          <p:cNvPr id="15" name="Connector 14"/>
          <p:cNvCxnSpPr/>
          <p:nvPr/>
        </p:nvCxnSpPr>
        <p:spPr>
          <a:xfrm>
            <a:off x="667512" y="6483096"/>
            <a:ext cx="10844784"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58368" y="6565392"/>
            <a:ext cx="9966960" cy="246888"/>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SC6122  ·  GROUP 5</a:t>
            </a:r>
          </a:p>
        </p:txBody>
      </p:sp>
      <p:sp>
        <p:nvSpPr>
          <p:cNvPr id="17" name="TextBox 16"/>
          <p:cNvSpPr txBox="1"/>
          <p:nvPr/>
        </p:nvSpPr>
        <p:spPr>
          <a:xfrm>
            <a:off x="11091672" y="6519672"/>
            <a:ext cx="457200" cy="292608"/>
          </a:xfrm>
          <a:prstGeom prst="rect">
            <a:avLst/>
          </a:prstGeom>
          <a:noFill/>
        </p:spPr>
        <p:txBody>
          <a:bodyPr wrap="square" lIns="27432" rIns="27432" tIns="18288" bIns="18288">
            <a:spAutoFit/>
          </a:bodyPr>
          <a:lstStyle/>
          <a:p>
            <a:pPr>
              <a:spcAft>
                <a:spcPts val="700"/>
              </a:spcAft>
              <a:defRPr sz="1200" b="1">
                <a:solidFill>
                  <a:srgbClr val="187B78"/>
                </a:solidFill>
                <a:latin typeface="Arial"/>
              </a:defRPr>
            </a:pPr>
            <a:r>
              <a:t>03</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lIns="27432" rIns="27432" tIns="18288" bIns="18288">
            <a:spAutoFit/>
          </a:bodyPr>
          <a:lstStyle/>
          <a:p>
            <a:pPr>
              <a:spcAft>
                <a:spcPts val="700"/>
              </a:spcAft>
              <a:defRPr sz="1300" b="1">
                <a:solidFill>
                  <a:srgbClr val="187B78"/>
                </a:solidFill>
                <a:latin typeface="Arial"/>
              </a:defRPr>
            </a:pPr>
            <a:r>
              <a:t>PART 2  /  Zhang Hanyu  /  Decision tree and overfitting</a:t>
            </a:r>
          </a:p>
        </p:txBody>
      </p:sp>
      <p:sp>
        <p:nvSpPr>
          <p:cNvPr id="3" name="TextBox 2"/>
          <p:cNvSpPr txBox="1"/>
          <p:nvPr/>
        </p:nvSpPr>
        <p:spPr>
          <a:xfrm>
            <a:off x="640080" y="914400"/>
            <a:ext cx="10972800" cy="786384"/>
          </a:xfrm>
          <a:prstGeom prst="rect">
            <a:avLst/>
          </a:prstGeom>
          <a:noFill/>
        </p:spPr>
        <p:txBody>
          <a:bodyPr wrap="square" lIns="27432" rIns="27432" tIns="18288" bIns="18288">
            <a:spAutoFit/>
          </a:bodyPr>
          <a:lstStyle/>
          <a:p>
            <a:pPr>
              <a:spcAft>
                <a:spcPts val="700"/>
              </a:spcAft>
              <a:defRPr sz="3100" b="1">
                <a:solidFill>
                  <a:srgbClr val="183447"/>
                </a:solidFill>
                <a:latin typeface="Arial"/>
              </a:defRPr>
            </a:pPr>
            <a:r>
              <a:t>Decision tree: controlling overfitting</a:t>
            </a:r>
          </a:p>
        </p:txBody>
      </p:sp>
      <p:cxnSp>
        <p:nvCxnSpPr>
          <p:cNvPr id="4" name="Connector 3"/>
          <p:cNvCxnSpPr/>
          <p:nvPr/>
        </p:nvCxnSpPr>
        <p:spPr>
          <a:xfrm>
            <a:off x="667512" y="1746504"/>
            <a:ext cx="10835640"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94944" y="1920240"/>
            <a:ext cx="6492240" cy="320040"/>
          </a:xfrm>
          <a:prstGeom prst="rect">
            <a:avLst/>
          </a:prstGeom>
          <a:noFill/>
        </p:spPr>
        <p:txBody>
          <a:bodyPr wrap="square" lIns="27432" rIns="27432" tIns="18288" bIns="18288">
            <a:spAutoFit/>
          </a:bodyPr>
          <a:lstStyle/>
          <a:p>
            <a:pPr>
              <a:spcAft>
                <a:spcPts val="700"/>
              </a:spcAft>
              <a:defRPr sz="1600" b="1">
                <a:solidFill>
                  <a:srgbClr val="187B78"/>
                </a:solidFill>
                <a:latin typeface="Arial"/>
              </a:defRPr>
            </a:pPr>
            <a:r>
              <a:t>Test average precision</a:t>
            </a:r>
          </a:p>
        </p:txBody>
      </p:sp>
      <p:graphicFrame>
        <p:nvGraphicFramePr>
          <p:cNvPr id="6" name="Chart 5"/>
          <p:cNvGraphicFramePr>
            <a:graphicFrameLocks noGrp="1"/>
          </p:cNvGraphicFramePr>
          <p:nvPr/>
        </p:nvGraphicFramePr>
        <p:xfrm>
          <a:off x="594360" y="2240280"/>
          <a:ext cx="6675120" cy="3429000"/>
        </p:xfrm>
        <a:graphic>
          <a:graphicData uri="http://schemas.openxmlformats.org/drawingml/2006/chart">
            <c:chart xmlns:c="http://schemas.openxmlformats.org/drawingml/2006/chart" r:id="rId2"/>
          </a:graphicData>
        </a:graphic>
      </p:graphicFrame>
      <p:cxnSp>
        <p:nvCxnSpPr>
          <p:cNvPr id="7" name="Connector 6"/>
          <p:cNvCxnSpPr/>
          <p:nvPr/>
        </p:nvCxnSpPr>
        <p:spPr>
          <a:xfrm>
            <a:off x="7562088" y="2148840"/>
            <a:ext cx="0" cy="347472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7909560" y="2029968"/>
            <a:ext cx="3639312" cy="813816"/>
          </a:xfrm>
          <a:prstGeom prst="rect">
            <a:avLst/>
          </a:prstGeom>
          <a:noFill/>
        </p:spPr>
        <p:txBody>
          <a:bodyPr wrap="square" lIns="27432" rIns="27432" tIns="18288" bIns="18288">
            <a:spAutoFit/>
          </a:bodyPr>
          <a:lstStyle/>
          <a:p>
            <a:pPr>
              <a:spcAft>
                <a:spcPts val="700"/>
              </a:spcAft>
              <a:defRPr sz="2000" b="1">
                <a:solidFill>
                  <a:srgbClr val="183447"/>
                </a:solidFill>
                <a:latin typeface="Arial"/>
              </a:defRPr>
            </a:pPr>
            <a:r>
              <a:t>21 configurations: depth × minimum leaf size</a:t>
            </a:r>
          </a:p>
        </p:txBody>
      </p:sp>
      <p:sp>
        <p:nvSpPr>
          <p:cNvPr id="9" name="TextBox 8"/>
          <p:cNvSpPr txBox="1"/>
          <p:nvPr/>
        </p:nvSpPr>
        <p:spPr>
          <a:xfrm>
            <a:off x="7909560" y="2953512"/>
            <a:ext cx="3639312" cy="813816"/>
          </a:xfrm>
          <a:prstGeom prst="rect">
            <a:avLst/>
          </a:prstGeom>
          <a:noFill/>
        </p:spPr>
        <p:txBody>
          <a:bodyPr wrap="square" lIns="27432" rIns="27432" tIns="18288" bIns="18288">
            <a:spAutoFit/>
          </a:bodyPr>
          <a:lstStyle/>
          <a:p>
            <a:pPr>
              <a:spcAft>
                <a:spcPts val="700"/>
              </a:spcAft>
              <a:defRPr sz="2000" b="0">
                <a:solidFill>
                  <a:srgbClr val="183447"/>
                </a:solidFill>
                <a:latin typeface="Arial"/>
              </a:defRPr>
            </a:pPr>
            <a:r>
              <a:t>Unrestricted baseline fits training folds almost perfectly</a:t>
            </a:r>
          </a:p>
        </p:txBody>
      </p:sp>
      <p:sp>
        <p:nvSpPr>
          <p:cNvPr id="10" name="TextBox 9"/>
          <p:cNvSpPr txBox="1"/>
          <p:nvPr/>
        </p:nvSpPr>
        <p:spPr>
          <a:xfrm>
            <a:off x="7909560" y="3877056"/>
            <a:ext cx="3639312" cy="813816"/>
          </a:xfrm>
          <a:prstGeom prst="rect">
            <a:avLst/>
          </a:prstGeom>
          <a:noFill/>
        </p:spPr>
        <p:txBody>
          <a:bodyPr wrap="square" lIns="27432" rIns="27432" tIns="18288" bIns="18288">
            <a:spAutoFit/>
          </a:bodyPr>
          <a:lstStyle/>
          <a:p>
            <a:pPr>
              <a:spcAft>
                <a:spcPts val="700"/>
              </a:spcAft>
              <a:defRPr sz="2000" b="0">
                <a:solidFill>
                  <a:srgbClr val="183447"/>
                </a:solidFill>
                <a:latin typeface="Arial"/>
              </a:defRPr>
            </a:pPr>
            <a:r>
              <a:t>Selected minimum leaf size: 100 observations</a:t>
            </a:r>
          </a:p>
        </p:txBody>
      </p:sp>
      <p:sp>
        <p:nvSpPr>
          <p:cNvPr id="11" name="TextBox 10"/>
          <p:cNvSpPr txBox="1"/>
          <p:nvPr/>
        </p:nvSpPr>
        <p:spPr>
          <a:xfrm>
            <a:off x="7909560" y="4965192"/>
            <a:ext cx="3639312" cy="859536"/>
          </a:xfrm>
          <a:prstGeom prst="rect">
            <a:avLst/>
          </a:prstGeom>
          <a:noFill/>
        </p:spPr>
        <p:txBody>
          <a:bodyPr wrap="square" lIns="27432" rIns="27432" tIns="18288" bIns="18288">
            <a:spAutoFit/>
          </a:bodyPr>
          <a:lstStyle/>
          <a:p>
            <a:pPr>
              <a:spcAft>
                <a:spcPts val="700"/>
              </a:spcAft>
              <a:defRPr sz="1500" b="0">
                <a:solidFill>
                  <a:srgbClr val="526575"/>
                </a:solidFill>
                <a:latin typeface="Arial"/>
              </a:defRPr>
            </a:pPr>
            <a:r>
              <a:t>A large baseline gap signals overfitting.</a:t>
            </a:r>
          </a:p>
          <a:p>
            <a:pPr>
              <a:spcAft>
                <a:spcPts val="700"/>
              </a:spcAft>
              <a:defRPr sz="1500" b="0">
                <a:solidFill>
                  <a:srgbClr val="526575"/>
                </a:solidFill>
                <a:latin typeface="Arial"/>
              </a:defRPr>
            </a:pPr>
            <a:r>
              <a:t>CV selection improves this tree's ranking.</a:t>
            </a:r>
          </a:p>
        </p:txBody>
      </p:sp>
      <p:sp>
        <p:nvSpPr>
          <p:cNvPr id="12" name="TextBox 11"/>
          <p:cNvSpPr txBox="1"/>
          <p:nvPr/>
        </p:nvSpPr>
        <p:spPr>
          <a:xfrm>
            <a:off x="658368" y="6071616"/>
            <a:ext cx="10652760" cy="347472"/>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Source: results/final/model_comparison.csv</a:t>
            </a:r>
          </a:p>
        </p:txBody>
      </p:sp>
      <p:cxnSp>
        <p:nvCxnSpPr>
          <p:cNvPr id="13" name="Connector 12"/>
          <p:cNvCxnSpPr/>
          <p:nvPr/>
        </p:nvCxnSpPr>
        <p:spPr>
          <a:xfrm>
            <a:off x="667512" y="6483096"/>
            <a:ext cx="10844784"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658368" y="6565392"/>
            <a:ext cx="9966960" cy="246888"/>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SC6122  ·  GROUP 5</a:t>
            </a:r>
          </a:p>
        </p:txBody>
      </p:sp>
      <p:sp>
        <p:nvSpPr>
          <p:cNvPr id="15" name="TextBox 14"/>
          <p:cNvSpPr txBox="1"/>
          <p:nvPr/>
        </p:nvSpPr>
        <p:spPr>
          <a:xfrm>
            <a:off x="11091672" y="6519672"/>
            <a:ext cx="457200" cy="292608"/>
          </a:xfrm>
          <a:prstGeom prst="rect">
            <a:avLst/>
          </a:prstGeom>
          <a:noFill/>
        </p:spPr>
        <p:txBody>
          <a:bodyPr wrap="square" lIns="27432" rIns="27432" tIns="18288" bIns="18288">
            <a:spAutoFit/>
          </a:bodyPr>
          <a:lstStyle/>
          <a:p>
            <a:pPr>
              <a:spcAft>
                <a:spcPts val="700"/>
              </a:spcAft>
              <a:defRPr sz="1200" b="1">
                <a:solidFill>
                  <a:srgbClr val="187B78"/>
                </a:solidFill>
                <a:latin typeface="Arial"/>
              </a:defRPr>
            </a:pPr>
            <a:r>
              <a:t>04</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lIns="27432" rIns="27432" tIns="18288" bIns="18288">
            <a:spAutoFit/>
          </a:bodyPr>
          <a:lstStyle/>
          <a:p>
            <a:pPr>
              <a:spcAft>
                <a:spcPts val="700"/>
              </a:spcAft>
              <a:defRPr sz="1300" b="1">
                <a:solidFill>
                  <a:srgbClr val="187B78"/>
                </a:solidFill>
                <a:latin typeface="Arial"/>
              </a:defRPr>
            </a:pPr>
            <a:r>
              <a:t>PART 2  /  Zhang Hanyu  /  Decision tree and overfitting</a:t>
            </a:r>
          </a:p>
        </p:txBody>
      </p:sp>
      <p:sp>
        <p:nvSpPr>
          <p:cNvPr id="3" name="TextBox 2"/>
          <p:cNvSpPr txBox="1"/>
          <p:nvPr/>
        </p:nvSpPr>
        <p:spPr>
          <a:xfrm>
            <a:off x="640080" y="914400"/>
            <a:ext cx="10972800" cy="786384"/>
          </a:xfrm>
          <a:prstGeom prst="rect">
            <a:avLst/>
          </a:prstGeom>
          <a:noFill/>
        </p:spPr>
        <p:txBody>
          <a:bodyPr wrap="square" lIns="27432" rIns="27432" tIns="18288" bIns="18288">
            <a:spAutoFit/>
          </a:bodyPr>
          <a:lstStyle/>
          <a:p>
            <a:pPr>
              <a:spcAft>
                <a:spcPts val="700"/>
              </a:spcAft>
              <a:defRPr sz="3100" b="1">
                <a:solidFill>
                  <a:srgbClr val="183447"/>
                </a:solidFill>
                <a:latin typeface="Arial"/>
              </a:defRPr>
            </a:pPr>
            <a:r>
              <a:t>Reading the tree’s first decision</a:t>
            </a:r>
          </a:p>
        </p:txBody>
      </p:sp>
      <p:cxnSp>
        <p:nvCxnSpPr>
          <p:cNvPr id="4" name="Connector 3"/>
          <p:cNvCxnSpPr/>
          <p:nvPr/>
        </p:nvCxnSpPr>
        <p:spPr>
          <a:xfrm>
            <a:off x="667512" y="1746504"/>
            <a:ext cx="10835640"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58368" y="2167128"/>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Root rule: recent repayment status PAY_0 ≤ 1.5</a:t>
            </a:r>
          </a:p>
        </p:txBody>
      </p:sp>
      <p:cxnSp>
        <p:nvCxnSpPr>
          <p:cNvPr id="6" name="Connector 5"/>
          <p:cNvCxnSpPr/>
          <p:nvPr/>
        </p:nvCxnSpPr>
        <p:spPr>
          <a:xfrm>
            <a:off x="685800" y="3154680"/>
            <a:ext cx="4745736"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58368" y="3282696"/>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Selected tree: depth 18, with 134 leaves</a:t>
            </a:r>
          </a:p>
        </p:txBody>
      </p:sp>
      <p:cxnSp>
        <p:nvCxnSpPr>
          <p:cNvPr id="8" name="Connector 7"/>
          <p:cNvCxnSpPr/>
          <p:nvPr/>
        </p:nvCxnSpPr>
        <p:spPr>
          <a:xfrm>
            <a:off x="685800" y="4270248"/>
            <a:ext cx="4745736"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58368" y="4398264"/>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Node proportions describe this fitting sample</a:t>
            </a:r>
          </a:p>
        </p:txBody>
      </p:sp>
      <p:cxnSp>
        <p:nvCxnSpPr>
          <p:cNvPr id="10" name="Connector 9"/>
          <p:cNvCxnSpPr/>
          <p:nvPr/>
        </p:nvCxnSpPr>
        <p:spPr>
          <a:xfrm>
            <a:off x="5870448" y="2194560"/>
            <a:ext cx="0" cy="342900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6272784" y="2194560"/>
            <a:ext cx="5029200" cy="457200"/>
          </a:xfrm>
          <a:prstGeom prst="rect">
            <a:avLst/>
          </a:prstGeom>
          <a:noFill/>
        </p:spPr>
        <p:txBody>
          <a:bodyPr wrap="square" lIns="27432" rIns="27432" tIns="18288" bIns="18288">
            <a:spAutoFit/>
          </a:bodyPr>
          <a:lstStyle/>
          <a:p>
            <a:pPr>
              <a:spcAft>
                <a:spcPts val="700"/>
              </a:spcAft>
              <a:defRPr sz="2100" b="1">
                <a:solidFill>
                  <a:srgbClr val="187B78"/>
                </a:solidFill>
                <a:latin typeface="Arial"/>
              </a:defRPr>
            </a:pPr>
            <a:r>
              <a:t>Recent repayment status</a:t>
            </a:r>
          </a:p>
        </p:txBody>
      </p:sp>
      <p:sp>
        <p:nvSpPr>
          <p:cNvPr id="12" name="TextBox 11"/>
          <p:cNvSpPr txBox="1"/>
          <p:nvPr/>
        </p:nvSpPr>
        <p:spPr>
          <a:xfrm>
            <a:off x="7635240" y="2971800"/>
            <a:ext cx="2926080" cy="502920"/>
          </a:xfrm>
          <a:prstGeom prst="rect">
            <a:avLst/>
          </a:prstGeom>
          <a:noFill/>
        </p:spPr>
        <p:txBody>
          <a:bodyPr wrap="square" lIns="27432" rIns="27432" tIns="18288" bIns="18288">
            <a:spAutoFit/>
          </a:bodyPr>
          <a:lstStyle/>
          <a:p>
            <a:pPr>
              <a:spcAft>
                <a:spcPts val="700"/>
              </a:spcAft>
              <a:defRPr sz="2500" b="1">
                <a:solidFill>
                  <a:srgbClr val="183447"/>
                </a:solidFill>
                <a:latin typeface="Arial"/>
              </a:defRPr>
            </a:pPr>
            <a:r>
              <a:t>PAY_0 ≤ 1.5</a:t>
            </a:r>
          </a:p>
        </p:txBody>
      </p:sp>
      <p:cxnSp>
        <p:nvCxnSpPr>
          <p:cNvPr id="13" name="Connector 12"/>
          <p:cNvCxnSpPr/>
          <p:nvPr/>
        </p:nvCxnSpPr>
        <p:spPr>
          <a:xfrm flipH="1">
            <a:off x="7360920" y="3611880"/>
            <a:ext cx="1508760" cy="612648"/>
          </a:xfrm>
          <a:prstGeom prst="line">
            <a:avLst/>
          </a:prstGeom>
          <a:ln w="19050">
            <a:solidFill>
              <a:srgbClr val="187B78"/>
            </a:solidFill>
          </a:ln>
          <a:effectLst/>
        </p:spPr>
        <p:style>
          <a:lnRef idx="2">
            <a:schemeClr val="accent1"/>
          </a:lnRef>
          <a:fillRef idx="0">
            <a:schemeClr val="accent1"/>
          </a:fillRef>
          <a:effectRef idx="0">
            <a:schemeClr val="accent1"/>
          </a:effectRef>
          <a:fontRef idx="minor">
            <a:schemeClr val="tx1"/>
          </a:fontRef>
        </p:style>
      </p:cxnSp>
      <p:cxnSp>
        <p:nvCxnSpPr>
          <p:cNvPr id="14" name="Connector 13"/>
          <p:cNvCxnSpPr/>
          <p:nvPr/>
        </p:nvCxnSpPr>
        <p:spPr>
          <a:xfrm>
            <a:off x="8869680" y="3611880"/>
            <a:ext cx="1417320" cy="612648"/>
          </a:xfrm>
          <a:prstGeom prst="line">
            <a:avLst/>
          </a:prstGeom>
          <a:ln w="19050">
            <a:solidFill>
              <a:srgbClr val="187B78"/>
            </a:solidFill>
          </a:ln>
          <a:effectLst/>
        </p:spPr>
        <p:style>
          <a:lnRef idx="2">
            <a:schemeClr val="accent1"/>
          </a:lnRef>
          <a:fillRef idx="0">
            <a:schemeClr val="accent1"/>
          </a:fillRef>
          <a:effectRef idx="0">
            <a:schemeClr val="accent1"/>
          </a:effectRef>
          <a:fontRef idx="minor">
            <a:schemeClr val="tx1"/>
          </a:fontRef>
        </p:style>
      </p:cxnSp>
      <p:sp>
        <p:nvSpPr>
          <p:cNvPr id="15" name="TextBox 14"/>
          <p:cNvSpPr txBox="1"/>
          <p:nvPr/>
        </p:nvSpPr>
        <p:spPr>
          <a:xfrm>
            <a:off x="6611112" y="4389120"/>
            <a:ext cx="2468880" cy="411480"/>
          </a:xfrm>
          <a:prstGeom prst="rect">
            <a:avLst/>
          </a:prstGeom>
          <a:noFill/>
        </p:spPr>
        <p:txBody>
          <a:bodyPr wrap="square" lIns="27432" rIns="27432" tIns="18288" bIns="18288">
            <a:spAutoFit/>
          </a:bodyPr>
          <a:lstStyle/>
          <a:p>
            <a:pPr>
              <a:spcAft>
                <a:spcPts val="700"/>
              </a:spcAft>
              <a:defRPr sz="2500" b="0">
                <a:solidFill>
                  <a:srgbClr val="187B78"/>
                </a:solidFill>
                <a:latin typeface="Arial"/>
              </a:defRPr>
            </a:pPr>
            <a:r>
              <a:t>Yes · 16.51%</a:t>
            </a:r>
          </a:p>
        </p:txBody>
      </p:sp>
      <p:sp>
        <p:nvSpPr>
          <p:cNvPr id="16" name="TextBox 15"/>
          <p:cNvSpPr txBox="1"/>
          <p:nvPr/>
        </p:nvSpPr>
        <p:spPr>
          <a:xfrm>
            <a:off x="9372600" y="4389120"/>
            <a:ext cx="2103120" cy="411480"/>
          </a:xfrm>
          <a:prstGeom prst="rect">
            <a:avLst/>
          </a:prstGeom>
          <a:noFill/>
        </p:spPr>
        <p:txBody>
          <a:bodyPr wrap="square" lIns="27432" rIns="27432" tIns="18288" bIns="18288">
            <a:spAutoFit/>
          </a:bodyPr>
          <a:lstStyle/>
          <a:p>
            <a:pPr>
              <a:spcAft>
                <a:spcPts val="700"/>
              </a:spcAft>
              <a:defRPr sz="2500" b="0">
                <a:solidFill>
                  <a:srgbClr val="C8784A"/>
                </a:solidFill>
                <a:latin typeface="Arial"/>
              </a:defRPr>
            </a:pPr>
            <a:r>
              <a:t>No · 70.13%</a:t>
            </a:r>
          </a:p>
        </p:txBody>
      </p:sp>
      <p:sp>
        <p:nvSpPr>
          <p:cNvPr id="17" name="TextBox 16"/>
          <p:cNvSpPr txBox="1"/>
          <p:nvPr/>
        </p:nvSpPr>
        <p:spPr>
          <a:xfrm>
            <a:off x="6309360" y="5138928"/>
            <a:ext cx="5166360" cy="685800"/>
          </a:xfrm>
          <a:prstGeom prst="rect">
            <a:avLst/>
          </a:prstGeom>
          <a:noFill/>
        </p:spPr>
        <p:txBody>
          <a:bodyPr wrap="square" lIns="27432" rIns="27432" tIns="18288" bIns="18288">
            <a:spAutoFit/>
          </a:bodyPr>
          <a:lstStyle/>
          <a:p>
            <a:pPr>
              <a:spcAft>
                <a:spcPts val="700"/>
              </a:spcAft>
              <a:defRPr sz="1600" b="0">
                <a:solidFill>
                  <a:srgbClr val="526575"/>
                </a:solidFill>
                <a:latin typeface="Arial"/>
              </a:defRPr>
            </a:pPr>
            <a:r>
              <a:t>Default proportion in each fitting-sample branch.</a:t>
            </a:r>
          </a:p>
          <a:p>
            <a:pPr>
              <a:spcAft>
                <a:spcPts val="700"/>
              </a:spcAft>
              <a:defRPr sz="1600" b="0">
                <a:solidFill>
                  <a:srgbClr val="526575"/>
                </a:solidFill>
                <a:latin typeface="Arial"/>
              </a:defRPr>
            </a:pPr>
            <a:r>
              <a:t>These are associations, not causal effects.</a:t>
            </a:r>
          </a:p>
        </p:txBody>
      </p:sp>
      <p:sp>
        <p:nvSpPr>
          <p:cNvPr id="18" name="TextBox 17"/>
          <p:cNvSpPr txBox="1"/>
          <p:nvPr/>
        </p:nvSpPr>
        <p:spPr>
          <a:xfrm>
            <a:off x="658368" y="6071616"/>
            <a:ext cx="10652760" cy="347472"/>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Source: saved decision-tree model; integration audit/report evidence.</a:t>
            </a:r>
          </a:p>
        </p:txBody>
      </p:sp>
      <p:cxnSp>
        <p:nvCxnSpPr>
          <p:cNvPr id="19" name="Connector 18"/>
          <p:cNvCxnSpPr/>
          <p:nvPr/>
        </p:nvCxnSpPr>
        <p:spPr>
          <a:xfrm>
            <a:off x="667512" y="6483096"/>
            <a:ext cx="10844784"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20" name="TextBox 19"/>
          <p:cNvSpPr txBox="1"/>
          <p:nvPr/>
        </p:nvSpPr>
        <p:spPr>
          <a:xfrm>
            <a:off x="658368" y="6565392"/>
            <a:ext cx="9966960" cy="246888"/>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SC6122  ·  GROUP 5</a:t>
            </a:r>
          </a:p>
        </p:txBody>
      </p:sp>
      <p:sp>
        <p:nvSpPr>
          <p:cNvPr id="21" name="TextBox 20"/>
          <p:cNvSpPr txBox="1"/>
          <p:nvPr/>
        </p:nvSpPr>
        <p:spPr>
          <a:xfrm>
            <a:off x="11091672" y="6519672"/>
            <a:ext cx="457200" cy="292608"/>
          </a:xfrm>
          <a:prstGeom prst="rect">
            <a:avLst/>
          </a:prstGeom>
          <a:noFill/>
        </p:spPr>
        <p:txBody>
          <a:bodyPr wrap="square" lIns="27432" rIns="27432" tIns="18288" bIns="18288">
            <a:spAutoFit/>
          </a:bodyPr>
          <a:lstStyle/>
          <a:p>
            <a:pPr>
              <a:spcAft>
                <a:spcPts val="700"/>
              </a:spcAft>
              <a:defRPr sz="1200" b="1">
                <a:solidFill>
                  <a:srgbClr val="187B78"/>
                </a:solidFill>
                <a:latin typeface="Arial"/>
              </a:defRPr>
            </a:pPr>
            <a:r>
              <a:t>05</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lIns="27432" rIns="27432" tIns="18288" bIns="18288">
            <a:spAutoFit/>
          </a:bodyPr>
          <a:lstStyle/>
          <a:p>
            <a:pPr>
              <a:spcAft>
                <a:spcPts val="700"/>
              </a:spcAft>
              <a:defRPr sz="1300" b="1">
                <a:solidFill>
                  <a:srgbClr val="187B78"/>
                </a:solidFill>
                <a:latin typeface="Arial"/>
              </a:defRPr>
            </a:pPr>
            <a:r>
              <a:t>PART 2  /  Zhang Hanyu  /  Decision tree and overfitting</a:t>
            </a:r>
          </a:p>
        </p:txBody>
      </p:sp>
      <p:sp>
        <p:nvSpPr>
          <p:cNvPr id="3" name="TextBox 2"/>
          <p:cNvSpPr txBox="1"/>
          <p:nvPr/>
        </p:nvSpPr>
        <p:spPr>
          <a:xfrm>
            <a:off x="640080" y="914400"/>
            <a:ext cx="10972800" cy="786384"/>
          </a:xfrm>
          <a:prstGeom prst="rect">
            <a:avLst/>
          </a:prstGeom>
          <a:noFill/>
        </p:spPr>
        <p:txBody>
          <a:bodyPr wrap="square" lIns="27432" rIns="27432" tIns="18288" bIns="18288">
            <a:spAutoFit/>
          </a:bodyPr>
          <a:lstStyle/>
          <a:p>
            <a:pPr>
              <a:spcAft>
                <a:spcPts val="700"/>
              </a:spcAft>
              <a:defRPr sz="3100" b="1">
                <a:solidFill>
                  <a:srgbClr val="183447"/>
                </a:solidFill>
                <a:latin typeface="Arial"/>
              </a:defRPr>
            </a:pPr>
            <a:r>
              <a:t>Ranking performance across four models</a:t>
            </a:r>
          </a:p>
        </p:txBody>
      </p:sp>
      <p:cxnSp>
        <p:nvCxnSpPr>
          <p:cNvPr id="4" name="Connector 3"/>
          <p:cNvCxnSpPr/>
          <p:nvPr/>
        </p:nvCxnSpPr>
        <p:spPr>
          <a:xfrm>
            <a:off x="667512" y="1746504"/>
            <a:ext cx="10835640"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94944" y="1920240"/>
            <a:ext cx="6492240" cy="320040"/>
          </a:xfrm>
          <a:prstGeom prst="rect">
            <a:avLst/>
          </a:prstGeom>
          <a:noFill/>
        </p:spPr>
        <p:txBody>
          <a:bodyPr wrap="square" lIns="27432" rIns="27432" tIns="18288" bIns="18288">
            <a:spAutoFit/>
          </a:bodyPr>
          <a:lstStyle/>
          <a:p>
            <a:pPr>
              <a:spcAft>
                <a:spcPts val="700"/>
              </a:spcAft>
              <a:defRPr sz="1600" b="1">
                <a:solidFill>
                  <a:srgbClr val="187B78"/>
                </a:solidFill>
                <a:latin typeface="Arial"/>
              </a:defRPr>
            </a:pPr>
            <a:r>
              <a:t>Test average precision</a:t>
            </a:r>
          </a:p>
        </p:txBody>
      </p:sp>
      <p:graphicFrame>
        <p:nvGraphicFramePr>
          <p:cNvPr id="6" name="Chart 5"/>
          <p:cNvGraphicFramePr>
            <a:graphicFrameLocks noGrp="1"/>
          </p:cNvGraphicFramePr>
          <p:nvPr/>
        </p:nvGraphicFramePr>
        <p:xfrm>
          <a:off x="594360" y="2240280"/>
          <a:ext cx="6675120" cy="3429000"/>
        </p:xfrm>
        <a:graphic>
          <a:graphicData uri="http://schemas.openxmlformats.org/drawingml/2006/chart">
            <c:chart xmlns:c="http://schemas.openxmlformats.org/drawingml/2006/chart" r:id="rId2"/>
          </a:graphicData>
        </a:graphic>
      </p:graphicFrame>
      <p:cxnSp>
        <p:nvCxnSpPr>
          <p:cNvPr id="7" name="Connector 6"/>
          <p:cNvCxnSpPr/>
          <p:nvPr/>
        </p:nvCxnSpPr>
        <p:spPr>
          <a:xfrm>
            <a:off x="7562088" y="2148840"/>
            <a:ext cx="0" cy="347472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7909560" y="2029968"/>
            <a:ext cx="3639312" cy="813816"/>
          </a:xfrm>
          <a:prstGeom prst="rect">
            <a:avLst/>
          </a:prstGeom>
          <a:noFill/>
        </p:spPr>
        <p:txBody>
          <a:bodyPr wrap="square" lIns="27432" rIns="27432" tIns="18288" bIns="18288">
            <a:spAutoFit/>
          </a:bodyPr>
          <a:lstStyle/>
          <a:p>
            <a:pPr>
              <a:spcAft>
                <a:spcPts val="700"/>
              </a:spcAft>
              <a:defRPr sz="2000" b="1">
                <a:solidFill>
                  <a:srgbClr val="183447"/>
                </a:solidFill>
                <a:latin typeface="Arial"/>
              </a:defRPr>
            </a:pPr>
            <a:r>
              <a:t>AP emphasizes positive-class retrieval</a:t>
            </a:r>
          </a:p>
        </p:txBody>
      </p:sp>
      <p:sp>
        <p:nvSpPr>
          <p:cNvPr id="9" name="TextBox 8"/>
          <p:cNvSpPr txBox="1"/>
          <p:nvPr/>
        </p:nvSpPr>
        <p:spPr>
          <a:xfrm>
            <a:off x="7909560" y="2953512"/>
            <a:ext cx="3639312" cy="813816"/>
          </a:xfrm>
          <a:prstGeom prst="rect">
            <a:avLst/>
          </a:prstGeom>
          <a:noFill/>
        </p:spPr>
        <p:txBody>
          <a:bodyPr wrap="square" lIns="27432" rIns="27432" tIns="18288" bIns="18288">
            <a:spAutoFit/>
          </a:bodyPr>
          <a:lstStyle/>
          <a:p>
            <a:pPr>
              <a:spcAft>
                <a:spcPts val="700"/>
              </a:spcAft>
              <a:defRPr sz="2000" b="0">
                <a:solidFill>
                  <a:srgbClr val="183447"/>
                </a:solidFill>
                <a:latin typeface="Arial"/>
              </a:defRPr>
            </a:pPr>
            <a:r>
              <a:t>AP is not trapezoidal PR-AUC</a:t>
            </a:r>
          </a:p>
        </p:txBody>
      </p:sp>
      <p:sp>
        <p:nvSpPr>
          <p:cNvPr id="10" name="TextBox 9"/>
          <p:cNvSpPr txBox="1"/>
          <p:nvPr/>
        </p:nvSpPr>
        <p:spPr>
          <a:xfrm>
            <a:off x="7909560" y="3877056"/>
            <a:ext cx="3639312" cy="813816"/>
          </a:xfrm>
          <a:prstGeom prst="rect">
            <a:avLst/>
          </a:prstGeom>
          <a:noFill/>
        </p:spPr>
        <p:txBody>
          <a:bodyPr wrap="square" lIns="27432" rIns="27432" tIns="18288" bIns="18288">
            <a:spAutoFit/>
          </a:bodyPr>
          <a:lstStyle/>
          <a:p>
            <a:pPr>
              <a:spcAft>
                <a:spcPts val="700"/>
              </a:spcAft>
              <a:defRPr sz="2000" b="0">
                <a:solidFill>
                  <a:srgbClr val="183447"/>
                </a:solidFill>
                <a:latin typeface="Arial"/>
              </a:defRPr>
            </a:pPr>
            <a:r>
              <a:t>CV selection precedes these test comparisons</a:t>
            </a:r>
          </a:p>
        </p:txBody>
      </p:sp>
      <p:sp>
        <p:nvSpPr>
          <p:cNvPr id="11" name="TextBox 10"/>
          <p:cNvSpPr txBox="1"/>
          <p:nvPr/>
        </p:nvSpPr>
        <p:spPr>
          <a:xfrm>
            <a:off x="7909560" y="4965192"/>
            <a:ext cx="3639312" cy="859536"/>
          </a:xfrm>
          <a:prstGeom prst="rect">
            <a:avLst/>
          </a:prstGeom>
          <a:noFill/>
        </p:spPr>
        <p:txBody>
          <a:bodyPr wrap="square" lIns="27432" rIns="27432" tIns="18288" bIns="18288">
            <a:spAutoFit/>
          </a:bodyPr>
          <a:lstStyle/>
          <a:p>
            <a:pPr>
              <a:spcAft>
                <a:spcPts val="700"/>
              </a:spcAft>
              <a:defRPr sz="1500" b="0">
                <a:solidFill>
                  <a:srgbClr val="526575"/>
                </a:solidFill>
                <a:latin typeface="Arial"/>
              </a:defRPr>
            </a:pPr>
            <a:r>
              <a:t>Baseline and selected models are both retained.</a:t>
            </a:r>
          </a:p>
          <a:p>
            <a:pPr>
              <a:spcAft>
                <a:spcPts val="700"/>
              </a:spcAft>
              <a:defRPr sz="1500" b="0">
                <a:solidFill>
                  <a:srgbClr val="526575"/>
                </a:solidFill>
                <a:latin typeface="Arial"/>
              </a:defRPr>
            </a:pPr>
            <a:r>
              <a:t>Small ensemble differences do not establish superiority.</a:t>
            </a:r>
          </a:p>
        </p:txBody>
      </p:sp>
      <p:sp>
        <p:nvSpPr>
          <p:cNvPr id="12" name="TextBox 11"/>
          <p:cNvSpPr txBox="1"/>
          <p:nvPr/>
        </p:nvSpPr>
        <p:spPr>
          <a:xfrm>
            <a:off x="658368" y="6071616"/>
            <a:ext cx="10652760" cy="347472"/>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Source: results/final/model_comparison.csv</a:t>
            </a:r>
          </a:p>
        </p:txBody>
      </p:sp>
      <p:cxnSp>
        <p:nvCxnSpPr>
          <p:cNvPr id="13" name="Connector 12"/>
          <p:cNvCxnSpPr/>
          <p:nvPr/>
        </p:nvCxnSpPr>
        <p:spPr>
          <a:xfrm>
            <a:off x="667512" y="6483096"/>
            <a:ext cx="10844784"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658368" y="6565392"/>
            <a:ext cx="9966960" cy="246888"/>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SC6122  ·  GROUP 5</a:t>
            </a:r>
          </a:p>
        </p:txBody>
      </p:sp>
      <p:sp>
        <p:nvSpPr>
          <p:cNvPr id="15" name="TextBox 14"/>
          <p:cNvSpPr txBox="1"/>
          <p:nvPr/>
        </p:nvSpPr>
        <p:spPr>
          <a:xfrm>
            <a:off x="11091672" y="6519672"/>
            <a:ext cx="457200" cy="292608"/>
          </a:xfrm>
          <a:prstGeom prst="rect">
            <a:avLst/>
          </a:prstGeom>
          <a:noFill/>
        </p:spPr>
        <p:txBody>
          <a:bodyPr wrap="square" lIns="27432" rIns="27432" tIns="18288" bIns="18288">
            <a:spAutoFit/>
          </a:bodyPr>
          <a:lstStyle/>
          <a:p>
            <a:pPr>
              <a:spcAft>
                <a:spcPts val="700"/>
              </a:spcAft>
              <a:defRPr sz="1200" b="1">
                <a:solidFill>
                  <a:srgbClr val="187B78"/>
                </a:solidFill>
                <a:latin typeface="Arial"/>
              </a:defRPr>
            </a:pPr>
            <a:r>
              <a:t>06</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lIns="27432" rIns="27432" tIns="18288" bIns="18288">
            <a:spAutoFit/>
          </a:bodyPr>
          <a:lstStyle/>
          <a:p>
            <a:pPr>
              <a:spcAft>
                <a:spcPts val="700"/>
              </a:spcAft>
              <a:defRPr sz="1300" b="1">
                <a:solidFill>
                  <a:srgbClr val="187B78"/>
                </a:solidFill>
                <a:latin typeface="Arial"/>
              </a:defRPr>
            </a:pPr>
            <a:r>
              <a:t>PART 3  /  Zhou Xinzhe  /  Random forest and error analysis</a:t>
            </a:r>
          </a:p>
        </p:txBody>
      </p:sp>
      <p:sp>
        <p:nvSpPr>
          <p:cNvPr id="3" name="TextBox 2"/>
          <p:cNvSpPr txBox="1"/>
          <p:nvPr/>
        </p:nvSpPr>
        <p:spPr>
          <a:xfrm>
            <a:off x="640080" y="914400"/>
            <a:ext cx="10972800" cy="786384"/>
          </a:xfrm>
          <a:prstGeom prst="rect">
            <a:avLst/>
          </a:prstGeom>
          <a:noFill/>
        </p:spPr>
        <p:txBody>
          <a:bodyPr wrap="square" lIns="27432" rIns="27432" tIns="18288" bIns="18288">
            <a:spAutoFit/>
          </a:bodyPr>
          <a:lstStyle/>
          <a:p>
            <a:pPr>
              <a:spcAft>
                <a:spcPts val="700"/>
              </a:spcAft>
              <a:defRPr sz="3100" b="1">
                <a:solidFill>
                  <a:srgbClr val="183447"/>
                </a:solidFill>
                <a:latin typeface="Arial"/>
              </a:defRPr>
            </a:pPr>
            <a:r>
              <a:t>Random forest: averaging and regularization</a:t>
            </a:r>
          </a:p>
        </p:txBody>
      </p:sp>
      <p:cxnSp>
        <p:nvCxnSpPr>
          <p:cNvPr id="4" name="Connector 3"/>
          <p:cNvCxnSpPr/>
          <p:nvPr/>
        </p:nvCxnSpPr>
        <p:spPr>
          <a:xfrm>
            <a:off x="667512" y="1746504"/>
            <a:ext cx="10835640"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94944" y="1920240"/>
            <a:ext cx="6492240" cy="320040"/>
          </a:xfrm>
          <a:prstGeom prst="rect">
            <a:avLst/>
          </a:prstGeom>
          <a:noFill/>
        </p:spPr>
        <p:txBody>
          <a:bodyPr wrap="square" lIns="27432" rIns="27432" tIns="18288" bIns="18288">
            <a:spAutoFit/>
          </a:bodyPr>
          <a:lstStyle/>
          <a:p>
            <a:pPr>
              <a:spcAft>
                <a:spcPts val="700"/>
              </a:spcAft>
              <a:defRPr sz="1600" b="1">
                <a:solidFill>
                  <a:srgbClr val="187B78"/>
                </a:solidFill>
                <a:latin typeface="Arial"/>
              </a:defRPr>
            </a:pPr>
            <a:r>
              <a:t>Test average precision</a:t>
            </a:r>
          </a:p>
        </p:txBody>
      </p:sp>
      <p:graphicFrame>
        <p:nvGraphicFramePr>
          <p:cNvPr id="6" name="Chart 5"/>
          <p:cNvGraphicFramePr>
            <a:graphicFrameLocks noGrp="1"/>
          </p:cNvGraphicFramePr>
          <p:nvPr/>
        </p:nvGraphicFramePr>
        <p:xfrm>
          <a:off x="594360" y="2240280"/>
          <a:ext cx="6675120" cy="3429000"/>
        </p:xfrm>
        <a:graphic>
          <a:graphicData uri="http://schemas.openxmlformats.org/drawingml/2006/chart">
            <c:chart xmlns:c="http://schemas.openxmlformats.org/drawingml/2006/chart" r:id="rId2"/>
          </a:graphicData>
        </a:graphic>
      </p:graphicFrame>
      <p:cxnSp>
        <p:nvCxnSpPr>
          <p:cNvPr id="7" name="Connector 6"/>
          <p:cNvCxnSpPr/>
          <p:nvPr/>
        </p:nvCxnSpPr>
        <p:spPr>
          <a:xfrm>
            <a:off x="7562088" y="2148840"/>
            <a:ext cx="0" cy="347472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7909560" y="2029968"/>
            <a:ext cx="3639312" cy="813816"/>
          </a:xfrm>
          <a:prstGeom prst="rect">
            <a:avLst/>
          </a:prstGeom>
          <a:noFill/>
        </p:spPr>
        <p:txBody>
          <a:bodyPr wrap="square" lIns="27432" rIns="27432" tIns="18288" bIns="18288">
            <a:spAutoFit/>
          </a:bodyPr>
          <a:lstStyle/>
          <a:p>
            <a:pPr>
              <a:spcAft>
                <a:spcPts val="700"/>
              </a:spcAft>
              <a:defRPr sz="2000" b="1">
                <a:solidFill>
                  <a:srgbClr val="183447"/>
                </a:solidFill>
                <a:latin typeface="Arial"/>
              </a:defRPr>
            </a:pPr>
            <a:r>
              <a:t>Baseline + 23 seeded candidate settings</a:t>
            </a:r>
          </a:p>
        </p:txBody>
      </p:sp>
      <p:sp>
        <p:nvSpPr>
          <p:cNvPr id="9" name="TextBox 8"/>
          <p:cNvSpPr txBox="1"/>
          <p:nvPr/>
        </p:nvSpPr>
        <p:spPr>
          <a:xfrm>
            <a:off x="7909560" y="2953512"/>
            <a:ext cx="3639312" cy="813816"/>
          </a:xfrm>
          <a:prstGeom prst="rect">
            <a:avLst/>
          </a:prstGeom>
          <a:noFill/>
        </p:spPr>
        <p:txBody>
          <a:bodyPr wrap="square" lIns="27432" rIns="27432" tIns="18288" bIns="18288">
            <a:spAutoFit/>
          </a:bodyPr>
          <a:lstStyle/>
          <a:p>
            <a:pPr>
              <a:spcAft>
                <a:spcPts val="700"/>
              </a:spcAft>
              <a:defRPr sz="2000" b="0">
                <a:solidFill>
                  <a:srgbClr val="183447"/>
                </a:solidFill>
                <a:latin typeface="Arial"/>
              </a:defRPr>
            </a:pPr>
            <a:r>
              <a:t>Selected: 500 trees, depth 8, minimum leaf 2</a:t>
            </a:r>
          </a:p>
        </p:txBody>
      </p:sp>
      <p:sp>
        <p:nvSpPr>
          <p:cNvPr id="10" name="TextBox 9"/>
          <p:cNvSpPr txBox="1"/>
          <p:nvPr/>
        </p:nvSpPr>
        <p:spPr>
          <a:xfrm>
            <a:off x="7909560" y="3877056"/>
            <a:ext cx="3639312" cy="813816"/>
          </a:xfrm>
          <a:prstGeom prst="rect">
            <a:avLst/>
          </a:prstGeom>
          <a:noFill/>
        </p:spPr>
        <p:txBody>
          <a:bodyPr wrap="square" lIns="27432" rIns="27432" tIns="18288" bIns="18288">
            <a:spAutoFit/>
          </a:bodyPr>
          <a:lstStyle/>
          <a:p>
            <a:pPr>
              <a:spcAft>
                <a:spcPts val="700"/>
              </a:spcAft>
              <a:defRPr sz="2000" b="0">
                <a:solidFill>
                  <a:srgbClr val="183447"/>
                </a:solidFill>
                <a:latin typeface="Arial"/>
              </a:defRPr>
            </a:pPr>
            <a:r>
              <a:t>Positive-class weight 3; feature fraction 0.5</a:t>
            </a:r>
          </a:p>
        </p:txBody>
      </p:sp>
      <p:sp>
        <p:nvSpPr>
          <p:cNvPr id="11" name="TextBox 10"/>
          <p:cNvSpPr txBox="1"/>
          <p:nvPr/>
        </p:nvSpPr>
        <p:spPr>
          <a:xfrm>
            <a:off x="7909560" y="4965192"/>
            <a:ext cx="3639312" cy="859536"/>
          </a:xfrm>
          <a:prstGeom prst="rect">
            <a:avLst/>
          </a:prstGeom>
          <a:noFill/>
        </p:spPr>
        <p:txBody>
          <a:bodyPr wrap="square" lIns="27432" rIns="27432" tIns="18288" bIns="18288">
            <a:spAutoFit/>
          </a:bodyPr>
          <a:lstStyle/>
          <a:p>
            <a:pPr>
              <a:spcAft>
                <a:spcPts val="700"/>
              </a:spcAft>
              <a:defRPr sz="1500" b="0">
                <a:solidFill>
                  <a:srgbClr val="526575"/>
                </a:solidFill>
                <a:latin typeface="Arial"/>
              </a:defRPr>
            </a:pPr>
            <a:r>
              <a:t>Averaging reduces dependence on one tree.</a:t>
            </a:r>
          </a:p>
          <a:p>
            <a:pPr>
              <a:spcAft>
                <a:spcPts val="700"/>
              </a:spcAft>
              <a:defRPr sz="1500" b="0">
                <a:solidFill>
                  <a:srgbClr val="526575"/>
                </a:solidFill>
                <a:latin typeface="Arial"/>
              </a:defRPr>
            </a:pPr>
            <a:r>
              <a:t>Weights also change the score distribution.</a:t>
            </a:r>
          </a:p>
        </p:txBody>
      </p:sp>
      <p:sp>
        <p:nvSpPr>
          <p:cNvPr id="12" name="TextBox 11"/>
          <p:cNvSpPr txBox="1"/>
          <p:nvPr/>
        </p:nvSpPr>
        <p:spPr>
          <a:xfrm>
            <a:off x="658368" y="6071616"/>
            <a:ext cx="10652760" cy="347472"/>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Source: results/final/model_comparison.csv</a:t>
            </a:r>
          </a:p>
        </p:txBody>
      </p:sp>
      <p:cxnSp>
        <p:nvCxnSpPr>
          <p:cNvPr id="13" name="Connector 12"/>
          <p:cNvCxnSpPr/>
          <p:nvPr/>
        </p:nvCxnSpPr>
        <p:spPr>
          <a:xfrm>
            <a:off x="667512" y="6483096"/>
            <a:ext cx="10844784"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658368" y="6565392"/>
            <a:ext cx="9966960" cy="246888"/>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SC6122  ·  GROUP 5</a:t>
            </a:r>
          </a:p>
        </p:txBody>
      </p:sp>
      <p:sp>
        <p:nvSpPr>
          <p:cNvPr id="15" name="TextBox 14"/>
          <p:cNvSpPr txBox="1"/>
          <p:nvPr/>
        </p:nvSpPr>
        <p:spPr>
          <a:xfrm>
            <a:off x="11091672" y="6519672"/>
            <a:ext cx="457200" cy="292608"/>
          </a:xfrm>
          <a:prstGeom prst="rect">
            <a:avLst/>
          </a:prstGeom>
          <a:noFill/>
        </p:spPr>
        <p:txBody>
          <a:bodyPr wrap="square" lIns="27432" rIns="27432" tIns="18288" bIns="18288">
            <a:spAutoFit/>
          </a:bodyPr>
          <a:lstStyle/>
          <a:p>
            <a:pPr>
              <a:spcAft>
                <a:spcPts val="700"/>
              </a:spcAft>
              <a:defRPr sz="1200" b="1">
                <a:solidFill>
                  <a:srgbClr val="187B78"/>
                </a:solidFill>
                <a:latin typeface="Arial"/>
              </a:defRPr>
            </a:pPr>
            <a:r>
              <a:t>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lIns="27432" rIns="27432" tIns="18288" bIns="18288">
            <a:spAutoFit/>
          </a:bodyPr>
          <a:lstStyle/>
          <a:p>
            <a:pPr>
              <a:spcAft>
                <a:spcPts val="700"/>
              </a:spcAft>
              <a:defRPr sz="1300" b="1">
                <a:solidFill>
                  <a:srgbClr val="187B78"/>
                </a:solidFill>
                <a:latin typeface="Arial"/>
              </a:defRPr>
            </a:pPr>
            <a:r>
              <a:t>PART 3  /  Zhou Xinzhe  /  Random forest and error analysis</a:t>
            </a:r>
          </a:p>
        </p:txBody>
      </p:sp>
      <p:sp>
        <p:nvSpPr>
          <p:cNvPr id="3" name="TextBox 2"/>
          <p:cNvSpPr txBox="1"/>
          <p:nvPr/>
        </p:nvSpPr>
        <p:spPr>
          <a:xfrm>
            <a:off x="640080" y="914400"/>
            <a:ext cx="10972800" cy="786384"/>
          </a:xfrm>
          <a:prstGeom prst="rect">
            <a:avLst/>
          </a:prstGeom>
          <a:noFill/>
        </p:spPr>
        <p:txBody>
          <a:bodyPr wrap="square" lIns="27432" rIns="27432" tIns="18288" bIns="18288">
            <a:spAutoFit/>
          </a:bodyPr>
          <a:lstStyle/>
          <a:p>
            <a:pPr>
              <a:spcAft>
                <a:spcPts val="700"/>
              </a:spcAft>
              <a:defRPr sz="3100" b="1">
                <a:solidFill>
                  <a:srgbClr val="183447"/>
                </a:solidFill>
                <a:latin typeface="Arial"/>
              </a:defRPr>
            </a:pPr>
            <a:r>
              <a:t>Random forest: which features matter?</a:t>
            </a:r>
          </a:p>
        </p:txBody>
      </p:sp>
      <p:cxnSp>
        <p:nvCxnSpPr>
          <p:cNvPr id="4" name="Connector 3"/>
          <p:cNvCxnSpPr/>
          <p:nvPr/>
        </p:nvCxnSpPr>
        <p:spPr>
          <a:xfrm>
            <a:off x="667512" y="1746504"/>
            <a:ext cx="10835640"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94944" y="1920240"/>
            <a:ext cx="6492240" cy="320040"/>
          </a:xfrm>
          <a:prstGeom prst="rect">
            <a:avLst/>
          </a:prstGeom>
          <a:noFill/>
        </p:spPr>
        <p:txBody>
          <a:bodyPr wrap="square" lIns="27432" rIns="27432" tIns="18288" bIns="18288">
            <a:spAutoFit/>
          </a:bodyPr>
          <a:lstStyle/>
          <a:p>
            <a:pPr>
              <a:spcAft>
                <a:spcPts val="700"/>
              </a:spcAft>
              <a:defRPr sz="1600" b="1">
                <a:solidFill>
                  <a:srgbClr val="187B78"/>
                </a:solidFill>
                <a:latin typeface="Arial"/>
              </a:defRPr>
            </a:pPr>
            <a:r>
              <a:t>Mean decrease in validation AP</a:t>
            </a:r>
          </a:p>
        </p:txBody>
      </p:sp>
      <p:graphicFrame>
        <p:nvGraphicFramePr>
          <p:cNvPr id="6" name="Chart 5"/>
          <p:cNvGraphicFramePr>
            <a:graphicFrameLocks noGrp="1"/>
          </p:cNvGraphicFramePr>
          <p:nvPr/>
        </p:nvGraphicFramePr>
        <p:xfrm>
          <a:off x="594360" y="2240280"/>
          <a:ext cx="6675120" cy="3429000"/>
        </p:xfrm>
        <a:graphic>
          <a:graphicData uri="http://schemas.openxmlformats.org/drawingml/2006/chart">
            <c:chart xmlns:c="http://schemas.openxmlformats.org/drawingml/2006/chart" r:id="rId2"/>
          </a:graphicData>
        </a:graphic>
      </p:graphicFrame>
      <p:cxnSp>
        <p:nvCxnSpPr>
          <p:cNvPr id="7" name="Connector 6"/>
          <p:cNvCxnSpPr/>
          <p:nvPr/>
        </p:nvCxnSpPr>
        <p:spPr>
          <a:xfrm>
            <a:off x="7562088" y="2148840"/>
            <a:ext cx="0" cy="347472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7909560" y="2029968"/>
            <a:ext cx="3639312" cy="813816"/>
          </a:xfrm>
          <a:prstGeom prst="rect">
            <a:avLst/>
          </a:prstGeom>
          <a:noFill/>
        </p:spPr>
        <p:txBody>
          <a:bodyPr wrap="square" lIns="27432" rIns="27432" tIns="18288" bIns="18288">
            <a:spAutoFit/>
          </a:bodyPr>
          <a:lstStyle/>
          <a:p>
            <a:pPr>
              <a:spcAft>
                <a:spcPts val="700"/>
              </a:spcAft>
              <a:defRPr sz="2000" b="1">
                <a:solidFill>
                  <a:srgbClr val="183447"/>
                </a:solidFill>
                <a:latin typeface="Arial"/>
              </a:defRPr>
            </a:pPr>
            <a:r>
              <a:t>PAY_0 has the largest validation AP decrease</a:t>
            </a:r>
          </a:p>
        </p:txBody>
      </p:sp>
      <p:sp>
        <p:nvSpPr>
          <p:cNvPr id="9" name="TextBox 8"/>
          <p:cNvSpPr txBox="1"/>
          <p:nvPr/>
        </p:nvSpPr>
        <p:spPr>
          <a:xfrm>
            <a:off x="7909560" y="2953512"/>
            <a:ext cx="3639312" cy="813816"/>
          </a:xfrm>
          <a:prstGeom prst="rect">
            <a:avLst/>
          </a:prstGeom>
          <a:noFill/>
        </p:spPr>
        <p:txBody>
          <a:bodyPr wrap="square" lIns="27432" rIns="27432" tIns="18288" bIns="18288">
            <a:spAutoFit/>
          </a:bodyPr>
          <a:lstStyle/>
          <a:p>
            <a:pPr>
              <a:spcAft>
                <a:spcPts val="700"/>
              </a:spcAft>
              <a:defRPr sz="2000" b="0">
                <a:solidFill>
                  <a:srgbClr val="183447"/>
                </a:solidFill>
                <a:latin typeface="Arial"/>
              </a:defRPr>
            </a:pPr>
            <a:r>
              <a:t>Permutation measures predictive reliance</a:t>
            </a:r>
          </a:p>
        </p:txBody>
      </p:sp>
      <p:sp>
        <p:nvSpPr>
          <p:cNvPr id="10" name="TextBox 9"/>
          <p:cNvSpPr txBox="1"/>
          <p:nvPr/>
        </p:nvSpPr>
        <p:spPr>
          <a:xfrm>
            <a:off x="7909560" y="3877056"/>
            <a:ext cx="3639312" cy="813816"/>
          </a:xfrm>
          <a:prstGeom prst="rect">
            <a:avLst/>
          </a:prstGeom>
          <a:noFill/>
        </p:spPr>
        <p:txBody>
          <a:bodyPr wrap="square" lIns="27432" rIns="27432" tIns="18288" bIns="18288">
            <a:spAutoFit/>
          </a:bodyPr>
          <a:lstStyle/>
          <a:p>
            <a:pPr>
              <a:spcAft>
                <a:spcPts val="700"/>
              </a:spcAft>
              <a:defRPr sz="2000" b="0">
                <a:solidFill>
                  <a:srgbClr val="183447"/>
                </a:solidFill>
                <a:latin typeface="Arial"/>
              </a:defRPr>
            </a:pPr>
            <a:r>
              <a:t>Correlated variables can substitute for each other</a:t>
            </a:r>
          </a:p>
        </p:txBody>
      </p:sp>
      <p:sp>
        <p:nvSpPr>
          <p:cNvPr id="11" name="TextBox 10"/>
          <p:cNvSpPr txBox="1"/>
          <p:nvPr/>
        </p:nvSpPr>
        <p:spPr>
          <a:xfrm>
            <a:off x="7909560" y="4965192"/>
            <a:ext cx="3639312" cy="859536"/>
          </a:xfrm>
          <a:prstGeom prst="rect">
            <a:avLst/>
          </a:prstGeom>
          <a:noFill/>
        </p:spPr>
        <p:txBody>
          <a:bodyPr wrap="square" lIns="27432" rIns="27432" tIns="18288" bIns="18288">
            <a:spAutoFit/>
          </a:bodyPr>
          <a:lstStyle/>
          <a:p>
            <a:pPr>
              <a:spcAft>
                <a:spcPts val="700"/>
              </a:spcAft>
              <a:defRPr sz="1500" b="0">
                <a:solidFill>
                  <a:srgbClr val="526575"/>
                </a:solidFill>
                <a:latin typeface="Arial"/>
              </a:defRPr>
            </a:pPr>
            <a:r>
              <a:t>Five saved shuffles per feature.</a:t>
            </a:r>
          </a:p>
          <a:p>
            <a:pPr>
              <a:spcAft>
                <a:spcPts val="700"/>
              </a:spcAft>
              <a:defRPr sz="1500" b="0">
                <a:solidFill>
                  <a:srgbClr val="526575"/>
                </a:solidFill>
                <a:latin typeface="Arial"/>
              </a:defRPr>
            </a:pPr>
            <a:r>
              <a:t>Predictive association, not causality.</a:t>
            </a:r>
          </a:p>
        </p:txBody>
      </p:sp>
      <p:sp>
        <p:nvSpPr>
          <p:cNvPr id="12" name="TextBox 11"/>
          <p:cNvSpPr txBox="1"/>
          <p:nvPr/>
        </p:nvSpPr>
        <p:spPr>
          <a:xfrm>
            <a:off x="658368" y="6071616"/>
            <a:ext cx="10652760" cy="347472"/>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Source: results/rf/validation_importance.csv</a:t>
            </a:r>
          </a:p>
        </p:txBody>
      </p:sp>
      <p:cxnSp>
        <p:nvCxnSpPr>
          <p:cNvPr id="13" name="Connector 12"/>
          <p:cNvCxnSpPr/>
          <p:nvPr/>
        </p:nvCxnSpPr>
        <p:spPr>
          <a:xfrm>
            <a:off x="667512" y="6483096"/>
            <a:ext cx="10844784"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658368" y="6565392"/>
            <a:ext cx="9966960" cy="246888"/>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SC6122  ·  GROUP 5</a:t>
            </a:r>
          </a:p>
        </p:txBody>
      </p:sp>
      <p:sp>
        <p:nvSpPr>
          <p:cNvPr id="15" name="TextBox 14"/>
          <p:cNvSpPr txBox="1"/>
          <p:nvPr/>
        </p:nvSpPr>
        <p:spPr>
          <a:xfrm>
            <a:off x="11091672" y="6519672"/>
            <a:ext cx="457200" cy="292608"/>
          </a:xfrm>
          <a:prstGeom prst="rect">
            <a:avLst/>
          </a:prstGeom>
          <a:noFill/>
        </p:spPr>
        <p:txBody>
          <a:bodyPr wrap="square" lIns="27432" rIns="27432" tIns="18288" bIns="18288">
            <a:spAutoFit/>
          </a:bodyPr>
          <a:lstStyle/>
          <a:p>
            <a:pPr>
              <a:spcAft>
                <a:spcPts val="700"/>
              </a:spcAft>
              <a:defRPr sz="1200" b="1">
                <a:solidFill>
                  <a:srgbClr val="187B78"/>
                </a:solidFill>
                <a:latin typeface="Arial"/>
              </a:defRPr>
            </a:pPr>
            <a:r>
              <a:t>08</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lIns="27432" rIns="27432" tIns="18288" bIns="18288">
            <a:spAutoFit/>
          </a:bodyPr>
          <a:lstStyle/>
          <a:p>
            <a:pPr>
              <a:spcAft>
                <a:spcPts val="700"/>
              </a:spcAft>
              <a:defRPr sz="1300" b="1">
                <a:solidFill>
                  <a:srgbClr val="187B78"/>
                </a:solidFill>
                <a:latin typeface="Arial"/>
              </a:defRPr>
            </a:pPr>
            <a:r>
              <a:t>PART 3  /  Zhou Xinzhe  /  Random forest and error analysis</a:t>
            </a:r>
          </a:p>
        </p:txBody>
      </p:sp>
      <p:sp>
        <p:nvSpPr>
          <p:cNvPr id="3" name="TextBox 2"/>
          <p:cNvSpPr txBox="1"/>
          <p:nvPr/>
        </p:nvSpPr>
        <p:spPr>
          <a:xfrm>
            <a:off x="640080" y="914400"/>
            <a:ext cx="10972800" cy="786384"/>
          </a:xfrm>
          <a:prstGeom prst="rect">
            <a:avLst/>
          </a:prstGeom>
          <a:noFill/>
        </p:spPr>
        <p:txBody>
          <a:bodyPr wrap="square" lIns="27432" rIns="27432" tIns="18288" bIns="18288">
            <a:spAutoFit/>
          </a:bodyPr>
          <a:lstStyle/>
          <a:p>
            <a:pPr>
              <a:spcAft>
                <a:spcPts val="700"/>
              </a:spcAft>
              <a:defRPr sz="3100" b="1">
                <a:solidFill>
                  <a:srgbClr val="183447"/>
                </a:solidFill>
                <a:latin typeface="Arial"/>
              </a:defRPr>
            </a:pPr>
            <a:r>
              <a:t>Random forest: two illustrative errors</a:t>
            </a:r>
          </a:p>
        </p:txBody>
      </p:sp>
      <p:cxnSp>
        <p:nvCxnSpPr>
          <p:cNvPr id="4" name="Connector 3"/>
          <p:cNvCxnSpPr/>
          <p:nvPr/>
        </p:nvCxnSpPr>
        <p:spPr>
          <a:xfrm>
            <a:off x="667512" y="1746504"/>
            <a:ext cx="10835640"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58368" y="2167128"/>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At 0.5: 637 missed defaults; 573 false alarms</a:t>
            </a:r>
          </a:p>
        </p:txBody>
      </p:sp>
      <p:cxnSp>
        <p:nvCxnSpPr>
          <p:cNvPr id="6" name="Connector 5"/>
          <p:cNvCxnSpPr/>
          <p:nvPr/>
        </p:nvCxnSpPr>
        <p:spPr>
          <a:xfrm>
            <a:off x="685800" y="3154680"/>
            <a:ext cx="4745736"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58368" y="3282696"/>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Missed default · row 982</a:t>
            </a:r>
          </a:p>
          <a:p>
            <a:pPr>
              <a:spcAft>
                <a:spcPts val="700"/>
              </a:spcAft>
              <a:defRPr sz="2300" b="0">
                <a:solidFill>
                  <a:srgbClr val="183447"/>
                </a:solidFill>
                <a:latin typeface="Arial"/>
              </a:defRPr>
            </a:pPr>
            <a:r>
              <a:t>Score 0.1012; actual default = 1</a:t>
            </a:r>
          </a:p>
        </p:txBody>
      </p:sp>
      <p:cxnSp>
        <p:nvCxnSpPr>
          <p:cNvPr id="8" name="Connector 7"/>
          <p:cNvCxnSpPr/>
          <p:nvPr/>
        </p:nvCxnSpPr>
        <p:spPr>
          <a:xfrm>
            <a:off x="685800" y="4270248"/>
            <a:ext cx="4745736"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58368" y="4398264"/>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False alarm · row 28747</a:t>
            </a:r>
          </a:p>
          <a:p>
            <a:pPr>
              <a:spcAft>
                <a:spcPts val="700"/>
              </a:spcAft>
              <a:defRPr sz="2300" b="0">
                <a:solidFill>
                  <a:srgbClr val="183447"/>
                </a:solidFill>
                <a:latin typeface="Arial"/>
              </a:defRPr>
            </a:pPr>
            <a:r>
              <a:t>Score 0.9415; actual default = 0</a:t>
            </a:r>
          </a:p>
        </p:txBody>
      </p:sp>
      <p:cxnSp>
        <p:nvCxnSpPr>
          <p:cNvPr id="10" name="Connector 9"/>
          <p:cNvCxnSpPr/>
          <p:nvPr/>
        </p:nvCxnSpPr>
        <p:spPr>
          <a:xfrm>
            <a:off x="5870448" y="2194560"/>
            <a:ext cx="0" cy="342900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6291072" y="2331720"/>
            <a:ext cx="5029200" cy="1143000"/>
          </a:xfrm>
          <a:prstGeom prst="rect">
            <a:avLst/>
          </a:prstGeom>
          <a:noFill/>
        </p:spPr>
        <p:txBody>
          <a:bodyPr wrap="square" lIns="27432" rIns="27432" tIns="18288" bIns="18288">
            <a:spAutoFit/>
          </a:bodyPr>
          <a:lstStyle/>
          <a:p>
            <a:pPr>
              <a:spcAft>
                <a:spcPts val="700"/>
              </a:spcAft>
              <a:defRPr sz="3100" b="1">
                <a:solidFill>
                  <a:srgbClr val="187B78"/>
                </a:solidFill>
                <a:latin typeface="Arial"/>
              </a:defRPr>
            </a:pPr>
            <a:r>
              <a:t>Why the predictions can fail</a:t>
            </a:r>
          </a:p>
        </p:txBody>
      </p:sp>
      <p:cxnSp>
        <p:nvCxnSpPr>
          <p:cNvPr id="12" name="Connector 11"/>
          <p:cNvCxnSpPr/>
          <p:nvPr/>
        </p:nvCxnSpPr>
        <p:spPr>
          <a:xfrm>
            <a:off x="6327648" y="3685032"/>
            <a:ext cx="1078992" cy="0"/>
          </a:xfrm>
          <a:prstGeom prst="line">
            <a:avLst/>
          </a:prstGeom>
          <a:ln w="25400">
            <a:solidFill>
              <a:srgbClr val="187B78"/>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6291072" y="4023360"/>
            <a:ext cx="5074920" cy="1600200"/>
          </a:xfrm>
          <a:prstGeom prst="rect">
            <a:avLst/>
          </a:prstGeom>
          <a:noFill/>
        </p:spPr>
        <p:txBody>
          <a:bodyPr wrap="square" lIns="27432" rIns="27432" tIns="18288" bIns="18288">
            <a:spAutoFit/>
          </a:bodyPr>
          <a:lstStyle/>
          <a:p>
            <a:pPr>
              <a:spcAft>
                <a:spcPts val="700"/>
              </a:spcAft>
              <a:defRPr sz="2100" b="0">
                <a:solidFill>
                  <a:srgbClr val="526575"/>
                </a:solidFill>
                <a:latin typeface="Arial"/>
              </a:defRPr>
            </a:pPr>
            <a:r>
              <a:t>Missed default: PAY_0 = -2</a:t>
            </a:r>
          </a:p>
          <a:p>
            <a:pPr>
              <a:spcAft>
                <a:spcPts val="700"/>
              </a:spcAft>
              <a:defRPr sz="2100" b="0">
                <a:solidFill>
                  <a:srgbClr val="526575"/>
                </a:solidFill>
                <a:latin typeface="Arial"/>
              </a:defRPr>
            </a:pPr>
            <a:r>
              <a:t>False alarm: PAY_0 = 3</a:t>
            </a:r>
          </a:p>
          <a:p>
            <a:pPr>
              <a:spcAft>
                <a:spcPts val="700"/>
              </a:spcAft>
              <a:defRPr sz="2100" b="0">
                <a:solidFill>
                  <a:srgbClr val="526575"/>
                </a:solidFill>
                <a:latin typeface="Arial"/>
              </a:defRPr>
            </a:pPr>
          </a:p>
          <a:p>
            <a:pPr>
              <a:spcAft>
                <a:spcPts val="700"/>
              </a:spcAft>
              <a:defRPr sz="2100" b="0">
                <a:solidFill>
                  <a:srgbClr val="526575"/>
                </a:solidFill>
                <a:latin typeface="Arial"/>
              </a:defRPr>
            </a:pPr>
            <a:r>
              <a:t>Illustrative extreme errors, not typical clients.</a:t>
            </a:r>
          </a:p>
        </p:txBody>
      </p:sp>
      <p:sp>
        <p:nvSpPr>
          <p:cNvPr id="14" name="TextBox 13"/>
          <p:cNvSpPr txBox="1"/>
          <p:nvPr/>
        </p:nvSpPr>
        <p:spPr>
          <a:xfrm>
            <a:off x="658368" y="6071616"/>
            <a:ext cx="10652760" cy="347472"/>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Source: results/rf/misclassification_cases_05.csv</a:t>
            </a:r>
          </a:p>
        </p:txBody>
      </p:sp>
      <p:cxnSp>
        <p:nvCxnSpPr>
          <p:cNvPr id="15" name="Connector 14"/>
          <p:cNvCxnSpPr/>
          <p:nvPr/>
        </p:nvCxnSpPr>
        <p:spPr>
          <a:xfrm>
            <a:off x="667512" y="6483096"/>
            <a:ext cx="10844784"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58368" y="6565392"/>
            <a:ext cx="9966960" cy="246888"/>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SC6122  ·  GROUP 5</a:t>
            </a:r>
          </a:p>
        </p:txBody>
      </p:sp>
      <p:sp>
        <p:nvSpPr>
          <p:cNvPr id="17" name="TextBox 16"/>
          <p:cNvSpPr txBox="1"/>
          <p:nvPr/>
        </p:nvSpPr>
        <p:spPr>
          <a:xfrm>
            <a:off x="11091672" y="6519672"/>
            <a:ext cx="457200" cy="292608"/>
          </a:xfrm>
          <a:prstGeom prst="rect">
            <a:avLst/>
          </a:prstGeom>
          <a:noFill/>
        </p:spPr>
        <p:txBody>
          <a:bodyPr wrap="square" lIns="27432" rIns="27432" tIns="18288" bIns="18288">
            <a:spAutoFit/>
          </a:bodyPr>
          <a:lstStyle/>
          <a:p>
            <a:pPr>
              <a:spcAft>
                <a:spcPts val="700"/>
              </a:spcAft>
              <a:defRPr sz="1200" b="1">
                <a:solidFill>
                  <a:srgbClr val="187B78"/>
                </a:solidFill>
                <a:latin typeface="Arial"/>
              </a:defRPr>
            </a:pPr>
            <a:r>
              <a:t>09</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lIns="27432" rIns="27432" tIns="18288" bIns="18288">
            <a:spAutoFit/>
          </a:bodyPr>
          <a:lstStyle/>
          <a:p>
            <a:pPr>
              <a:spcAft>
                <a:spcPts val="700"/>
              </a:spcAft>
              <a:defRPr sz="1300" b="1">
                <a:solidFill>
                  <a:srgbClr val="187B78"/>
                </a:solidFill>
                <a:latin typeface="Arial"/>
              </a:defRPr>
            </a:pPr>
            <a:r>
              <a:t>PART 4  /  Xu Yiqun  /  XGBoost and threshold trade-offs</a:t>
            </a:r>
          </a:p>
        </p:txBody>
      </p:sp>
      <p:sp>
        <p:nvSpPr>
          <p:cNvPr id="3" name="TextBox 2"/>
          <p:cNvSpPr txBox="1"/>
          <p:nvPr/>
        </p:nvSpPr>
        <p:spPr>
          <a:xfrm>
            <a:off x="640080" y="914400"/>
            <a:ext cx="10972800" cy="786384"/>
          </a:xfrm>
          <a:prstGeom prst="rect">
            <a:avLst/>
          </a:prstGeom>
          <a:noFill/>
        </p:spPr>
        <p:txBody>
          <a:bodyPr wrap="square" lIns="27432" rIns="27432" tIns="18288" bIns="18288">
            <a:spAutoFit/>
          </a:bodyPr>
          <a:lstStyle/>
          <a:p>
            <a:pPr>
              <a:spcAft>
                <a:spcPts val="700"/>
              </a:spcAft>
              <a:defRPr sz="3100" b="1">
                <a:solidFill>
                  <a:srgbClr val="183447"/>
                </a:solidFill>
                <a:latin typeface="Arial"/>
              </a:defRPr>
            </a:pPr>
            <a:r>
              <a:t>XGBoost: no gain in test ranking</a:t>
            </a:r>
          </a:p>
        </p:txBody>
      </p:sp>
      <p:cxnSp>
        <p:nvCxnSpPr>
          <p:cNvPr id="4" name="Connector 3"/>
          <p:cNvCxnSpPr/>
          <p:nvPr/>
        </p:nvCxnSpPr>
        <p:spPr>
          <a:xfrm>
            <a:off x="667512" y="1746504"/>
            <a:ext cx="10835640"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94944" y="1920240"/>
            <a:ext cx="6492240" cy="320040"/>
          </a:xfrm>
          <a:prstGeom prst="rect">
            <a:avLst/>
          </a:prstGeom>
          <a:noFill/>
        </p:spPr>
        <p:txBody>
          <a:bodyPr wrap="square" lIns="27432" rIns="27432" tIns="18288" bIns="18288">
            <a:spAutoFit/>
          </a:bodyPr>
          <a:lstStyle/>
          <a:p>
            <a:pPr>
              <a:spcAft>
                <a:spcPts val="700"/>
              </a:spcAft>
              <a:defRPr sz="1600" b="1">
                <a:solidFill>
                  <a:srgbClr val="187B78"/>
                </a:solidFill>
                <a:latin typeface="Arial"/>
              </a:defRPr>
            </a:pPr>
            <a:r>
              <a:t>Test average precision</a:t>
            </a:r>
          </a:p>
        </p:txBody>
      </p:sp>
      <p:graphicFrame>
        <p:nvGraphicFramePr>
          <p:cNvPr id="6" name="Chart 5"/>
          <p:cNvGraphicFramePr>
            <a:graphicFrameLocks noGrp="1"/>
          </p:cNvGraphicFramePr>
          <p:nvPr/>
        </p:nvGraphicFramePr>
        <p:xfrm>
          <a:off x="594360" y="2240280"/>
          <a:ext cx="6675120" cy="3429000"/>
        </p:xfrm>
        <a:graphic>
          <a:graphicData uri="http://schemas.openxmlformats.org/drawingml/2006/chart">
            <c:chart xmlns:c="http://schemas.openxmlformats.org/drawingml/2006/chart" r:id="rId2"/>
          </a:graphicData>
        </a:graphic>
      </p:graphicFrame>
      <p:cxnSp>
        <p:nvCxnSpPr>
          <p:cNvPr id="7" name="Connector 6"/>
          <p:cNvCxnSpPr/>
          <p:nvPr/>
        </p:nvCxnSpPr>
        <p:spPr>
          <a:xfrm>
            <a:off x="7562088" y="2148840"/>
            <a:ext cx="0" cy="347472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7909560" y="2029968"/>
            <a:ext cx="3639312" cy="813816"/>
          </a:xfrm>
          <a:prstGeom prst="rect">
            <a:avLst/>
          </a:prstGeom>
          <a:noFill/>
        </p:spPr>
        <p:txBody>
          <a:bodyPr wrap="square" lIns="27432" rIns="27432" tIns="18288" bIns="18288">
            <a:spAutoFit/>
          </a:bodyPr>
          <a:lstStyle/>
          <a:p>
            <a:pPr>
              <a:spcAft>
                <a:spcPts val="700"/>
              </a:spcAft>
              <a:defRPr sz="2000" b="1">
                <a:solidFill>
                  <a:srgbClr val="183447"/>
                </a:solidFill>
                <a:latin typeface="Arial"/>
              </a:defRPr>
            </a:pPr>
            <a:r>
              <a:t>24 configurations; select by CV AP</a:t>
            </a:r>
          </a:p>
        </p:txBody>
      </p:sp>
      <p:sp>
        <p:nvSpPr>
          <p:cNvPr id="9" name="TextBox 8"/>
          <p:cNvSpPr txBox="1"/>
          <p:nvPr/>
        </p:nvSpPr>
        <p:spPr>
          <a:xfrm>
            <a:off x="7909560" y="2953512"/>
            <a:ext cx="3639312" cy="813816"/>
          </a:xfrm>
          <a:prstGeom prst="rect">
            <a:avLst/>
          </a:prstGeom>
          <a:noFill/>
        </p:spPr>
        <p:txBody>
          <a:bodyPr wrap="square" lIns="27432" rIns="27432" tIns="18288" bIns="18288">
            <a:spAutoFit/>
          </a:bodyPr>
          <a:lstStyle/>
          <a:p>
            <a:pPr>
              <a:spcAft>
                <a:spcPts val="700"/>
              </a:spcAft>
              <a:defRPr sz="2000" b="0">
                <a:solidFill>
                  <a:srgbClr val="183447"/>
                </a:solidFill>
                <a:latin typeface="Arial"/>
              </a:defRPr>
            </a:pPr>
            <a:r>
              <a:t>Selected: 150 trees, depth 4, rate 0.03</a:t>
            </a:r>
          </a:p>
        </p:txBody>
      </p:sp>
      <p:sp>
        <p:nvSpPr>
          <p:cNvPr id="10" name="TextBox 9"/>
          <p:cNvSpPr txBox="1"/>
          <p:nvPr/>
        </p:nvSpPr>
        <p:spPr>
          <a:xfrm>
            <a:off x="7909560" y="3877056"/>
            <a:ext cx="3639312" cy="813816"/>
          </a:xfrm>
          <a:prstGeom prst="rect">
            <a:avLst/>
          </a:prstGeom>
          <a:noFill/>
        </p:spPr>
        <p:txBody>
          <a:bodyPr wrap="square" lIns="27432" rIns="27432" tIns="18288" bIns="18288">
            <a:spAutoFit/>
          </a:bodyPr>
          <a:lstStyle/>
          <a:p>
            <a:pPr>
              <a:spcAft>
                <a:spcPts val="700"/>
              </a:spcAft>
              <a:defRPr sz="2000" b="0">
                <a:solidFill>
                  <a:srgbClr val="183447"/>
                </a:solidFill>
                <a:latin typeface="Arial"/>
              </a:defRPr>
            </a:pPr>
            <a:r>
              <a:t>Selected ROC-AUC: 0.7762</a:t>
            </a:r>
          </a:p>
        </p:txBody>
      </p:sp>
      <p:sp>
        <p:nvSpPr>
          <p:cNvPr id="11" name="TextBox 10"/>
          <p:cNvSpPr txBox="1"/>
          <p:nvPr/>
        </p:nvSpPr>
        <p:spPr>
          <a:xfrm>
            <a:off x="7909560" y="4965192"/>
            <a:ext cx="3639312" cy="859536"/>
          </a:xfrm>
          <a:prstGeom prst="rect">
            <a:avLst/>
          </a:prstGeom>
          <a:noFill/>
        </p:spPr>
        <p:txBody>
          <a:bodyPr wrap="square" lIns="27432" rIns="27432" tIns="18288" bIns="18288">
            <a:spAutoFit/>
          </a:bodyPr>
          <a:lstStyle/>
          <a:p>
            <a:pPr>
              <a:spcAft>
                <a:spcPts val="700"/>
              </a:spcAft>
              <a:defRPr sz="1500" b="0">
                <a:solidFill>
                  <a:srgbClr val="526575"/>
                </a:solidFill>
                <a:latin typeface="Arial"/>
              </a:defRPr>
            </a:pPr>
            <a:r>
              <a:t>Tuned − baseline AP: -0.0028</a:t>
            </a:r>
          </a:p>
          <a:p>
            <a:pPr>
              <a:spcAft>
                <a:spcPts val="700"/>
              </a:spcAft>
              <a:defRPr sz="1500" b="0">
                <a:solidFill>
                  <a:srgbClr val="526575"/>
                </a:solidFill>
                <a:latin typeface="Arial"/>
              </a:defRPr>
            </a:pPr>
            <a:r>
              <a:t>Conditional 95% interval: [-0.0106, 0.0054]</a:t>
            </a:r>
          </a:p>
        </p:txBody>
      </p:sp>
      <p:sp>
        <p:nvSpPr>
          <p:cNvPr id="12" name="TextBox 11"/>
          <p:cNvSpPr txBox="1"/>
          <p:nvPr/>
        </p:nvSpPr>
        <p:spPr>
          <a:xfrm>
            <a:off x="658368" y="6071616"/>
            <a:ext cx="10652760" cy="347472"/>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Source: results/final/model_comparison.csv</a:t>
            </a:r>
          </a:p>
        </p:txBody>
      </p:sp>
      <p:cxnSp>
        <p:nvCxnSpPr>
          <p:cNvPr id="13" name="Connector 12"/>
          <p:cNvCxnSpPr/>
          <p:nvPr/>
        </p:nvCxnSpPr>
        <p:spPr>
          <a:xfrm>
            <a:off x="667512" y="6483096"/>
            <a:ext cx="10844784"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658368" y="6565392"/>
            <a:ext cx="9966960" cy="246888"/>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SC6122  ·  GROUP 5</a:t>
            </a:r>
          </a:p>
        </p:txBody>
      </p:sp>
      <p:sp>
        <p:nvSpPr>
          <p:cNvPr id="15" name="TextBox 14"/>
          <p:cNvSpPr txBox="1"/>
          <p:nvPr/>
        </p:nvSpPr>
        <p:spPr>
          <a:xfrm>
            <a:off x="11091672" y="6519672"/>
            <a:ext cx="457200" cy="292608"/>
          </a:xfrm>
          <a:prstGeom prst="rect">
            <a:avLst/>
          </a:prstGeom>
          <a:noFill/>
        </p:spPr>
        <p:txBody>
          <a:bodyPr wrap="square" lIns="27432" rIns="27432" tIns="18288" bIns="18288">
            <a:spAutoFit/>
          </a:bodyPr>
          <a:lstStyle/>
          <a:p>
            <a:pPr>
              <a:spcAft>
                <a:spcPts val="700"/>
              </a:spcAft>
              <a:defRPr sz="1200" b="1">
                <a:solidFill>
                  <a:srgbClr val="187B78"/>
                </a:solidFill>
                <a:latin typeface="Arial"/>
              </a:defRPr>
            </a:pPr>
            <a:r>
              <a:t>10</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lIns="27432" rIns="27432" tIns="18288" bIns="18288">
            <a:spAutoFit/>
          </a:bodyPr>
          <a:lstStyle/>
          <a:p>
            <a:pPr>
              <a:spcAft>
                <a:spcPts val="700"/>
              </a:spcAft>
              <a:defRPr sz="1300" b="1">
                <a:solidFill>
                  <a:srgbClr val="187B78"/>
                </a:solidFill>
                <a:latin typeface="Arial"/>
              </a:defRPr>
            </a:pPr>
            <a:r>
              <a:t>PART 4  /  Xu Yiqun  /  XGBoost and threshold trade-offs</a:t>
            </a:r>
          </a:p>
        </p:txBody>
      </p:sp>
      <p:sp>
        <p:nvSpPr>
          <p:cNvPr id="3" name="TextBox 2"/>
          <p:cNvSpPr txBox="1"/>
          <p:nvPr/>
        </p:nvSpPr>
        <p:spPr>
          <a:xfrm>
            <a:off x="640080" y="914400"/>
            <a:ext cx="10972800" cy="786384"/>
          </a:xfrm>
          <a:prstGeom prst="rect">
            <a:avLst/>
          </a:prstGeom>
          <a:noFill/>
        </p:spPr>
        <p:txBody>
          <a:bodyPr wrap="square" lIns="27432" rIns="27432" tIns="18288" bIns="18288">
            <a:spAutoFit/>
          </a:bodyPr>
          <a:lstStyle/>
          <a:p>
            <a:pPr>
              <a:spcAft>
                <a:spcPts val="700"/>
              </a:spcAft>
              <a:defRPr sz="3100" b="1">
                <a:solidFill>
                  <a:srgbClr val="183447"/>
                </a:solidFill>
                <a:latin typeface="Arial"/>
              </a:defRPr>
            </a:pPr>
            <a:r>
              <a:t>XGBoost: fewer misses, more reviews</a:t>
            </a:r>
          </a:p>
        </p:txBody>
      </p:sp>
      <p:cxnSp>
        <p:nvCxnSpPr>
          <p:cNvPr id="4" name="Connector 3"/>
          <p:cNvCxnSpPr/>
          <p:nvPr/>
        </p:nvCxnSpPr>
        <p:spPr>
          <a:xfrm>
            <a:off x="667512" y="1746504"/>
            <a:ext cx="10835640"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94944" y="1920240"/>
            <a:ext cx="6492240" cy="320040"/>
          </a:xfrm>
          <a:prstGeom prst="rect">
            <a:avLst/>
          </a:prstGeom>
          <a:noFill/>
        </p:spPr>
        <p:txBody>
          <a:bodyPr wrap="square" lIns="27432" rIns="27432" tIns="18288" bIns="18288">
            <a:spAutoFit/>
          </a:bodyPr>
          <a:lstStyle/>
          <a:p>
            <a:pPr>
              <a:spcAft>
                <a:spcPts val="700"/>
              </a:spcAft>
              <a:defRPr sz="1600" b="1">
                <a:solidFill>
                  <a:srgbClr val="187B78"/>
                </a:solidFill>
                <a:latin typeface="Arial"/>
              </a:defRPr>
            </a:pPr>
            <a:r>
              <a:t>Test confusion trade-off</a:t>
            </a:r>
          </a:p>
        </p:txBody>
      </p:sp>
      <p:graphicFrame>
        <p:nvGraphicFramePr>
          <p:cNvPr id="6" name="Chart 5"/>
          <p:cNvGraphicFramePr>
            <a:graphicFrameLocks noGrp="1"/>
          </p:cNvGraphicFramePr>
          <p:nvPr/>
        </p:nvGraphicFramePr>
        <p:xfrm>
          <a:off x="594360" y="2240280"/>
          <a:ext cx="6675120" cy="3429000"/>
        </p:xfrm>
        <a:graphic>
          <a:graphicData uri="http://schemas.openxmlformats.org/drawingml/2006/chart">
            <c:chart xmlns:c="http://schemas.openxmlformats.org/drawingml/2006/chart" r:id="rId2"/>
          </a:graphicData>
        </a:graphic>
      </p:graphicFrame>
      <p:cxnSp>
        <p:nvCxnSpPr>
          <p:cNvPr id="7" name="Connector 6"/>
          <p:cNvCxnSpPr/>
          <p:nvPr/>
        </p:nvCxnSpPr>
        <p:spPr>
          <a:xfrm>
            <a:off x="7562088" y="2148840"/>
            <a:ext cx="0" cy="347472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8" name="TextBox 7"/>
          <p:cNvSpPr txBox="1"/>
          <p:nvPr/>
        </p:nvSpPr>
        <p:spPr>
          <a:xfrm>
            <a:off x="7909560" y="2029968"/>
            <a:ext cx="3639312" cy="813816"/>
          </a:xfrm>
          <a:prstGeom prst="rect">
            <a:avLst/>
          </a:prstGeom>
          <a:noFill/>
        </p:spPr>
        <p:txBody>
          <a:bodyPr wrap="square" lIns="27432" rIns="27432" tIns="18288" bIns="18288">
            <a:spAutoFit/>
          </a:bodyPr>
          <a:lstStyle/>
          <a:p>
            <a:pPr>
              <a:spcAft>
                <a:spcPts val="700"/>
              </a:spcAft>
              <a:defRPr sz="2000" b="1">
                <a:solidFill>
                  <a:srgbClr val="183447"/>
                </a:solidFill>
                <a:latin typeface="Arial"/>
              </a:defRPr>
            </a:pPr>
            <a:r>
              <a:t>Validation r=5 cutoff: 0.3150</a:t>
            </a:r>
          </a:p>
        </p:txBody>
      </p:sp>
      <p:sp>
        <p:nvSpPr>
          <p:cNvPr id="9" name="TextBox 8"/>
          <p:cNvSpPr txBox="1"/>
          <p:nvPr/>
        </p:nvSpPr>
        <p:spPr>
          <a:xfrm>
            <a:off x="7909560" y="2953512"/>
            <a:ext cx="3639312" cy="813816"/>
          </a:xfrm>
          <a:prstGeom prst="rect">
            <a:avLst/>
          </a:prstGeom>
          <a:noFill/>
        </p:spPr>
        <p:txBody>
          <a:bodyPr wrap="square" lIns="27432" rIns="27432" tIns="18288" bIns="18288">
            <a:spAutoFit/>
          </a:bodyPr>
          <a:lstStyle/>
          <a:p>
            <a:pPr>
              <a:spcAft>
                <a:spcPts val="700"/>
              </a:spcAft>
              <a:defRPr sz="2000" b="0">
                <a:solidFill>
                  <a:srgbClr val="183447"/>
                </a:solidFill>
                <a:latin typeface="Arial"/>
              </a:defRPr>
            </a:pPr>
            <a:r>
              <a:t>Recall 54.9% → 82.5%; alerts 55.7%</a:t>
            </a:r>
          </a:p>
        </p:txBody>
      </p:sp>
      <p:sp>
        <p:nvSpPr>
          <p:cNvPr id="10" name="TextBox 9"/>
          <p:cNvSpPr txBox="1"/>
          <p:nvPr/>
        </p:nvSpPr>
        <p:spPr>
          <a:xfrm>
            <a:off x="7909560" y="3877056"/>
            <a:ext cx="3639312" cy="813816"/>
          </a:xfrm>
          <a:prstGeom prst="rect">
            <a:avLst/>
          </a:prstGeom>
          <a:noFill/>
        </p:spPr>
        <p:txBody>
          <a:bodyPr wrap="square" lIns="27432" rIns="27432" tIns="18288" bIns="18288">
            <a:spAutoFit/>
          </a:bodyPr>
          <a:lstStyle/>
          <a:p>
            <a:pPr>
              <a:spcAft>
                <a:spcPts val="700"/>
              </a:spcAft>
              <a:defRPr sz="2000" b="0">
                <a:solidFill>
                  <a:srgbClr val="183447"/>
                </a:solidFill>
                <a:latin typeface="Arial"/>
              </a:defRPr>
            </a:pPr>
            <a:r>
              <a:t>Cost 3,685 → 3,408: 7.5% reduction</a:t>
            </a:r>
          </a:p>
        </p:txBody>
      </p:sp>
      <p:sp>
        <p:nvSpPr>
          <p:cNvPr id="11" name="TextBox 10"/>
          <p:cNvSpPr txBox="1"/>
          <p:nvPr/>
        </p:nvSpPr>
        <p:spPr>
          <a:xfrm>
            <a:off x="7909560" y="4965192"/>
            <a:ext cx="3639312" cy="859536"/>
          </a:xfrm>
          <a:prstGeom prst="rect">
            <a:avLst/>
          </a:prstGeom>
          <a:noFill/>
        </p:spPr>
        <p:txBody>
          <a:bodyPr wrap="square" lIns="27432" rIns="27432" tIns="18288" bIns="18288">
            <a:spAutoFit/>
          </a:bodyPr>
          <a:lstStyle/>
          <a:p>
            <a:pPr>
              <a:spcAft>
                <a:spcPts val="700"/>
              </a:spcAft>
              <a:defRPr sz="1500" b="0">
                <a:solidFill>
                  <a:srgbClr val="526575"/>
                </a:solidFill>
                <a:latin typeface="Arial"/>
              </a:defRPr>
            </a:pPr>
            <a:r>
              <a:t>Same ranking scores, different action policy.</a:t>
            </a:r>
          </a:p>
          <a:p>
            <a:pPr>
              <a:spcAft>
                <a:spcPts val="700"/>
              </a:spcAft>
              <a:defRPr sz="1500" b="0">
                <a:solidFill>
                  <a:srgbClr val="526575"/>
                </a:solidFill>
                <a:latin typeface="Arial"/>
              </a:defRPr>
            </a:pPr>
            <a:r>
              <a:t>Review costs are hypothetical; capacity is unmeasured.</a:t>
            </a:r>
          </a:p>
        </p:txBody>
      </p:sp>
      <p:sp>
        <p:nvSpPr>
          <p:cNvPr id="12" name="TextBox 11"/>
          <p:cNvSpPr txBox="1"/>
          <p:nvPr/>
        </p:nvSpPr>
        <p:spPr>
          <a:xfrm>
            <a:off x="658368" y="6071616"/>
            <a:ext cx="10652760" cy="347472"/>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Source: results/final/model_comparison.csv</a:t>
            </a:r>
          </a:p>
        </p:txBody>
      </p:sp>
      <p:cxnSp>
        <p:nvCxnSpPr>
          <p:cNvPr id="13" name="Connector 12"/>
          <p:cNvCxnSpPr/>
          <p:nvPr/>
        </p:nvCxnSpPr>
        <p:spPr>
          <a:xfrm>
            <a:off x="667512" y="6483096"/>
            <a:ext cx="10844784"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4" name="TextBox 13"/>
          <p:cNvSpPr txBox="1"/>
          <p:nvPr/>
        </p:nvSpPr>
        <p:spPr>
          <a:xfrm>
            <a:off x="658368" y="6565392"/>
            <a:ext cx="9966960" cy="246888"/>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SC6122  ·  GROUP 5</a:t>
            </a:r>
          </a:p>
        </p:txBody>
      </p:sp>
      <p:sp>
        <p:nvSpPr>
          <p:cNvPr id="15" name="TextBox 14"/>
          <p:cNvSpPr txBox="1"/>
          <p:nvPr/>
        </p:nvSpPr>
        <p:spPr>
          <a:xfrm>
            <a:off x="11091672" y="6519672"/>
            <a:ext cx="457200" cy="292608"/>
          </a:xfrm>
          <a:prstGeom prst="rect">
            <a:avLst/>
          </a:prstGeom>
          <a:noFill/>
        </p:spPr>
        <p:txBody>
          <a:bodyPr wrap="square" lIns="27432" rIns="27432" tIns="18288" bIns="18288">
            <a:spAutoFit/>
          </a:bodyPr>
          <a:lstStyle/>
          <a:p>
            <a:pPr>
              <a:spcAft>
                <a:spcPts val="700"/>
              </a:spcAft>
              <a:defRPr sz="1200" b="1">
                <a:solidFill>
                  <a:srgbClr val="187B78"/>
                </a:solidFill>
                <a:latin typeface="Arial"/>
              </a:defRPr>
            </a:pPr>
            <a:r>
              <a:t>11</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lIns="27432" rIns="27432" tIns="18288" bIns="18288">
            <a:spAutoFit/>
          </a:bodyPr>
          <a:lstStyle/>
          <a:p>
            <a:pPr>
              <a:spcAft>
                <a:spcPts val="700"/>
              </a:spcAft>
              <a:defRPr sz="1300" b="1">
                <a:solidFill>
                  <a:srgbClr val="187B78"/>
                </a:solidFill>
                <a:latin typeface="Arial"/>
              </a:defRPr>
            </a:pPr>
            <a:r>
              <a:t>PART 4  /  Xu Yiqun  /  XGBoost and threshold trade-offs</a:t>
            </a:r>
          </a:p>
        </p:txBody>
      </p:sp>
      <p:sp>
        <p:nvSpPr>
          <p:cNvPr id="3" name="TextBox 2"/>
          <p:cNvSpPr txBox="1"/>
          <p:nvPr/>
        </p:nvSpPr>
        <p:spPr>
          <a:xfrm>
            <a:off x="640080" y="914400"/>
            <a:ext cx="10972800" cy="786384"/>
          </a:xfrm>
          <a:prstGeom prst="rect">
            <a:avLst/>
          </a:prstGeom>
          <a:noFill/>
        </p:spPr>
        <p:txBody>
          <a:bodyPr wrap="square" lIns="27432" rIns="27432" tIns="18288" bIns="18288">
            <a:spAutoFit/>
          </a:bodyPr>
          <a:lstStyle/>
          <a:p>
            <a:pPr>
              <a:spcAft>
                <a:spcPts val="700"/>
              </a:spcAft>
              <a:defRPr sz="3100" b="1">
                <a:solidFill>
                  <a:srgbClr val="183447"/>
                </a:solidFill>
                <a:latin typeface="Arial"/>
              </a:defRPr>
            </a:pPr>
            <a:r>
              <a:t>What the results mean for credit review</a:t>
            </a:r>
          </a:p>
        </p:txBody>
      </p:sp>
      <p:cxnSp>
        <p:nvCxnSpPr>
          <p:cNvPr id="4" name="Connector 3"/>
          <p:cNvCxnSpPr/>
          <p:nvPr/>
        </p:nvCxnSpPr>
        <p:spPr>
          <a:xfrm>
            <a:off x="667512" y="1746504"/>
            <a:ext cx="10835640"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58368" y="2167128"/>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Ranking, explanations, and workload need separate evidence</a:t>
            </a:r>
          </a:p>
        </p:txBody>
      </p:sp>
      <p:cxnSp>
        <p:nvCxnSpPr>
          <p:cNvPr id="6" name="Connector 5"/>
          <p:cNvCxnSpPr/>
          <p:nvPr/>
        </p:nvCxnSpPr>
        <p:spPr>
          <a:xfrm>
            <a:off x="685800" y="3154680"/>
            <a:ext cx="4745736"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58368" y="3282696"/>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No clear ensemble winner from these small differences</a:t>
            </a:r>
          </a:p>
        </p:txBody>
      </p:sp>
      <p:cxnSp>
        <p:nvCxnSpPr>
          <p:cNvPr id="8" name="Connector 7"/>
          <p:cNvCxnSpPr/>
          <p:nvPr/>
        </p:nvCxnSpPr>
        <p:spPr>
          <a:xfrm>
            <a:off x="685800" y="4270248"/>
            <a:ext cx="4745736"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58368" y="4398264"/>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Next: fresh temporal data, calibration, subgroup errors</a:t>
            </a:r>
          </a:p>
        </p:txBody>
      </p:sp>
      <p:cxnSp>
        <p:nvCxnSpPr>
          <p:cNvPr id="10" name="Connector 9"/>
          <p:cNvCxnSpPr/>
          <p:nvPr/>
        </p:nvCxnSpPr>
        <p:spPr>
          <a:xfrm>
            <a:off x="5870448" y="2194560"/>
            <a:ext cx="0" cy="342900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6291072" y="2331720"/>
            <a:ext cx="5029200" cy="1143000"/>
          </a:xfrm>
          <a:prstGeom prst="rect">
            <a:avLst/>
          </a:prstGeom>
          <a:noFill/>
        </p:spPr>
        <p:txBody>
          <a:bodyPr wrap="square" lIns="27432" rIns="27432" tIns="18288" bIns="18288">
            <a:spAutoFit/>
          </a:bodyPr>
          <a:lstStyle/>
          <a:p>
            <a:pPr>
              <a:spcAft>
                <a:spcPts val="700"/>
              </a:spcAft>
              <a:defRPr sz="3100" b="1">
                <a:solidFill>
                  <a:srgbClr val="187B78"/>
                </a:solidFill>
                <a:latin typeface="Arial"/>
              </a:defRPr>
            </a:pPr>
            <a:r>
              <a:t>Discussion</a:t>
            </a:r>
          </a:p>
        </p:txBody>
      </p:sp>
      <p:cxnSp>
        <p:nvCxnSpPr>
          <p:cNvPr id="12" name="Connector 11"/>
          <p:cNvCxnSpPr/>
          <p:nvPr/>
        </p:nvCxnSpPr>
        <p:spPr>
          <a:xfrm>
            <a:off x="6327648" y="3685032"/>
            <a:ext cx="1078992" cy="0"/>
          </a:xfrm>
          <a:prstGeom prst="line">
            <a:avLst/>
          </a:prstGeom>
          <a:ln w="25400">
            <a:solidFill>
              <a:srgbClr val="187B78"/>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6291072" y="4023360"/>
            <a:ext cx="5074920" cy="1600200"/>
          </a:xfrm>
          <a:prstGeom prst="rect">
            <a:avLst/>
          </a:prstGeom>
          <a:noFill/>
        </p:spPr>
        <p:txBody>
          <a:bodyPr wrap="square" lIns="27432" rIns="27432" tIns="18288" bIns="18288">
            <a:spAutoFit/>
          </a:bodyPr>
          <a:lstStyle/>
          <a:p>
            <a:pPr>
              <a:spcAft>
                <a:spcPts val="700"/>
              </a:spcAft>
              <a:defRPr sz="2100" b="0">
                <a:solidFill>
                  <a:srgbClr val="526575"/>
                </a:solidFill>
                <a:latin typeface="Arial"/>
              </a:defRPr>
            </a:pPr>
            <a:r>
              <a:t>Set realistic costs and review capacity.</a:t>
            </a:r>
          </a:p>
          <a:p>
            <a:pPr>
              <a:spcAft>
                <a:spcPts val="700"/>
              </a:spcAft>
              <a:defRPr sz="2100" b="0">
                <a:solidFill>
                  <a:srgbClr val="526575"/>
                </a:solidFill>
                <a:latin typeface="Arial"/>
              </a:defRPr>
            </a:pPr>
            <a:r>
              <a:t>Validate the policy on fresh data.</a:t>
            </a:r>
          </a:p>
        </p:txBody>
      </p:sp>
      <p:sp>
        <p:nvSpPr>
          <p:cNvPr id="14" name="TextBox 13"/>
          <p:cNvSpPr txBox="1"/>
          <p:nvPr/>
        </p:nvSpPr>
        <p:spPr>
          <a:xfrm>
            <a:off x="658368" y="6071616"/>
            <a:ext cx="10652760" cy="347472"/>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Historical educational study; no causal or deployment-readiness claim.</a:t>
            </a:r>
          </a:p>
        </p:txBody>
      </p:sp>
      <p:cxnSp>
        <p:nvCxnSpPr>
          <p:cNvPr id="15" name="Connector 14"/>
          <p:cNvCxnSpPr/>
          <p:nvPr/>
        </p:nvCxnSpPr>
        <p:spPr>
          <a:xfrm>
            <a:off x="667512" y="6483096"/>
            <a:ext cx="10844784"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58368" y="6565392"/>
            <a:ext cx="9966960" cy="246888"/>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SC6122  ·  GROUP 5</a:t>
            </a:r>
          </a:p>
        </p:txBody>
      </p:sp>
      <p:sp>
        <p:nvSpPr>
          <p:cNvPr id="17" name="TextBox 16"/>
          <p:cNvSpPr txBox="1"/>
          <p:nvPr/>
        </p:nvSpPr>
        <p:spPr>
          <a:xfrm>
            <a:off x="11091672" y="6519672"/>
            <a:ext cx="457200" cy="292608"/>
          </a:xfrm>
          <a:prstGeom prst="rect">
            <a:avLst/>
          </a:prstGeom>
          <a:noFill/>
        </p:spPr>
        <p:txBody>
          <a:bodyPr wrap="square" lIns="27432" rIns="27432" tIns="18288" bIns="18288">
            <a:spAutoFit/>
          </a:bodyPr>
          <a:lstStyle/>
          <a:p>
            <a:pPr>
              <a:spcAft>
                <a:spcPts val="700"/>
              </a:spcAft>
              <a:defRPr sz="1200" b="1">
                <a:solidFill>
                  <a:srgbClr val="187B78"/>
                </a:solidFill>
                <a:latin typeface="Arial"/>
              </a:defRPr>
            </a:pPr>
            <a:r>
              <a:t>12</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lIns="27432" rIns="27432" tIns="18288" bIns="18288">
            <a:spAutoFit/>
          </a:bodyPr>
          <a:lstStyle/>
          <a:p>
            <a:pPr>
              <a:spcAft>
                <a:spcPts val="700"/>
              </a:spcAft>
              <a:defRPr sz="1300" b="1">
                <a:solidFill>
                  <a:srgbClr val="187B78"/>
                </a:solidFill>
                <a:latin typeface="Arial"/>
              </a:defRPr>
            </a:pPr>
            <a:r>
              <a:t>Q&amp;A BACKUP  /  Zhang Hanyu  /  Decision tree and overfitting</a:t>
            </a:r>
          </a:p>
        </p:txBody>
      </p:sp>
      <p:sp>
        <p:nvSpPr>
          <p:cNvPr id="3" name="TextBox 2"/>
          <p:cNvSpPr txBox="1"/>
          <p:nvPr/>
        </p:nvSpPr>
        <p:spPr>
          <a:xfrm>
            <a:off x="640080" y="914400"/>
            <a:ext cx="10972800" cy="786384"/>
          </a:xfrm>
          <a:prstGeom prst="rect">
            <a:avLst/>
          </a:prstGeom>
          <a:noFill/>
        </p:spPr>
        <p:txBody>
          <a:bodyPr wrap="square" lIns="27432" rIns="27432" tIns="18288" bIns="18288">
            <a:spAutoFit/>
          </a:bodyPr>
          <a:lstStyle/>
          <a:p>
            <a:pPr>
              <a:spcAft>
                <a:spcPts val="700"/>
              </a:spcAft>
              <a:defRPr sz="3100" b="1">
                <a:solidFill>
                  <a:srgbClr val="183447"/>
                </a:solidFill>
                <a:latin typeface="Arial"/>
              </a:defRPr>
            </a:pPr>
            <a:r>
              <a:t>Backup A • AP, ROC-AUC and threshold metrics</a:t>
            </a:r>
          </a:p>
        </p:txBody>
      </p:sp>
      <p:cxnSp>
        <p:nvCxnSpPr>
          <p:cNvPr id="4" name="Connector 3"/>
          <p:cNvCxnSpPr/>
          <p:nvPr/>
        </p:nvCxnSpPr>
        <p:spPr>
          <a:xfrm>
            <a:off x="667512" y="1746504"/>
            <a:ext cx="10835640"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58368" y="2167128"/>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AP = sum of recall increments × precision</a:t>
            </a:r>
          </a:p>
        </p:txBody>
      </p:sp>
      <p:cxnSp>
        <p:nvCxnSpPr>
          <p:cNvPr id="6" name="Connector 5"/>
          <p:cNvCxnSpPr/>
          <p:nvPr/>
        </p:nvCxnSpPr>
        <p:spPr>
          <a:xfrm>
            <a:off x="685800" y="3154680"/>
            <a:ext cx="4745736"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58368" y="3282696"/>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ROC-AUC measures positive/negative score ordering</a:t>
            </a:r>
          </a:p>
        </p:txBody>
      </p:sp>
      <p:cxnSp>
        <p:nvCxnSpPr>
          <p:cNvPr id="8" name="Connector 7"/>
          <p:cNvCxnSpPr/>
          <p:nvPr/>
        </p:nvCxnSpPr>
        <p:spPr>
          <a:xfrm>
            <a:off x="685800" y="4270248"/>
            <a:ext cx="4745736"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58368" y="4398264"/>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Precision, recall, F1 and accuracy require a threshold</a:t>
            </a:r>
          </a:p>
        </p:txBody>
      </p:sp>
      <p:cxnSp>
        <p:nvCxnSpPr>
          <p:cNvPr id="10" name="Connector 9"/>
          <p:cNvCxnSpPr/>
          <p:nvPr/>
        </p:nvCxnSpPr>
        <p:spPr>
          <a:xfrm>
            <a:off x="5870448" y="2194560"/>
            <a:ext cx="0" cy="342900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6291072" y="2331720"/>
            <a:ext cx="5029200" cy="1143000"/>
          </a:xfrm>
          <a:prstGeom prst="rect">
            <a:avLst/>
          </a:prstGeom>
          <a:noFill/>
        </p:spPr>
        <p:txBody>
          <a:bodyPr wrap="square" lIns="27432" rIns="27432" tIns="18288" bIns="18288">
            <a:spAutoFit/>
          </a:bodyPr>
          <a:lstStyle/>
          <a:p>
            <a:pPr>
              <a:spcAft>
                <a:spcPts val="700"/>
              </a:spcAft>
              <a:defRPr sz="3100" b="1">
                <a:solidFill>
                  <a:srgbClr val="187B78"/>
                </a:solidFill>
                <a:latin typeface="Arial"/>
              </a:defRPr>
            </a:pPr>
            <a:r>
              <a:t>Two different definitions</a:t>
            </a:r>
          </a:p>
        </p:txBody>
      </p:sp>
      <p:cxnSp>
        <p:nvCxnSpPr>
          <p:cNvPr id="12" name="Connector 11"/>
          <p:cNvCxnSpPr/>
          <p:nvPr/>
        </p:nvCxnSpPr>
        <p:spPr>
          <a:xfrm>
            <a:off x="6327648" y="3685032"/>
            <a:ext cx="1078992" cy="0"/>
          </a:xfrm>
          <a:prstGeom prst="line">
            <a:avLst/>
          </a:prstGeom>
          <a:ln w="25400">
            <a:solidFill>
              <a:srgbClr val="187B78"/>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6291072" y="4023360"/>
            <a:ext cx="5074920" cy="1600200"/>
          </a:xfrm>
          <a:prstGeom prst="rect">
            <a:avLst/>
          </a:prstGeom>
          <a:noFill/>
        </p:spPr>
        <p:txBody>
          <a:bodyPr wrap="square" lIns="27432" rIns="27432" tIns="18288" bIns="18288">
            <a:spAutoFit/>
          </a:bodyPr>
          <a:lstStyle/>
          <a:p>
            <a:pPr>
              <a:spcAft>
                <a:spcPts val="700"/>
              </a:spcAft>
              <a:defRPr sz="2100" b="0">
                <a:solidFill>
                  <a:srgbClr val="526575"/>
                </a:solidFill>
                <a:latin typeface="Arial"/>
              </a:defRPr>
            </a:pPr>
            <a:r>
              <a:t>Saved continuous scores supply ranking metrics.</a:t>
            </a:r>
          </a:p>
          <a:p>
            <a:pPr>
              <a:spcAft>
                <a:spcPts val="700"/>
              </a:spcAft>
              <a:defRPr sz="2100" b="0">
                <a:solidFill>
                  <a:srgbClr val="526575"/>
                </a:solidFill>
                <a:latin typeface="Arial"/>
              </a:defRPr>
            </a:pPr>
            <a:r>
              <a:t>Changing the cutoff changes decisions only.</a:t>
            </a:r>
          </a:p>
        </p:txBody>
      </p:sp>
      <p:sp>
        <p:nvSpPr>
          <p:cNvPr id="14" name="TextBox 13"/>
          <p:cNvSpPr txBox="1"/>
          <p:nvPr/>
        </p:nvSpPr>
        <p:spPr>
          <a:xfrm>
            <a:off x="658368" y="6071616"/>
            <a:ext cx="10652760" cy="347472"/>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Source: scikit-learn average_precision_score documentation; part4/evaluation.py</a:t>
            </a:r>
          </a:p>
        </p:txBody>
      </p:sp>
      <p:cxnSp>
        <p:nvCxnSpPr>
          <p:cNvPr id="15" name="Connector 14"/>
          <p:cNvCxnSpPr/>
          <p:nvPr/>
        </p:nvCxnSpPr>
        <p:spPr>
          <a:xfrm>
            <a:off x="667512" y="6483096"/>
            <a:ext cx="10844784"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58368" y="6565392"/>
            <a:ext cx="9966960" cy="246888"/>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SC6122  ·  GROUP 5</a:t>
            </a:r>
          </a:p>
        </p:txBody>
      </p:sp>
      <p:sp>
        <p:nvSpPr>
          <p:cNvPr id="17" name="TextBox 16"/>
          <p:cNvSpPr txBox="1"/>
          <p:nvPr/>
        </p:nvSpPr>
        <p:spPr>
          <a:xfrm>
            <a:off x="11091672" y="6519672"/>
            <a:ext cx="457200" cy="292608"/>
          </a:xfrm>
          <a:prstGeom prst="rect">
            <a:avLst/>
          </a:prstGeom>
          <a:noFill/>
        </p:spPr>
        <p:txBody>
          <a:bodyPr wrap="square" lIns="27432" rIns="27432" tIns="18288" bIns="18288">
            <a:spAutoFit/>
          </a:bodyPr>
          <a:lstStyle/>
          <a:p>
            <a:pPr>
              <a:spcAft>
                <a:spcPts val="700"/>
              </a:spcAft>
              <a:defRPr sz="1200" b="1">
                <a:solidFill>
                  <a:srgbClr val="187B78"/>
                </a:solidFill>
                <a:latin typeface="Arial"/>
              </a:defRPr>
            </a:pPr>
            <a:r>
              <a:t>13</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lIns="27432" rIns="27432" tIns="18288" bIns="18288">
            <a:spAutoFit/>
          </a:bodyPr>
          <a:lstStyle/>
          <a:p>
            <a:pPr>
              <a:spcAft>
                <a:spcPts val="700"/>
              </a:spcAft>
              <a:defRPr sz="1300" b="1">
                <a:solidFill>
                  <a:srgbClr val="187B78"/>
                </a:solidFill>
                <a:latin typeface="Arial"/>
              </a:defRPr>
            </a:pPr>
            <a:r>
              <a:t>Q&amp;A BACKUP  /  Xu Yiqun  /  XGBoost and threshold trade-offs</a:t>
            </a:r>
          </a:p>
        </p:txBody>
      </p:sp>
      <p:sp>
        <p:nvSpPr>
          <p:cNvPr id="3" name="TextBox 2"/>
          <p:cNvSpPr txBox="1"/>
          <p:nvPr/>
        </p:nvSpPr>
        <p:spPr>
          <a:xfrm>
            <a:off x="640080" y="914400"/>
            <a:ext cx="10972800" cy="786384"/>
          </a:xfrm>
          <a:prstGeom prst="rect">
            <a:avLst/>
          </a:prstGeom>
          <a:noFill/>
        </p:spPr>
        <p:txBody>
          <a:bodyPr wrap="square" lIns="27432" rIns="27432" tIns="18288" bIns="18288">
            <a:spAutoFit/>
          </a:bodyPr>
          <a:lstStyle/>
          <a:p>
            <a:pPr>
              <a:spcAft>
                <a:spcPts val="700"/>
              </a:spcAft>
              <a:defRPr sz="3100" b="1">
                <a:solidFill>
                  <a:srgbClr val="183447"/>
                </a:solidFill>
                <a:latin typeface="Arial"/>
              </a:defRPr>
            </a:pPr>
            <a:r>
              <a:t>Backup B • Cost ratios and fixed-prediction uncertainty</a:t>
            </a:r>
          </a:p>
        </p:txBody>
      </p:sp>
      <p:cxnSp>
        <p:nvCxnSpPr>
          <p:cNvPr id="4" name="Connector 3"/>
          <p:cNvCxnSpPr/>
          <p:nvPr/>
        </p:nvCxnSpPr>
        <p:spPr>
          <a:xfrm>
            <a:off x="667512" y="1746504"/>
            <a:ext cx="10835640"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58368" y="2167128"/>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Predeclared ratios: r = 1, 3, 5, 10</a:t>
            </a:r>
          </a:p>
        </p:txBody>
      </p:sp>
      <p:cxnSp>
        <p:nvCxnSpPr>
          <p:cNvPr id="6" name="Connector 5"/>
          <p:cNvCxnSpPr/>
          <p:nvPr/>
        </p:nvCxnSpPr>
        <p:spPr>
          <a:xfrm>
            <a:off x="685800" y="3154680"/>
            <a:ext cx="4745736"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58368" y="3282696"/>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Validation minimum cost; ties prefer largest cutoff</a:t>
            </a:r>
          </a:p>
        </p:txBody>
      </p:sp>
      <p:cxnSp>
        <p:nvCxnSpPr>
          <p:cNvPr id="8" name="Connector 7"/>
          <p:cNvCxnSpPr/>
          <p:nvPr/>
        </p:nvCxnSpPr>
        <p:spPr>
          <a:xfrm>
            <a:off x="685800" y="4270248"/>
            <a:ext cx="4745736"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58368" y="4398264"/>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1,000 stratified paired bootstrap resamples</a:t>
            </a:r>
          </a:p>
        </p:txBody>
      </p:sp>
      <p:cxnSp>
        <p:nvCxnSpPr>
          <p:cNvPr id="10" name="Connector 9"/>
          <p:cNvCxnSpPr/>
          <p:nvPr/>
        </p:nvCxnSpPr>
        <p:spPr>
          <a:xfrm>
            <a:off x="5870448" y="2194560"/>
            <a:ext cx="0" cy="342900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6291072" y="2331720"/>
            <a:ext cx="5029200" cy="1143000"/>
          </a:xfrm>
          <a:prstGeom prst="rect">
            <a:avLst/>
          </a:prstGeom>
          <a:noFill/>
        </p:spPr>
        <p:txBody>
          <a:bodyPr wrap="square" lIns="27432" rIns="27432" tIns="18288" bIns="18288">
            <a:spAutoFit/>
          </a:bodyPr>
          <a:lstStyle/>
          <a:p>
            <a:pPr>
              <a:spcAft>
                <a:spcPts val="700"/>
              </a:spcAft>
              <a:defRPr sz="3100" b="1">
                <a:solidFill>
                  <a:srgbClr val="187B78"/>
                </a:solidFill>
                <a:latin typeface="Arial"/>
              </a:defRPr>
            </a:pPr>
            <a:r>
              <a:t>What the intervals cover</a:t>
            </a:r>
          </a:p>
        </p:txBody>
      </p:sp>
      <p:cxnSp>
        <p:nvCxnSpPr>
          <p:cNvPr id="12" name="Connector 11"/>
          <p:cNvCxnSpPr/>
          <p:nvPr/>
        </p:nvCxnSpPr>
        <p:spPr>
          <a:xfrm>
            <a:off x="6327648" y="3685032"/>
            <a:ext cx="1078992" cy="0"/>
          </a:xfrm>
          <a:prstGeom prst="line">
            <a:avLst/>
          </a:prstGeom>
          <a:ln w="25400">
            <a:solidFill>
              <a:srgbClr val="187B78"/>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6291072" y="4023360"/>
            <a:ext cx="5074920" cy="1600200"/>
          </a:xfrm>
          <a:prstGeom prst="rect">
            <a:avLst/>
          </a:prstGeom>
          <a:noFill/>
        </p:spPr>
        <p:txBody>
          <a:bodyPr wrap="square" lIns="27432" rIns="27432" tIns="18288" bIns="18288">
            <a:spAutoFit/>
          </a:bodyPr>
          <a:lstStyle/>
          <a:p>
            <a:pPr>
              <a:spcAft>
                <a:spcPts val="700"/>
              </a:spcAft>
              <a:defRPr sz="2100" b="0">
                <a:solidFill>
                  <a:srgbClr val="526575"/>
                </a:solidFill>
                <a:latin typeface="Arial"/>
              </a:defRPr>
            </a:pPr>
            <a:r>
              <a:t>Fixed models / thresholds / class counts</a:t>
            </a:r>
          </a:p>
          <a:p>
            <a:pPr>
              <a:spcAft>
                <a:spcPts val="700"/>
              </a:spcAft>
              <a:defRPr sz="2100" b="0">
                <a:solidFill>
                  <a:srgbClr val="526575"/>
                </a:solidFill>
                <a:latin typeface="Arial"/>
              </a:defRPr>
            </a:pPr>
            <a:r>
              <a:t>Excludes fitting / selection uncertainty</a:t>
            </a:r>
          </a:p>
          <a:p>
            <a:pPr>
              <a:spcAft>
                <a:spcPts val="700"/>
              </a:spcAft>
              <a:defRPr sz="2100" b="0">
                <a:solidFill>
                  <a:srgbClr val="526575"/>
                </a:solidFill>
                <a:latin typeface="Arial"/>
              </a:defRPr>
            </a:pPr>
            <a:r>
              <a:t>Excludes population / prevalence shifts</a:t>
            </a:r>
          </a:p>
        </p:txBody>
      </p:sp>
      <p:sp>
        <p:nvSpPr>
          <p:cNvPr id="14" name="TextBox 13"/>
          <p:cNvSpPr txBox="1"/>
          <p:nvPr/>
        </p:nvSpPr>
        <p:spPr>
          <a:xfrm>
            <a:off x="658368" y="6071616"/>
            <a:ext cx="10652760" cy="347472"/>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Source: frozen protocols; integration/uncertainty.py; bootstrap_intervals.csv</a:t>
            </a:r>
          </a:p>
        </p:txBody>
      </p:sp>
      <p:cxnSp>
        <p:nvCxnSpPr>
          <p:cNvPr id="15" name="Connector 14"/>
          <p:cNvCxnSpPr/>
          <p:nvPr/>
        </p:nvCxnSpPr>
        <p:spPr>
          <a:xfrm>
            <a:off x="667512" y="6483096"/>
            <a:ext cx="10844784"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58368" y="6565392"/>
            <a:ext cx="9966960" cy="246888"/>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SC6122  ·  GROUP 5</a:t>
            </a:r>
          </a:p>
        </p:txBody>
      </p:sp>
      <p:sp>
        <p:nvSpPr>
          <p:cNvPr id="17" name="TextBox 16"/>
          <p:cNvSpPr txBox="1"/>
          <p:nvPr/>
        </p:nvSpPr>
        <p:spPr>
          <a:xfrm>
            <a:off x="11091672" y="6519672"/>
            <a:ext cx="457200" cy="292608"/>
          </a:xfrm>
          <a:prstGeom prst="rect">
            <a:avLst/>
          </a:prstGeom>
          <a:noFill/>
        </p:spPr>
        <p:txBody>
          <a:bodyPr wrap="square" lIns="27432" rIns="27432" tIns="18288" bIns="18288">
            <a:spAutoFit/>
          </a:bodyPr>
          <a:lstStyle/>
          <a:p>
            <a:pPr>
              <a:spcAft>
                <a:spcPts val="700"/>
              </a:spcAft>
              <a:defRPr sz="1200" b="1">
                <a:solidFill>
                  <a:srgbClr val="187B78"/>
                </a:solidFill>
                <a:latin typeface="Arial"/>
              </a:defRPr>
            </a:pPr>
            <a:r>
              <a:t>14</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lIns="27432" rIns="27432" tIns="18288" bIns="18288">
            <a:spAutoFit/>
          </a:bodyPr>
          <a:lstStyle/>
          <a:p>
            <a:pPr>
              <a:spcAft>
                <a:spcPts val="700"/>
              </a:spcAft>
              <a:defRPr sz="1300" b="1">
                <a:solidFill>
                  <a:srgbClr val="187B78"/>
                </a:solidFill>
                <a:latin typeface="Arial"/>
              </a:defRPr>
            </a:pPr>
            <a:r>
              <a:t>Q&amp;A BACKUP  /  Lei Peng  /  Data and logistic regression</a:t>
            </a:r>
          </a:p>
        </p:txBody>
      </p:sp>
      <p:sp>
        <p:nvSpPr>
          <p:cNvPr id="3" name="TextBox 2"/>
          <p:cNvSpPr txBox="1"/>
          <p:nvPr/>
        </p:nvSpPr>
        <p:spPr>
          <a:xfrm>
            <a:off x="640080" y="914400"/>
            <a:ext cx="10972800" cy="786384"/>
          </a:xfrm>
          <a:prstGeom prst="rect">
            <a:avLst/>
          </a:prstGeom>
          <a:noFill/>
        </p:spPr>
        <p:txBody>
          <a:bodyPr wrap="square" lIns="27432" rIns="27432" tIns="18288" bIns="18288">
            <a:spAutoFit/>
          </a:bodyPr>
          <a:lstStyle/>
          <a:p>
            <a:pPr>
              <a:spcAft>
                <a:spcPts val="700"/>
              </a:spcAft>
              <a:defRPr sz="3100" b="1">
                <a:solidFill>
                  <a:srgbClr val="183447"/>
                </a:solidFill>
                <a:latin typeface="Arial"/>
              </a:defRPr>
            </a:pPr>
            <a:r>
              <a:t>Backup C • Data provenance and evidence boundaries</a:t>
            </a:r>
          </a:p>
        </p:txBody>
      </p:sp>
      <p:cxnSp>
        <p:nvCxnSpPr>
          <p:cNvPr id="4" name="Connector 3"/>
          <p:cNvCxnSpPr/>
          <p:nvPr/>
        </p:nvCxnSpPr>
        <p:spPr>
          <a:xfrm>
            <a:off x="667512" y="1746504"/>
            <a:ext cx="10835640"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58368" y="2167128"/>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UCI cleaning reproduced exactly from downloaded source</a:t>
            </a:r>
          </a:p>
        </p:txBody>
      </p:sp>
      <p:cxnSp>
        <p:nvCxnSpPr>
          <p:cNvPr id="6" name="Connector 5"/>
          <p:cNvCxnSpPr/>
          <p:nvPr/>
        </p:nvCxnSpPr>
        <p:spPr>
          <a:xfrm>
            <a:off x="685800" y="3154680"/>
            <a:ext cx="4745736"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58368" y="3282696"/>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EDUCATION 0/5/6 → 4; MARRIAGE 0 → 3</a:t>
            </a:r>
          </a:p>
        </p:txBody>
      </p:sp>
      <p:cxnSp>
        <p:nvCxnSpPr>
          <p:cNvPr id="8" name="Connector 7"/>
          <p:cNvCxnSpPr/>
          <p:nvPr/>
        </p:nvCxnSpPr>
        <p:spPr>
          <a:xfrm>
            <a:off x="685800" y="4270248"/>
            <a:ext cx="4745736"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58368" y="4398264"/>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Retained duplicate vectors can span partitions</a:t>
            </a:r>
          </a:p>
        </p:txBody>
      </p:sp>
      <p:cxnSp>
        <p:nvCxnSpPr>
          <p:cNvPr id="10" name="Connector 9"/>
          <p:cNvCxnSpPr/>
          <p:nvPr/>
        </p:nvCxnSpPr>
        <p:spPr>
          <a:xfrm>
            <a:off x="5870448" y="2194560"/>
            <a:ext cx="0" cy="342900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6291072" y="2331720"/>
            <a:ext cx="5029200" cy="1143000"/>
          </a:xfrm>
          <a:prstGeom prst="rect">
            <a:avLst/>
          </a:prstGeom>
          <a:noFill/>
        </p:spPr>
        <p:txBody>
          <a:bodyPr wrap="square" lIns="27432" rIns="27432" tIns="18288" bIns="18288">
            <a:spAutoFit/>
          </a:bodyPr>
          <a:lstStyle/>
          <a:p>
            <a:pPr>
              <a:spcAft>
                <a:spcPts val="700"/>
              </a:spcAft>
              <a:defRPr sz="3100" b="1">
                <a:solidFill>
                  <a:srgbClr val="187B78"/>
                </a:solidFill>
                <a:latin typeface="Arial"/>
              </a:defRPr>
            </a:pPr>
            <a:r>
              <a:t>The limits of historical evidence</a:t>
            </a:r>
          </a:p>
        </p:txBody>
      </p:sp>
      <p:cxnSp>
        <p:nvCxnSpPr>
          <p:cNvPr id="12" name="Connector 11"/>
          <p:cNvCxnSpPr/>
          <p:nvPr/>
        </p:nvCxnSpPr>
        <p:spPr>
          <a:xfrm>
            <a:off x="6327648" y="3685032"/>
            <a:ext cx="1078992" cy="0"/>
          </a:xfrm>
          <a:prstGeom prst="line">
            <a:avLst/>
          </a:prstGeom>
          <a:ln w="25400">
            <a:solidFill>
              <a:srgbClr val="187B78"/>
            </a:solidFill>
          </a:ln>
          <a:effectLst/>
        </p:spPr>
        <p:style>
          <a:lnRef idx="2">
            <a:schemeClr val="accent1"/>
          </a:lnRef>
          <a:fillRef idx="0">
            <a:schemeClr val="accent1"/>
          </a:fillRef>
          <a:effectRef idx="0">
            <a:schemeClr val="accent1"/>
          </a:effectRef>
          <a:fontRef idx="minor">
            <a:schemeClr val="tx1"/>
          </a:fontRef>
        </p:style>
      </p:cxnSp>
      <p:sp>
        <p:nvSpPr>
          <p:cNvPr id="13" name="TextBox 12"/>
          <p:cNvSpPr txBox="1"/>
          <p:nvPr/>
        </p:nvSpPr>
        <p:spPr>
          <a:xfrm>
            <a:off x="6291072" y="4023360"/>
            <a:ext cx="5074920" cy="1600200"/>
          </a:xfrm>
          <a:prstGeom prst="rect">
            <a:avLst/>
          </a:prstGeom>
          <a:noFill/>
        </p:spPr>
        <p:txBody>
          <a:bodyPr wrap="square" lIns="27432" rIns="27432" tIns="18288" bIns="18288">
            <a:spAutoFit/>
          </a:bodyPr>
          <a:lstStyle/>
          <a:p>
            <a:pPr>
              <a:spcAft>
                <a:spcPts val="700"/>
              </a:spcAft>
              <a:defRPr sz="2100" b="0">
                <a:solidFill>
                  <a:srgbClr val="526575"/>
                </a:solidFill>
                <a:latin typeface="Arial"/>
              </a:defRPr>
            </a:pPr>
            <a:r>
              <a:t>Original LR process remains unverified.</a:t>
            </a:r>
          </a:p>
          <a:p>
            <a:pPr>
              <a:spcAft>
                <a:spcPts val="700"/>
              </a:spcAft>
              <a:defRPr sz="2100" b="0">
                <a:solidFill>
                  <a:srgbClr val="526575"/>
                </a:solidFill>
                <a:latin typeface="Arial"/>
              </a:defRPr>
            </a:pPr>
            <a:r>
              <a:t>LR* source was committed before its one run.</a:t>
            </a:r>
          </a:p>
          <a:p>
            <a:pPr>
              <a:spcAft>
                <a:spcPts val="700"/>
              </a:spcAft>
              <a:defRPr sz="2100" b="0">
                <a:solidFill>
                  <a:srgbClr val="526575"/>
                </a:solidFill>
                <a:latin typeface="Arial"/>
              </a:defRPr>
            </a:pPr>
            <a:r>
              <a:t>No new unseen-test claim is made.</a:t>
            </a:r>
          </a:p>
        </p:txBody>
      </p:sp>
      <p:sp>
        <p:nvSpPr>
          <p:cNvPr id="14" name="TextBox 13"/>
          <p:cNvSpPr txBox="1"/>
          <p:nvPr/>
        </p:nvSpPr>
        <p:spPr>
          <a:xfrm>
            <a:off x="658368" y="6071616"/>
            <a:ext cx="10652760" cy="347472"/>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Sources: results/final/source_audit.json; integration/LOGISTIC_PROVENANCE.md</a:t>
            </a:r>
          </a:p>
        </p:txBody>
      </p:sp>
      <p:cxnSp>
        <p:nvCxnSpPr>
          <p:cNvPr id="15" name="Connector 14"/>
          <p:cNvCxnSpPr/>
          <p:nvPr/>
        </p:nvCxnSpPr>
        <p:spPr>
          <a:xfrm>
            <a:off x="667512" y="6483096"/>
            <a:ext cx="10844784"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6" name="TextBox 15"/>
          <p:cNvSpPr txBox="1"/>
          <p:nvPr/>
        </p:nvSpPr>
        <p:spPr>
          <a:xfrm>
            <a:off x="658368" y="6565392"/>
            <a:ext cx="9966960" cy="246888"/>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SC6122  ·  GROUP 5</a:t>
            </a:r>
          </a:p>
        </p:txBody>
      </p:sp>
      <p:sp>
        <p:nvSpPr>
          <p:cNvPr id="17" name="TextBox 16"/>
          <p:cNvSpPr txBox="1"/>
          <p:nvPr/>
        </p:nvSpPr>
        <p:spPr>
          <a:xfrm>
            <a:off x="11091672" y="6519672"/>
            <a:ext cx="457200" cy="292608"/>
          </a:xfrm>
          <a:prstGeom prst="rect">
            <a:avLst/>
          </a:prstGeom>
          <a:noFill/>
        </p:spPr>
        <p:txBody>
          <a:bodyPr wrap="square" lIns="27432" rIns="27432" tIns="18288" bIns="18288">
            <a:spAutoFit/>
          </a:bodyPr>
          <a:lstStyle/>
          <a:p>
            <a:pPr>
              <a:spcAft>
                <a:spcPts val="700"/>
              </a:spcAft>
              <a:defRPr sz="1200" b="1">
                <a:solidFill>
                  <a:srgbClr val="187B78"/>
                </a:solidFill>
                <a:latin typeface="Arial"/>
              </a:defRPr>
            </a:pPr>
            <a:r>
              <a:t>15</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640080" y="384048"/>
            <a:ext cx="10881360" cy="365760"/>
          </a:xfrm>
          <a:prstGeom prst="rect">
            <a:avLst/>
          </a:prstGeom>
          <a:noFill/>
        </p:spPr>
        <p:txBody>
          <a:bodyPr wrap="square" lIns="27432" rIns="27432" tIns="18288" bIns="18288">
            <a:spAutoFit/>
          </a:bodyPr>
          <a:lstStyle/>
          <a:p>
            <a:pPr>
              <a:spcAft>
                <a:spcPts val="700"/>
              </a:spcAft>
              <a:defRPr sz="1300" b="1">
                <a:solidFill>
                  <a:srgbClr val="187B78"/>
                </a:solidFill>
                <a:latin typeface="Arial"/>
              </a:defRPr>
            </a:pPr>
            <a:r>
              <a:t>Q&amp;A BACKUP  /  Zhou Xinzhe  /  Random forest and error analysis</a:t>
            </a:r>
          </a:p>
        </p:txBody>
      </p:sp>
      <p:sp>
        <p:nvSpPr>
          <p:cNvPr id="3" name="TextBox 2"/>
          <p:cNvSpPr txBox="1"/>
          <p:nvPr/>
        </p:nvSpPr>
        <p:spPr>
          <a:xfrm>
            <a:off x="640080" y="914400"/>
            <a:ext cx="10972800" cy="786384"/>
          </a:xfrm>
          <a:prstGeom prst="rect">
            <a:avLst/>
          </a:prstGeom>
          <a:noFill/>
        </p:spPr>
        <p:txBody>
          <a:bodyPr wrap="square" lIns="27432" rIns="27432" tIns="18288" bIns="18288">
            <a:spAutoFit/>
          </a:bodyPr>
          <a:lstStyle/>
          <a:p>
            <a:pPr>
              <a:spcAft>
                <a:spcPts val="700"/>
              </a:spcAft>
              <a:defRPr sz="3100" b="1">
                <a:solidFill>
                  <a:srgbClr val="183447"/>
                </a:solidFill>
                <a:latin typeface="Arial"/>
              </a:defRPr>
            </a:pPr>
            <a:r>
              <a:t>Backup D • Sources, responsibilities and reproducibility</a:t>
            </a:r>
          </a:p>
        </p:txBody>
      </p:sp>
      <p:cxnSp>
        <p:nvCxnSpPr>
          <p:cNvPr id="4" name="Connector 3"/>
          <p:cNvCxnSpPr/>
          <p:nvPr/>
        </p:nvCxnSpPr>
        <p:spPr>
          <a:xfrm>
            <a:off x="667512" y="1746504"/>
            <a:ext cx="10835640"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5" name="TextBox 4"/>
          <p:cNvSpPr txBox="1"/>
          <p:nvPr/>
        </p:nvSpPr>
        <p:spPr>
          <a:xfrm>
            <a:off x="658368" y="2167128"/>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UCI: doi.org/10.24432/C55S3H</a:t>
            </a:r>
          </a:p>
        </p:txBody>
      </p:sp>
      <p:cxnSp>
        <p:nvCxnSpPr>
          <p:cNvPr id="6" name="Connector 5"/>
          <p:cNvCxnSpPr/>
          <p:nvPr/>
        </p:nvCxnSpPr>
        <p:spPr>
          <a:xfrm>
            <a:off x="685800" y="3154680"/>
            <a:ext cx="4745736"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7" name="TextBox 6"/>
          <p:cNvSpPr txBox="1"/>
          <p:nvPr/>
        </p:nvSpPr>
        <p:spPr>
          <a:xfrm>
            <a:off x="658368" y="3282696"/>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scikit-learn: average_precision_score documentation</a:t>
            </a:r>
          </a:p>
        </p:txBody>
      </p:sp>
      <p:cxnSp>
        <p:nvCxnSpPr>
          <p:cNvPr id="8" name="Connector 7"/>
          <p:cNvCxnSpPr/>
          <p:nvPr/>
        </p:nvCxnSpPr>
        <p:spPr>
          <a:xfrm>
            <a:off x="685800" y="4270248"/>
            <a:ext cx="4745736"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9" name="TextBox 8"/>
          <p:cNvSpPr txBox="1"/>
          <p:nvPr/>
        </p:nvSpPr>
        <p:spPr>
          <a:xfrm>
            <a:off x="658368" y="4398264"/>
            <a:ext cx="4983480" cy="941832"/>
          </a:xfrm>
          <a:prstGeom prst="rect">
            <a:avLst/>
          </a:prstGeom>
          <a:noFill/>
        </p:spPr>
        <p:txBody>
          <a:bodyPr wrap="square" lIns="27432" rIns="27432" tIns="18288" bIns="18288">
            <a:spAutoFit/>
          </a:bodyPr>
          <a:lstStyle/>
          <a:p>
            <a:pPr>
              <a:spcAft>
                <a:spcPts val="700"/>
              </a:spcAft>
              <a:defRPr sz="2300" b="0">
                <a:solidFill>
                  <a:srgbClr val="183447"/>
                </a:solidFill>
                <a:latin typeface="Arial"/>
              </a:defRPr>
            </a:pPr>
            <a:r>
              <a:t>XGBoost paper: doi.org/10.1145/2939672.2939785</a:t>
            </a:r>
          </a:p>
        </p:txBody>
      </p:sp>
      <p:cxnSp>
        <p:nvCxnSpPr>
          <p:cNvPr id="10" name="Connector 9"/>
          <p:cNvCxnSpPr/>
          <p:nvPr/>
        </p:nvCxnSpPr>
        <p:spPr>
          <a:xfrm>
            <a:off x="5870448" y="2194560"/>
            <a:ext cx="0" cy="342900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11" name="TextBox 10"/>
          <p:cNvSpPr txBox="1"/>
          <p:nvPr/>
        </p:nvSpPr>
        <p:spPr>
          <a:xfrm>
            <a:off x="6263640" y="2103120"/>
            <a:ext cx="5120640" cy="457200"/>
          </a:xfrm>
          <a:prstGeom prst="rect">
            <a:avLst/>
          </a:prstGeom>
          <a:noFill/>
        </p:spPr>
        <p:txBody>
          <a:bodyPr wrap="square" lIns="27432" rIns="27432" tIns="18288" bIns="18288">
            <a:spAutoFit/>
          </a:bodyPr>
          <a:lstStyle/>
          <a:p>
            <a:pPr>
              <a:spcAft>
                <a:spcPts val="700"/>
              </a:spcAft>
              <a:defRPr sz="2100" b="1">
                <a:solidFill>
                  <a:srgbClr val="187B78"/>
                </a:solidFill>
                <a:latin typeface="Arial"/>
              </a:defRPr>
            </a:pPr>
            <a:r>
              <a:t>Member contributions · 25% each</a:t>
            </a:r>
          </a:p>
        </p:txBody>
      </p:sp>
      <p:sp>
        <p:nvSpPr>
          <p:cNvPr id="12" name="TextBox 11"/>
          <p:cNvSpPr txBox="1"/>
          <p:nvPr/>
        </p:nvSpPr>
        <p:spPr>
          <a:xfrm>
            <a:off x="6263640" y="2743200"/>
            <a:ext cx="5212080" cy="365760"/>
          </a:xfrm>
          <a:prstGeom prst="rect">
            <a:avLst/>
          </a:prstGeom>
          <a:noFill/>
        </p:spPr>
        <p:txBody>
          <a:bodyPr wrap="square" lIns="27432" rIns="27432" tIns="18288" bIns="18288">
            <a:spAutoFit/>
          </a:bodyPr>
          <a:lstStyle/>
          <a:p>
            <a:pPr>
              <a:spcAft>
                <a:spcPts val="700"/>
              </a:spcAft>
              <a:defRPr sz="1800" b="1">
                <a:solidFill>
                  <a:srgbClr val="183447"/>
                </a:solidFill>
                <a:latin typeface="Arial"/>
              </a:defRPr>
            </a:pPr>
            <a:r>
              <a:t>Lei Peng  ·  G2509090C</a:t>
            </a:r>
          </a:p>
        </p:txBody>
      </p:sp>
      <p:sp>
        <p:nvSpPr>
          <p:cNvPr id="13" name="TextBox 12"/>
          <p:cNvSpPr txBox="1"/>
          <p:nvPr/>
        </p:nvSpPr>
        <p:spPr>
          <a:xfrm>
            <a:off x="6263640" y="3090672"/>
            <a:ext cx="5212080" cy="320040"/>
          </a:xfrm>
          <a:prstGeom prst="rect">
            <a:avLst/>
          </a:prstGeom>
          <a:noFill/>
        </p:spPr>
        <p:txBody>
          <a:bodyPr wrap="square" lIns="27432" rIns="27432" tIns="18288" bIns="18288">
            <a:spAutoFit/>
          </a:bodyPr>
          <a:lstStyle/>
          <a:p>
            <a:pPr>
              <a:spcAft>
                <a:spcPts val="700"/>
              </a:spcAft>
              <a:defRPr sz="1500" b="0">
                <a:solidFill>
                  <a:srgbClr val="526575"/>
                </a:solidFill>
                <a:latin typeface="Arial"/>
              </a:defRPr>
            </a:pPr>
            <a:r>
              <a:t>Part 1 — Data and logistic regression</a:t>
            </a:r>
          </a:p>
        </p:txBody>
      </p:sp>
      <p:sp>
        <p:nvSpPr>
          <p:cNvPr id="14" name="TextBox 13"/>
          <p:cNvSpPr txBox="1"/>
          <p:nvPr/>
        </p:nvSpPr>
        <p:spPr>
          <a:xfrm>
            <a:off x="6263640" y="3474720"/>
            <a:ext cx="5212080" cy="365760"/>
          </a:xfrm>
          <a:prstGeom prst="rect">
            <a:avLst/>
          </a:prstGeom>
          <a:noFill/>
        </p:spPr>
        <p:txBody>
          <a:bodyPr wrap="square" lIns="27432" rIns="27432" tIns="18288" bIns="18288">
            <a:spAutoFit/>
          </a:bodyPr>
          <a:lstStyle/>
          <a:p>
            <a:pPr>
              <a:spcAft>
                <a:spcPts val="700"/>
              </a:spcAft>
              <a:defRPr sz="1800" b="1">
                <a:solidFill>
                  <a:srgbClr val="183447"/>
                </a:solidFill>
                <a:latin typeface="Arial"/>
              </a:defRPr>
            </a:pPr>
            <a:r>
              <a:t>Zhang Hanyu  ·  G2509091L</a:t>
            </a:r>
          </a:p>
        </p:txBody>
      </p:sp>
      <p:sp>
        <p:nvSpPr>
          <p:cNvPr id="15" name="TextBox 14"/>
          <p:cNvSpPr txBox="1"/>
          <p:nvPr/>
        </p:nvSpPr>
        <p:spPr>
          <a:xfrm>
            <a:off x="6263640" y="3822191"/>
            <a:ext cx="5212080" cy="320040"/>
          </a:xfrm>
          <a:prstGeom prst="rect">
            <a:avLst/>
          </a:prstGeom>
          <a:noFill/>
        </p:spPr>
        <p:txBody>
          <a:bodyPr wrap="square" lIns="27432" rIns="27432" tIns="18288" bIns="18288">
            <a:spAutoFit/>
          </a:bodyPr>
          <a:lstStyle/>
          <a:p>
            <a:pPr>
              <a:spcAft>
                <a:spcPts val="700"/>
              </a:spcAft>
              <a:defRPr sz="1500" b="0">
                <a:solidFill>
                  <a:srgbClr val="526575"/>
                </a:solidFill>
                <a:latin typeface="Arial"/>
              </a:defRPr>
            </a:pPr>
            <a:r>
              <a:t>Part 2 — Decision tree and overfitting</a:t>
            </a:r>
          </a:p>
        </p:txBody>
      </p:sp>
      <p:sp>
        <p:nvSpPr>
          <p:cNvPr id="16" name="TextBox 15"/>
          <p:cNvSpPr txBox="1"/>
          <p:nvPr/>
        </p:nvSpPr>
        <p:spPr>
          <a:xfrm>
            <a:off x="6263640" y="4206240"/>
            <a:ext cx="5212080" cy="365760"/>
          </a:xfrm>
          <a:prstGeom prst="rect">
            <a:avLst/>
          </a:prstGeom>
          <a:noFill/>
        </p:spPr>
        <p:txBody>
          <a:bodyPr wrap="square" lIns="27432" rIns="27432" tIns="18288" bIns="18288">
            <a:spAutoFit/>
          </a:bodyPr>
          <a:lstStyle/>
          <a:p>
            <a:pPr>
              <a:spcAft>
                <a:spcPts val="700"/>
              </a:spcAft>
              <a:defRPr sz="1800" b="1">
                <a:solidFill>
                  <a:srgbClr val="183447"/>
                </a:solidFill>
                <a:latin typeface="Arial"/>
              </a:defRPr>
            </a:pPr>
            <a:r>
              <a:t>Zhou Xinzhe  ·  G2509033F</a:t>
            </a:r>
          </a:p>
        </p:txBody>
      </p:sp>
      <p:sp>
        <p:nvSpPr>
          <p:cNvPr id="17" name="TextBox 16"/>
          <p:cNvSpPr txBox="1"/>
          <p:nvPr/>
        </p:nvSpPr>
        <p:spPr>
          <a:xfrm>
            <a:off x="6263640" y="4553712"/>
            <a:ext cx="5212080" cy="320040"/>
          </a:xfrm>
          <a:prstGeom prst="rect">
            <a:avLst/>
          </a:prstGeom>
          <a:noFill/>
        </p:spPr>
        <p:txBody>
          <a:bodyPr wrap="square" lIns="27432" rIns="27432" tIns="18288" bIns="18288">
            <a:spAutoFit/>
          </a:bodyPr>
          <a:lstStyle/>
          <a:p>
            <a:pPr>
              <a:spcAft>
                <a:spcPts val="700"/>
              </a:spcAft>
              <a:defRPr sz="1500" b="0">
                <a:solidFill>
                  <a:srgbClr val="526575"/>
                </a:solidFill>
                <a:latin typeface="Arial"/>
              </a:defRPr>
            </a:pPr>
            <a:r>
              <a:t>Part 3 — Random forest and error analysis</a:t>
            </a:r>
          </a:p>
        </p:txBody>
      </p:sp>
      <p:sp>
        <p:nvSpPr>
          <p:cNvPr id="18" name="TextBox 17"/>
          <p:cNvSpPr txBox="1"/>
          <p:nvPr/>
        </p:nvSpPr>
        <p:spPr>
          <a:xfrm>
            <a:off x="6263640" y="4937760"/>
            <a:ext cx="5212080" cy="365760"/>
          </a:xfrm>
          <a:prstGeom prst="rect">
            <a:avLst/>
          </a:prstGeom>
          <a:noFill/>
        </p:spPr>
        <p:txBody>
          <a:bodyPr wrap="square" lIns="27432" rIns="27432" tIns="18288" bIns="18288">
            <a:spAutoFit/>
          </a:bodyPr>
          <a:lstStyle/>
          <a:p>
            <a:pPr>
              <a:spcAft>
                <a:spcPts val="700"/>
              </a:spcAft>
              <a:defRPr sz="1800" b="1">
                <a:solidFill>
                  <a:srgbClr val="183447"/>
                </a:solidFill>
                <a:latin typeface="Arial"/>
              </a:defRPr>
            </a:pPr>
            <a:r>
              <a:t>Xu Yiqun  ·  G2509092H</a:t>
            </a:r>
          </a:p>
        </p:txBody>
      </p:sp>
      <p:sp>
        <p:nvSpPr>
          <p:cNvPr id="19" name="TextBox 18"/>
          <p:cNvSpPr txBox="1"/>
          <p:nvPr/>
        </p:nvSpPr>
        <p:spPr>
          <a:xfrm>
            <a:off x="6263640" y="5285232"/>
            <a:ext cx="5212080" cy="320040"/>
          </a:xfrm>
          <a:prstGeom prst="rect">
            <a:avLst/>
          </a:prstGeom>
          <a:noFill/>
        </p:spPr>
        <p:txBody>
          <a:bodyPr wrap="square" lIns="27432" rIns="27432" tIns="18288" bIns="18288">
            <a:spAutoFit/>
          </a:bodyPr>
          <a:lstStyle/>
          <a:p>
            <a:pPr>
              <a:spcAft>
                <a:spcPts val="700"/>
              </a:spcAft>
              <a:defRPr sz="1500" b="0">
                <a:solidFill>
                  <a:srgbClr val="526575"/>
                </a:solidFill>
                <a:latin typeface="Arial"/>
              </a:defRPr>
            </a:pPr>
            <a:r>
              <a:t>Part 4 — XGBoost and threshold trade-offs</a:t>
            </a:r>
          </a:p>
        </p:txBody>
      </p:sp>
      <p:sp>
        <p:nvSpPr>
          <p:cNvPr id="20" name="TextBox 19"/>
          <p:cNvSpPr txBox="1"/>
          <p:nvPr/>
        </p:nvSpPr>
        <p:spPr>
          <a:xfrm>
            <a:off x="658368" y="6071616"/>
            <a:ext cx="10652760" cy="347472"/>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Sources: Group 5 repository, frozen protocols, row-level predictions and integration audit.</a:t>
            </a:r>
          </a:p>
        </p:txBody>
      </p:sp>
      <p:cxnSp>
        <p:nvCxnSpPr>
          <p:cNvPr id="21" name="Connector 20"/>
          <p:cNvCxnSpPr/>
          <p:nvPr/>
        </p:nvCxnSpPr>
        <p:spPr>
          <a:xfrm>
            <a:off x="667512" y="6483096"/>
            <a:ext cx="10844784" cy="0"/>
          </a:xfrm>
          <a:prstGeom prst="line">
            <a:avLst/>
          </a:prstGeom>
          <a:ln w="12700">
            <a:solidFill>
              <a:srgbClr val="E1E8E8"/>
            </a:solidFill>
          </a:ln>
          <a:effectLst/>
        </p:spPr>
        <p:style>
          <a:lnRef idx="2">
            <a:schemeClr val="accent1"/>
          </a:lnRef>
          <a:fillRef idx="0">
            <a:schemeClr val="accent1"/>
          </a:fillRef>
          <a:effectRef idx="0">
            <a:schemeClr val="accent1"/>
          </a:effectRef>
          <a:fontRef idx="minor">
            <a:schemeClr val="tx1"/>
          </a:fontRef>
        </p:style>
      </p:cxnSp>
      <p:sp>
        <p:nvSpPr>
          <p:cNvPr id="22" name="TextBox 21"/>
          <p:cNvSpPr txBox="1"/>
          <p:nvPr/>
        </p:nvSpPr>
        <p:spPr>
          <a:xfrm>
            <a:off x="658368" y="6565392"/>
            <a:ext cx="9966960" cy="246888"/>
          </a:xfrm>
          <a:prstGeom prst="rect">
            <a:avLst/>
          </a:prstGeom>
          <a:noFill/>
        </p:spPr>
        <p:txBody>
          <a:bodyPr wrap="square" lIns="27432" rIns="27432" tIns="18288" bIns="18288">
            <a:spAutoFit/>
          </a:bodyPr>
          <a:lstStyle/>
          <a:p>
            <a:pPr>
              <a:spcAft>
                <a:spcPts val="700"/>
              </a:spcAft>
              <a:defRPr sz="1000" b="0">
                <a:solidFill>
                  <a:srgbClr val="526575"/>
                </a:solidFill>
                <a:latin typeface="Arial"/>
              </a:defRPr>
            </a:pPr>
            <a:r>
              <a:t>SC6122  ·  GROUP 5</a:t>
            </a:r>
          </a:p>
        </p:txBody>
      </p:sp>
      <p:sp>
        <p:nvSpPr>
          <p:cNvPr id="23" name="TextBox 22"/>
          <p:cNvSpPr txBox="1"/>
          <p:nvPr/>
        </p:nvSpPr>
        <p:spPr>
          <a:xfrm>
            <a:off x="11091672" y="6519672"/>
            <a:ext cx="457200" cy="292608"/>
          </a:xfrm>
          <a:prstGeom prst="rect">
            <a:avLst/>
          </a:prstGeom>
          <a:noFill/>
        </p:spPr>
        <p:txBody>
          <a:bodyPr wrap="square" lIns="27432" rIns="27432" tIns="18288" bIns="18288">
            <a:spAutoFit/>
          </a:bodyPr>
          <a:lstStyle/>
          <a:p>
            <a:pPr>
              <a:spcAft>
                <a:spcPts val="700"/>
              </a:spcAft>
              <a:defRPr sz="1200" b="1">
                <a:solidFill>
                  <a:srgbClr val="187B78"/>
                </a:solidFill>
                <a:latin typeface="Arial"/>
              </a:defRPr>
            </a:pPr>
            <a:r>
              <a:t>16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