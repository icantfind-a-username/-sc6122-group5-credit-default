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AP</c:v>
                </c:pt>
              </c:strCache>
            </c:strRef>
          </c:tx>
          <c:spPr>
            <a:solidFill>
              <a:srgbClr val="899CA5"/>
            </a:solidFill>
            <a:ln>
              <a:noFill/>
            </a:ln>
          </c:spPr>
          <c:dPt>
            <c:idx val="0"/>
            <c:spPr>
              <a:solidFill>
                <a:srgbClr val="899CA5"/>
              </a:solidFill>
              <a:ln>
                <a:noFill/>
              </a:ln>
            </c:spPr>
          </c:dPt>
          <c:dPt>
            <c:idx val="1"/>
            <c:spPr>
              <a:solidFill>
                <a:srgbClr val="187B78"/>
              </a:solidFill>
              <a:ln>
                <a:noFill/>
              </a:ln>
            </c:spPr>
          </c:dPt>
          <c:cat>
            <c:strRef>
              <c:f>Sheet1!$A$2:$A$3</c:f>
              <c:strCache>
                <c:ptCount val="2"/>
                <c:pt idx="0">
                  <c:v>Baseline</c:v>
                </c:pt>
                <c:pt idx="1">
                  <c:v>Selected</c:v>
                </c:pt>
              </c:strCache>
            </c:strRef>
          </c:cat>
          <c:val>
            <c:numRef>
              <c:f>Sheet1!$B$2:$B$3</c:f>
              <c:numCache>
                <c:formatCode>General</c:formatCode>
                <c:ptCount val="2"/>
                <c:pt idx="0">
                  <c:v>0.284267217062282</c:v>
                </c:pt>
                <c:pt idx="1">
                  <c:v>0.5220918784014116</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65"/>
          <c:min val="0.0"/>
        </c:scaling>
        <c:delete val="0"/>
        <c:axPos val="l"/>
        <c:majorGridlines>
          <c:spPr>
            <a:ln>
              <a:solidFill>
                <a:srgbClr val="E1E8E8"/>
              </a:solidFill>
            </a:ln>
          </c:spPr>
        </c:majorGridlines>
        <c:numFmt formatCode="0.0" sourceLinked="0"/>
        <c:majorTickMark val="out"/>
        <c:minorTickMark val="none"/>
        <c:tickLblPos val="nextTo"/>
        <c:spPr>
          <a:ln>
            <a:noFill/>
          </a:ln>
        </c:spPr>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Baseline</c:v>
                </c:pt>
              </c:strCache>
            </c:strRef>
          </c:tx>
          <c:spPr>
            <a:solidFill>
              <a:srgbClr val="899CA5"/>
            </a:solidFill>
            <a:ln>
              <a:noFill/>
            </a:ln>
          </c:spPr>
          <c:cat>
            <c:strRef>
              <c:f>Sheet1!$A$2:$A$5</c:f>
              <c:strCache>
                <c:ptCount val="4"/>
                <c:pt idx="0">
                  <c:v>LR*</c:v>
                </c:pt>
                <c:pt idx="1">
                  <c:v>Tree</c:v>
                </c:pt>
                <c:pt idx="2">
                  <c:v>RF</c:v>
                </c:pt>
                <c:pt idx="3">
                  <c:v>XGBoost</c:v>
                </c:pt>
              </c:strCache>
            </c:strRef>
          </c:cat>
          <c:val>
            <c:numRef>
              <c:f>Sheet1!$B$2:$B$5</c:f>
              <c:numCache>
                <c:formatCode>General</c:formatCode>
                <c:ptCount val="4"/>
                <c:pt idx="0">
                  <c:v>0.4969981429211727</c:v>
                </c:pt>
                <c:pt idx="1">
                  <c:v>0.284267217062282</c:v>
                </c:pt>
                <c:pt idx="2">
                  <c:v>0.531169199686173</c:v>
                </c:pt>
                <c:pt idx="3">
                  <c:v>0.5543803073495323</c:v>
                </c:pt>
              </c:numCache>
            </c:numRef>
          </c:val>
        </c:ser>
        <c:ser>
          <c:idx val="1"/>
          <c:order val="1"/>
          <c:tx>
            <c:strRef>
              <c:f>Sheet1!$C$1</c:f>
              <c:strCache>
                <c:ptCount val="1"/>
                <c:pt idx="0">
                  <c:v>CV-selected</c:v>
                </c:pt>
              </c:strCache>
            </c:strRef>
          </c:tx>
          <c:spPr>
            <a:solidFill>
              <a:srgbClr val="187B78"/>
            </a:solidFill>
            <a:ln>
              <a:noFill/>
            </a:ln>
          </c:spPr>
          <c:cat>
            <c:strRef>
              <c:f>Sheet1!$A$2:$A$5</c:f>
              <c:strCache>
                <c:ptCount val="4"/>
                <c:pt idx="0">
                  <c:v>LR*</c:v>
                </c:pt>
                <c:pt idx="1">
                  <c:v>Tree</c:v>
                </c:pt>
                <c:pt idx="2">
                  <c:v>RF</c:v>
                </c:pt>
                <c:pt idx="3">
                  <c:v>XGBoost</c:v>
                </c:pt>
              </c:strCache>
            </c:strRef>
          </c:cat>
          <c:val>
            <c:numRef>
              <c:f>Sheet1!$C$2:$C$5</c:f>
              <c:numCache>
                <c:formatCode>General</c:formatCode>
                <c:ptCount val="4"/>
                <c:pt idx="0">
                  <c:v>0.49674924303782697</c:v>
                </c:pt>
                <c:pt idx="1">
                  <c:v>0.5220918784014116</c:v>
                </c:pt>
                <c:pt idx="2">
                  <c:v>0.5507549511360591</c:v>
                </c:pt>
                <c:pt idx="3">
                  <c:v>0.5516036303213034</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l"/>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65"/>
          <c:min val="0.0"/>
        </c:scaling>
        <c:delete val="0"/>
        <c:axPos val="b"/>
        <c:majorGridlines>
          <c:spPr>
            <a:ln>
              <a:solidFill>
                <a:srgbClr val="E1E8E8"/>
              </a:solidFill>
            </a:ln>
          </c:spPr>
        </c:majorGridlines>
        <c:numFmt formatCode="0.000" sourceLinked="0"/>
        <c:majorTickMark val="out"/>
        <c:minorTickMark val="none"/>
        <c:tickLblPos val="nextTo"/>
        <c:spPr>
          <a:ln>
            <a:noFill/>
          </a:ln>
        </c:spPr>
        <c:txPr>
          <a:bodyPr/>
          <a:lstStyle/>
          <a:p>
            <a:pPr>
              <a:defRPr sz="1400"/>
            </a:pPr>
          </a:p>
        </c:txPr>
        <c:crossAx val="-2068027336"/>
        <c:crosses val="autoZero"/>
      </c:valAx>
    </c:plotArea>
    <c:legend>
      <c:legendPos val="b"/>
      <c:overlay val="0"/>
      <c:txPr>
        <a:bodyPr/>
        <a:lstStyle/>
        <a:p>
          <a:pPr>
            <a:defRPr sz="15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AP</c:v>
                </c:pt>
              </c:strCache>
            </c:strRef>
          </c:tx>
          <c:spPr>
            <a:solidFill>
              <a:srgbClr val="899CA5"/>
            </a:solidFill>
            <a:ln>
              <a:noFill/>
            </a:ln>
          </c:spPr>
          <c:dPt>
            <c:idx val="0"/>
            <c:spPr>
              <a:solidFill>
                <a:srgbClr val="899CA5"/>
              </a:solidFill>
              <a:ln>
                <a:noFill/>
              </a:ln>
            </c:spPr>
          </c:dPt>
          <c:dPt>
            <c:idx val="1"/>
            <c:spPr>
              <a:solidFill>
                <a:srgbClr val="187B78"/>
              </a:solidFill>
              <a:ln>
                <a:noFill/>
              </a:ln>
            </c:spPr>
          </c:dPt>
          <c:cat>
            <c:strRef>
              <c:f>Sheet1!$A$2:$A$3</c:f>
              <c:strCache>
                <c:ptCount val="2"/>
                <c:pt idx="0">
                  <c:v>Baseline</c:v>
                </c:pt>
                <c:pt idx="1">
                  <c:v>Selected</c:v>
                </c:pt>
              </c:strCache>
            </c:strRef>
          </c:cat>
          <c:val>
            <c:numRef>
              <c:f>Sheet1!$B$2:$B$3</c:f>
              <c:numCache>
                <c:formatCode>General</c:formatCode>
                <c:ptCount val="2"/>
                <c:pt idx="0">
                  <c:v>0.531169199686173</c:v>
                </c:pt>
                <c:pt idx="1">
                  <c:v>0.5507549511360591</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65"/>
          <c:min val="0.0"/>
        </c:scaling>
        <c:delete val="0"/>
        <c:axPos val="l"/>
        <c:majorGridlines>
          <c:spPr>
            <a:ln>
              <a:solidFill>
                <a:srgbClr val="E1E8E8"/>
              </a:solidFill>
            </a:ln>
          </c:spPr>
        </c:majorGridlines>
        <c:numFmt formatCode="0.0" sourceLinked="0"/>
        <c:majorTickMark val="out"/>
        <c:minorTickMark val="none"/>
        <c:tickLblPos val="nextTo"/>
        <c:spPr>
          <a:ln>
            <a:noFill/>
          </a:ln>
        </c:spPr>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AP</c:v>
                </c:pt>
              </c:strCache>
            </c:strRef>
          </c:tx>
          <c:spPr>
            <a:solidFill>
              <a:srgbClr val="899CA5"/>
            </a:solidFill>
            <a:ln>
              <a:noFill/>
            </a:ln>
          </c:spPr>
          <c:dPt>
            <c:idx val="0"/>
            <c:spPr>
              <a:solidFill>
                <a:srgbClr val="899CA5"/>
              </a:solidFill>
              <a:ln>
                <a:noFill/>
              </a:ln>
            </c:spPr>
          </c:dPt>
          <c:dPt>
            <c:idx val="1"/>
            <c:spPr>
              <a:solidFill>
                <a:srgbClr val="187B78"/>
              </a:solidFill>
              <a:ln>
                <a:noFill/>
              </a:ln>
            </c:spPr>
          </c:dPt>
          <c:cat>
            <c:strRef>
              <c:f>Sheet1!$A$2:$A$3</c:f>
              <c:strCache>
                <c:ptCount val="2"/>
                <c:pt idx="0">
                  <c:v>Baseline</c:v>
                </c:pt>
                <c:pt idx="1">
                  <c:v>Selected</c:v>
                </c:pt>
              </c:strCache>
            </c:strRef>
          </c:cat>
          <c:val>
            <c:numRef>
              <c:f>Sheet1!$B$2:$B$3</c:f>
              <c:numCache>
                <c:formatCode>General</c:formatCode>
                <c:ptCount val="2"/>
                <c:pt idx="0">
                  <c:v>0.5543803073495323</c:v>
                </c:pt>
                <c:pt idx="1">
                  <c:v>0.5516036303213034</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65"/>
          <c:min val="0.0"/>
        </c:scaling>
        <c:delete val="0"/>
        <c:axPos val="l"/>
        <c:majorGridlines>
          <c:spPr>
            <a:ln>
              <a:solidFill>
                <a:srgbClr val="E1E8E8"/>
              </a:solidFill>
            </a:ln>
          </c:spPr>
        </c:majorGridlines>
        <c:numFmt formatCode="0.0" sourceLinked="0"/>
        <c:majorTickMark val="out"/>
        <c:minorTickMark val="none"/>
        <c:tickLblPos val="nextTo"/>
        <c:spPr>
          <a:ln>
            <a:noFill/>
          </a:ln>
        </c:spPr>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Threshold 0.5</c:v>
                </c:pt>
              </c:strCache>
            </c:strRef>
          </c:tx>
          <c:spPr>
            <a:solidFill>
              <a:srgbClr val="899CA5"/>
            </a:solidFill>
            <a:ln>
              <a:noFill/>
            </a:ln>
          </c:spPr>
          <c:cat>
            <c:strRef>
              <c:f>Sheet1!$A$2:$A$3</c:f>
              <c:strCache>
                <c:ptCount val="2"/>
                <c:pt idx="0">
                  <c:v>False positives</c:v>
                </c:pt>
                <c:pt idx="1">
                  <c:v>False negatives</c:v>
                </c:pt>
              </c:strCache>
            </c:strRef>
          </c:cat>
          <c:val>
            <c:numRef>
              <c:f>Sheet1!$B$2:$B$3</c:f>
              <c:numCache>
                <c:formatCode>General</c:formatCode>
                <c:ptCount val="2"/>
                <c:pt idx="0">
                  <c:v>690</c:v>
                </c:pt>
                <c:pt idx="1">
                  <c:v>599</c:v>
                </c:pt>
              </c:numCache>
            </c:numRef>
          </c:val>
        </c:ser>
        <c:ser>
          <c:idx val="1"/>
          <c:order val="1"/>
          <c:tx>
            <c:strRef>
              <c:f>Sheet1!$C$1</c:f>
              <c:strCache>
                <c:ptCount val="1"/>
                <c:pt idx="0">
                  <c:v>Validation r=5</c:v>
                </c:pt>
              </c:strCache>
            </c:strRef>
          </c:tx>
          <c:spPr>
            <a:solidFill>
              <a:srgbClr val="C8784A"/>
            </a:solidFill>
            <a:ln>
              <a:noFill/>
            </a:ln>
          </c:spPr>
          <c:cat>
            <c:strRef>
              <c:f>Sheet1!$A$2:$A$3</c:f>
              <c:strCache>
                <c:ptCount val="2"/>
                <c:pt idx="0">
                  <c:v>False positives</c:v>
                </c:pt>
                <c:pt idx="1">
                  <c:v>False negatives</c:v>
                </c:pt>
              </c:strCache>
            </c:strRef>
          </c:cat>
          <c:val>
            <c:numRef>
              <c:f>Sheet1!$C$2:$C$3</c:f>
              <c:numCache>
                <c:formatCode>General</c:formatCode>
                <c:ptCount val="2"/>
                <c:pt idx="0">
                  <c:v>2248</c:v>
                </c:pt>
                <c:pt idx="1">
                  <c:v>232</c:v>
                </c:pt>
              </c:numCache>
            </c:numRef>
          </c:val>
        </c:ser>
        <c:dLbls>
          <c:numFmt formatCode="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2700.0"/>
          <c:min val="0.0"/>
        </c:scaling>
        <c:delete val="0"/>
        <c:axPos val="l"/>
        <c:majorGridlines>
          <c:spPr>
            <a:ln>
              <a:solidFill>
                <a:srgbClr val="E1E8E8"/>
              </a:solidFill>
            </a:ln>
          </c:spPr>
        </c:majorGridlines>
        <c:numFmt formatCode="0" sourceLinked="0"/>
        <c:majorTickMark val="out"/>
        <c:minorTickMark val="none"/>
        <c:tickLblPos val="nextTo"/>
        <c:spPr>
          <a:ln>
            <a:noFill/>
          </a:ln>
        </c:spPr>
        <c:txPr>
          <a:bodyPr/>
          <a:lstStyle/>
          <a:p>
            <a:pPr>
              <a:defRPr sz="1400"/>
            </a:pPr>
          </a:p>
        </c:txPr>
        <c:crossAx val="-2068027336"/>
        <c:crosses val="autoZero"/>
      </c:valAx>
    </c:plotArea>
    <c:legend>
      <c:legendPos val="b"/>
      <c:overlay val="0"/>
      <c:txPr>
        <a:bodyPr/>
        <a:lstStyle/>
        <a:p>
          <a:pPr>
            <a:defRPr sz="15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Credit Card Default Prediction</a:t>
            </a:r>
          </a:p>
          <a:p>
            <a:r>
              <a:t>Lei Peng (G2509090C) | Part 1: Data and logistic regression | Contribution 25%</a:t>
            </a:r>
          </a:p>
          <a:p>
            <a:r>
              <a:t>Target: 45 seconds</a:t>
            </a:r>
          </a:p>
          <a:p/>
          <a:p>
            <a:r>
              <a:t>Our question is how to identify default risk while balancing predictive ranking, interpretability, and the cost of taking action. We compare logistic regression, a decision tree, random forest, and XGBoost on shared historical records. A model score ranks accounts, but a threshold decides which accounts receive attention. Those are different questions, and our results will show why the distinction matters. I am Lei Peng, and I will begin with the data and logistic regression. Zhang Hanyu will cover the decision tree, Zhou Xinzhe the random forest, and Xu Yiqun XGBoost and decision costs.</a:t>
            </a:r>
          </a:p>
          <a:p/>
          <a:p>
            <a:r>
              <a:t>Transition: First, let us see how the shared data supports a fair comparison.</a:t>
            </a:r>
          </a:p>
          <a:p/>
          <a:p>
            <a:r>
              <a:t>UCI Default of Credit Card Clients; group experiment artifacts.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How we split and use the data</a:t>
            </a:r>
          </a:p>
          <a:p>
            <a:r>
              <a:t>Lei Peng (G2509090C) | Part 1: Data and logistic regression | Contribution 25%</a:t>
            </a:r>
          </a:p>
          <a:p>
            <a:r>
              <a:t>Target: 70 seconds</a:t>
            </a:r>
          </a:p>
          <a:p/>
          <a:p>
            <a:r>
              <a:t>The UCI dataset contains thirty thousand Taiwan credit card clients and twenty-three predictors. About twenty-two percent default, so an always-negative classifier can appear accurate while detecting nobody. We retain the supplied stratified split: eighteen thousand fitting rows, six thousand validation rows, and six thousand historical test rows. Five shared folds inside fitting data select configurations by average precision. Each fold learns its own category encoding, and logistic regression also learns scaling there. Validation selects thresholds without a later refit. The audit confirms identical memberships across the reproducible models. This random historical holdout is not temporal or external validation.</a:t>
            </a:r>
          </a:p>
          <a:p/>
          <a:p>
            <a:r>
              <a:t>Transition: With the data roles fixed, we can introduce the logistic reference and its caveat.</a:t>
            </a:r>
          </a:p>
          <a:p/>
          <a:p>
            <a:r>
              <a:t>Source: data/splits; protocol_frozen.json; results/final/audit.json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Logistic regression: the linear reference</a:t>
            </a:r>
          </a:p>
          <a:p>
            <a:r>
              <a:t>Lei Peng (G2509090C) | Part 1: Data and logistic regression | Contribution 25%</a:t>
            </a:r>
          </a:p>
          <a:p>
            <a:r>
              <a:t>Target: 65 seconds</a:t>
            </a:r>
          </a:p>
          <a:p/>
          <a:p>
            <a:r>
              <a:t>Logistic regression offers a linear reference whose coefficients describe regularized associations. We used fold-trained scaling and categorical encoding, then compared twelve declared combinations of regularization strength and class weighting. Cross-validation selected C equal to zero point one without class weighting. The test AP is 0.4967, versus 0.4970 for the baseline, so selection did not improve ranking here. Crucially, the original logistic notebook was empty, and its original procedure cannot be verified. We preserve those artifacts and label our reproducible run as a post-hoc supplement after earlier test results existed. Part two now examines how tree regularization changes performance.</a:t>
            </a:r>
          </a:p>
          <a:p/>
          <a:p>
            <a:r>
              <a:t>Transition: I will now hand over to Zhang Hanyu to explain decision-tree regularization.</a:t>
            </a:r>
          </a:p>
          <a:p/>
          <a:p>
            <a:r>
              <a:t>Source: results/final/model_comparison.csv | Historical test n=6,000; default=1 | LR* = post-hoc reproducibility supplement after historic test results existed.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Decision tree: controlling overfitting</a:t>
            </a:r>
          </a:p>
          <a:p>
            <a:r>
              <a:t>Zhang Hanyu (G2509091L) | Part 2: Decision tree and model comparison | Contribution 25%</a:t>
            </a:r>
          </a:p>
          <a:p>
            <a:r>
              <a:t>Target: 65 seconds</a:t>
            </a:r>
          </a:p>
          <a:p/>
          <a:p>
            <a:r>
              <a:t>A decision tree can fit very detailed partitions, which makes overfitting easy. Our baseline achieves nearly perfect fitting-fold AP but only about zero point three in cross-validation. The declared grid searches seven depth limits and three minimum leaf sizes, giving twenty-one configurations. The selected model requires at least one hundred observations in each leaf, although it has no explicit depth cap. Test AP rises from 0.2843 to 0.5221. This is a substantial change for this model and split. It supports regularization as an explanation, rather than treating training performance as evidence of generalization. Next, we inspect what the tree actually uses.</a:t>
            </a:r>
          </a:p>
          <a:p/>
          <a:p>
            <a:r>
              <a:t>Transition: Next, we inspect one rule to understand the tree's predictive pattern.</a:t>
            </a:r>
          </a:p>
          <a:p/>
          <a:p>
            <a:r>
              <a:t>Source: results/final/model_comparison.csv | Historical test n=6,000; default=1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Reading the tree’s first decision</a:t>
            </a:r>
          </a:p>
          <a:p>
            <a:r>
              <a:t>Zhang Hanyu (G2509091L) | Part 2: Decision tree and model comparison | Contribution 25%</a:t>
            </a:r>
          </a:p>
          <a:p>
            <a:r>
              <a:t>Target: 60 seconds</a:t>
            </a:r>
          </a:p>
          <a:p/>
          <a:p>
            <a:r>
              <a:t>The selected tree begins with recent repayment status, PAY zero. Its root separates values at one point five. In the fitting sample, the default proportions are sixteen point five one percent on the left and seventy point one three percent on the right. This provides a concise description of an important predictive pattern. It does not mean repayment status causes the outcome, and node proportions are not a substitute for calibration analysis. The full selected tree still has depth eighteen and one hundred thirty-four leaves. We therefore use a representative rule rather than claiming the whole tree is a small explanation.</a:t>
            </a:r>
          </a:p>
          <a:p/>
          <a:p>
            <a:r>
              <a:t>Transition: We can now place the tree beside the other models using a common ranking metric.</a:t>
            </a:r>
          </a:p>
          <a:p/>
          <a:p>
            <a:r>
              <a:t>Source: saved decision-tree model; integration audit/report 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Ranking performance across four models</a:t>
            </a:r>
          </a:p>
          <a:p>
            <a:r>
              <a:t>Zhang Hanyu (G2509091L) | Part 2: Decision tree and model comparison | Contribution 25%</a:t>
            </a:r>
          </a:p>
          <a:p>
            <a:r>
              <a:t>Target: 55 seconds</a:t>
            </a:r>
          </a:p>
          <a:p/>
          <a:p>
            <a:r>
              <a:t>This comparison retains both the baseline and the cross-validation-selected model for each family. Average precision is a recall-increment weighted sum of precision, not the trapezoidal area sometimes also called PR-AUC. Our positive prevalence is approximately zero point two two, which gives useful context for these scores. The selected forest has AP 0.5508, and selected XGBoost has 0.5516. Those close point estimates do not establish superiority. The XGBoost baseline is numerically higher, but this retrospective observation does not authorize another selection round on test results. Part three will examine the forest and the fairness of our comparison.</a:t>
            </a:r>
          </a:p>
          <a:p/>
          <a:p>
            <a:r>
              <a:t>Transition: I will now hand over to Zhou Xinzhe for random forest and the comparison audit.</a:t>
            </a:r>
          </a:p>
          <a:p/>
          <a:p>
            <a:r>
              <a:t>Source: results/final/model_comparison.csv | Historical test n=6,000; default=1 | LR* = post-hoc reproducibility supplement after historic test results existed.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Random forest: averaging and regularization</a:t>
            </a:r>
          </a:p>
          <a:p>
            <a:r>
              <a:t>Zhou Xinzhe (G2509033F) | Part 3: Random forest and experiment audit | Contribution 25%</a:t>
            </a:r>
          </a:p>
          <a:p>
            <a:r>
              <a:t>Target: 70 seconds</a:t>
            </a:r>
          </a:p>
          <a:p/>
          <a:p>
            <a:r>
              <a:t>Random forest averages many trees, reducing dependence on any single partition. We evaluated a baseline and twenty-three seeded candidate configurations using the same five fitting folds and average-precision objective. The selected configuration uses five hundred trees, maximum depth eight, a minimum leaf size of two, and half the features at each split. It also weights the positive class three times as heavily. Test AP changes from 0.5312 to 0.5508. Class weighting affects the learned score distribution, so we should not assume these scores are calibrated probabilities. We next inspect the operating threshold and the resulting workload rather than relying on ranking alone.</a:t>
            </a:r>
          </a:p>
          <a:p/>
          <a:p>
            <a:r>
              <a:t>Transition: We next move from the forest's ranking to its decision threshold.</a:t>
            </a:r>
          </a:p>
          <a:p/>
          <a:p>
            <a:r>
              <a:t>Source: results/final/model_comparison.csv | Historical test n=6,000; default=1 | results/rf/protocol_frozen.json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Random forest: the review workload</a:t>
            </a:r>
          </a:p>
          <a:p>
            <a:r>
              <a:t>Zhou Xinzhe (G2509033F) | Part 3: Random forest and experiment audit | Contribution 25%</a:t>
            </a:r>
          </a:p>
          <a:p>
            <a:r>
              <a:t>Target: 60 seconds</a:t>
            </a:r>
          </a:p>
          <a:p/>
          <a:p>
            <a:r>
              <a:t>For the forest, validation selected a threshold of 0.3229 under the hypothetical assumption that a missed default costs five times a false-positive review. On the historical test set, recall rises from 52.0% to 77.1%, but the alert rate also rises from 21.1% to 48.4%. Cost falls from 3758 to 3404 units. We independently checked the saved error profiles and case rules for both policies. The most confident errors can appear in both exports because they remain errors at both thresholds. Identical extreme examples alone therefore do not demonstrate an export mistake.</a:t>
            </a:r>
          </a:p>
          <a:p/>
          <a:p>
            <a:r>
              <a:t>Transition: Before comparing policies, we should check that the underlying evidence aligns.</a:t>
            </a:r>
          </a:p>
          <a:p/>
          <a:p>
            <a:r>
              <a:t>Source: results/final/model_comparison.csv | Historical test n=6,000; default=1 | RF misclassification audit; costs hypothetical.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What makes the comparison credible</a:t>
            </a:r>
          </a:p>
          <a:p>
            <a:r>
              <a:t>Zhou Xinzhe (G2509033F) | Part 3: Random forest and experiment audit | Contribution 25%</a:t>
            </a:r>
          </a:p>
          <a:p>
            <a:r>
              <a:t>Target: 50 seconds</a:t>
            </a:r>
          </a:p>
          <a:p/>
          <a:p>
            <a:r>
              <a:t>Our audit checks that comparisons use the same clients, labels, development partitions, and five-fold memberships. It recomputes metrics from row-aligned saved predictions and applies the exact greater-than-or-equal decision rule before rounding. Saved-model replay reproduces frozen decisions; minor floating-point differences are documented. These checks make the comparison traceable, but they do not make every aspect identical: search budgets differ, and the logistic supplement has a distinct evidence history. Nor can a repository audit prove everything performed outside the repository. With those boundaries explicit, part four now separates XGBoost's ranking result from its threshold-policy result.</a:t>
            </a:r>
          </a:p>
          <a:p/>
          <a:p>
            <a:r>
              <a:t>Transition: I will now hand over to Xu Yiqun for XGBoost and the cost of acting on its scores.</a:t>
            </a:r>
          </a:p>
          <a:p/>
          <a:p>
            <a:r>
              <a:t>Source: results/final/audit.json; integration/LOGISTIC_PROVENANCE.md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XGBoost: no gain in test ranking</a:t>
            </a:r>
          </a:p>
          <a:p>
            <a:r>
              <a:t>Xu Yiqun (G2509092H) | Part 4: XGBoost and cost analysis | Contribution 25%</a:t>
            </a:r>
          </a:p>
          <a:p>
            <a:r>
              <a:t>Target: 60 seconds</a:t>
            </a:r>
          </a:p>
          <a:p/>
          <a:p>
            <a:r>
              <a:t>XGBoost builds trees sequentially with regularization. We retained the baseline and searched twenty-three additional seeded configurations using the shared CV objective. The selected configuration has test AP 0.5516, compared with 0.5544 for the baseline. The paired bootstrap interval for the difference spans zero, so we do not claim a ranking improvement. This bootstrap resamples the fixed predictions and does not include model retraining or selection uncertainty. The useful next question is separate: given the selected model's scores, how does a validation-chosen action threshold change missed defaults, false positives, and the stated hypothetical cost?</a:t>
            </a:r>
          </a:p>
          <a:p/>
          <a:p>
            <a:r>
              <a:t>Transition: The next slide holds scores fixed and changes only the validation-selected threshold.</a:t>
            </a:r>
          </a:p>
          <a:p/>
          <a:p>
            <a:r>
              <a:t>Source: results/final/model_comparison.csv | Historical test n=6,000; default=1 | results/xgboost/bootstrap_intervals.csv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XGBoost: fewer misses, more reviews</a:t>
            </a:r>
          </a:p>
          <a:p>
            <a:r>
              <a:t>Xu Yiqun (G2509092H) | Part 4: XGBoost and cost analysis | Contribution 25%</a:t>
            </a:r>
          </a:p>
          <a:p>
            <a:r>
              <a:t>Target: 80 seconds</a:t>
            </a:r>
          </a:p>
          <a:p/>
          <a:p>
            <a:r>
              <a:t>At a cost ratio of five, validation selects XGBoost's threshold at 0.3150. Applying it unchanged to the historical test set reduces false negatives from 599 to 232, while false positives rise from 690 to 2248. Recall reaches 82.5%, but 55.7% of clients are flagged. The total hypothetical cost falls from 3685 to 3408, about 7.5%. This is not an improvement in AP or ROC-AUC; the scores have not changed. The policy may be impractical if review capacity is limited. Real exposure, loss severity, and intervention benefits are unavailable, so these cost units are a sensitivity analysis.</a:t>
            </a:r>
          </a:p>
          <a:p/>
          <a:p>
            <a:r>
              <a:t>Transition: This trade-off leads to our main conclusion about ranking, costs, and workload.</a:t>
            </a:r>
          </a:p>
          <a:p/>
          <a:p>
            <a:r>
              <a:t>Source: results/final/model_comparison.csv | Historical test n=6,000; default=1 | FP + 5×FN; threshold selected only on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What the results mean for credit review</a:t>
            </a:r>
          </a:p>
          <a:p>
            <a:r>
              <a:t>Xu Yiqun (G2509092H) | Part 4: XGBoost and cost analysis | Contribution 25%</a:t>
            </a:r>
          </a:p>
          <a:p>
            <a:r>
              <a:t>Target: 40 seconds</a:t>
            </a:r>
          </a:p>
          <a:p/>
          <a:p>
            <a:r>
              <a:t>Ranking and action policy answer different questions. Tree regularization improves its baseline, while the selected ensembles have similar ranking estimates. Lower thresholds reduce the stated cost by creating more reviews. Operational recommendations require realistic costs and capacity constraints. Historical data, duplicates, random splitting, and logistic provenance remain limitations. A new study should use fresh temporal or external data and examine calibration and subgroup errors. Thank you. We welcome your questions.</a:t>
            </a:r>
          </a:p>
          <a:p/>
          <a:p>
            <a:r>
              <a:t>Transition: We welcome your questions; the following slides provide supporting details.</a:t>
            </a:r>
          </a:p>
          <a:p/>
          <a:p>
            <a:r>
              <a:t>Historical educational study; no causal or deployment-readiness claim.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Backup A • AP, ROC-AUC and threshold metrics</a:t>
            </a:r>
          </a:p>
          <a:p>
            <a:r>
              <a:t>Zhang Hanyu (G2509091L) | Part 2: Decision tree and model comparison | Contribution 25%</a:t>
            </a:r>
          </a:p>
          <a:p>
            <a:r>
              <a:t>Q&amp;A backup — use when relevant</a:t>
            </a:r>
          </a:p>
          <a:p/>
          <a:p>
            <a:r>
              <a:t>If asked about the ranking metric, explain that average precision weights each precision value by the associated increase in recall. It does not linearly interpolate the precision-recall curve with trapezoids, so similarly named PR-AUC values need not agree. ROC-AUC instead summarizes positive-versus-negative score ordering. Neither metric changes when we apply a different operating threshold to the same saved scores. Precision and recall do change because the decision set changes. The historical logistic CSV uses a PR-AUC label whose computation cannot be verified, which is one reason it is excluded from our verified ranking table.</a:t>
            </a:r>
          </a:p>
          <a:p/>
          <a:p>
            <a:r>
              <a:t>Transition: If useful, we can next explain the cost rule and the scope of its uncertainty.</a:t>
            </a:r>
          </a:p>
          <a:p/>
          <a:p>
            <a:r>
              <a:t>Source: scikit-learn average_precision_score documentation; part4/evaluation.py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Backup B • Cost ratios and fixed-prediction uncertainty</a:t>
            </a:r>
          </a:p>
          <a:p>
            <a:r>
              <a:t>Xu Yiqun (G2509092H) | Part 4: XGBoost and cost analysis | Contribution 25%</a:t>
            </a:r>
          </a:p>
          <a:p>
            <a:r>
              <a:t>Q&amp;A backup — use when relevant</a:t>
            </a:r>
          </a:p>
          <a:p/>
          <a:p>
            <a:r>
              <a:t>The cost experiment declares four ratios rather than searching for a convenient ratio after viewing test results. At each ratio, the validation table includes all distinct score-based decision sets, with tied scores moving together. Equal costs select the largest threshold and therefore fewer alerts. The paired bootstrap samples the same test-row indices for each compared prediction vector, stratified by outcome. Its intervals are conditional on frozen models, thresholds, and class counts. They do not include uncertainty from refitting, hyperparameter search, threshold search, or a shift to another population. Real operational costs would require information that this dataset does not provide.</a:t>
            </a:r>
          </a:p>
          <a:p/>
          <a:p>
            <a:r>
              <a:t>Transition: We can also explain where the source data and evidence boundaries come from.</a:t>
            </a:r>
          </a:p>
          <a:p/>
          <a:p>
            <a:r>
              <a:t>Source: frozen protocols; integration/uncertainty.py; bootstrap_intervals.csv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Backup C • Data provenance and evidence boundaries</a:t>
            </a:r>
          </a:p>
          <a:p>
            <a:r>
              <a:t>Lei Peng (G2509090C) | Part 1: Data and logistic regression | Contribution 25%</a:t>
            </a:r>
          </a:p>
          <a:p>
            <a:r>
              <a:t>Q&amp;A backup — use when relevant</a:t>
            </a:r>
          </a:p>
          <a:p/>
          <a:p>
            <a:r>
              <a:t>The integration audit redownloaded the official source and reproduced the committed cleaned dataset in values, types, order, and schema. Undocumented education categories are consolidated, and marriage category zero is mapped to other. The original download bytes were not preserved, so the new download and its hash are documented separately. Duplicate feature vectors remain under the established protocol and may create dependence across partitions. For logistic regression, the original notebook history contained an empty model notebook. The supplement's code and search declaration were committed before execution, but previous team test results already existed. This makes the supplement reproducible without making it independent external evidence.</a:t>
            </a:r>
          </a:p>
          <a:p/>
          <a:p>
            <a:r>
              <a:t>Transition: The last backup lists the references and each member’s contribution.</a:t>
            </a:r>
          </a:p>
          <a:p/>
          <a:p>
            <a:r>
              <a:t>Sources: results/final/source_audit.json; integration/LOGISTIC_PROVENANCE.md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Backup D • Sources, responsibilities and reproducibility</a:t>
            </a:r>
          </a:p>
          <a:p>
            <a:r>
              <a:t>Zhou Xinzhe (G2509033F) | Part 3: Random forest and experiment audit | Contribution 25%</a:t>
            </a:r>
          </a:p>
          <a:p>
            <a:r>
              <a:t>Q&amp;A backup — use when relevant</a:t>
            </a:r>
          </a:p>
          <a:p/>
          <a:p>
            <a:r>
              <a:t>The numerical source for this editable presentation is the audited final comparison CSV, with model-specific protocols and bootstrap artifacts supplying supporting context. The UCI dataset, scikit-learn average-precision documentation, and the XGBoost paper are the core external references. The role plan assigns three minutes each to data and logistic regression, decision trees and ranking, random forest and audit, and XGBoost and costs. Lei Peng covers part one, Zhang Hanyu part two, Zhou Xinzhe part three, and Xu Yiqun part four. The group has confirmed equal contributions of twenty-five percent each. Integration and the logistic supplement were prepared with AI assistance for member review. Reproducing artifacts is distinct from retraining and selecting new models.</a:t>
            </a:r>
          </a:p>
          <a:p/>
          <a:p>
            <a:r>
              <a:t>Transition: We can return to the main conclusion or discuss a specific model or policy.</a:t>
            </a:r>
          </a:p>
          <a:p/>
          <a:p>
            <a:r>
              <a:t>Sources: Group 5 repository, frozen protocols, row-level predictions and integration audit.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ectangle 2"/>
          <p:cNvSpPr/>
          <p:nvPr/>
        </p:nvSpPr>
        <p:spPr>
          <a:xfrm>
            <a:off x="7406640" y="0"/>
            <a:ext cx="4785055" cy="6858000"/>
          </a:xfrm>
          <a:prstGeom prst="rect">
            <a:avLst/>
          </a:prstGeom>
          <a:solidFill>
            <a:srgbClr val="18344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640080" y="548640"/>
            <a:ext cx="6400800" cy="411480"/>
          </a:xfrm>
          <a:prstGeom prst="rect">
            <a:avLst/>
          </a:prstGeom>
          <a:noFill/>
        </p:spPr>
        <p:txBody>
          <a:bodyPr wrap="square" lIns="27432" rIns="27432" tIns="18288" bIns="18288">
            <a:spAutoFit/>
          </a:bodyPr>
          <a:lstStyle/>
          <a:p>
            <a:pPr>
              <a:spcAft>
                <a:spcPts val="700"/>
              </a:spcAft>
              <a:defRPr sz="1400" b="1">
                <a:solidFill>
                  <a:srgbClr val="187B78"/>
                </a:solidFill>
                <a:latin typeface="Arial"/>
              </a:defRPr>
            </a:pPr>
            <a:r>
              <a:t>NTU  /  SC6122  /  GROUP 5</a:t>
            </a:r>
          </a:p>
        </p:txBody>
      </p:sp>
      <p:sp>
        <p:nvSpPr>
          <p:cNvPr id="5" name="TextBox 4"/>
          <p:cNvSpPr txBox="1"/>
          <p:nvPr/>
        </p:nvSpPr>
        <p:spPr>
          <a:xfrm>
            <a:off x="640080" y="1572768"/>
            <a:ext cx="6400800" cy="1737360"/>
          </a:xfrm>
          <a:prstGeom prst="rect">
            <a:avLst/>
          </a:prstGeom>
          <a:noFill/>
        </p:spPr>
        <p:txBody>
          <a:bodyPr wrap="square" lIns="27432" rIns="27432" tIns="18288" bIns="18288">
            <a:spAutoFit/>
          </a:bodyPr>
          <a:lstStyle/>
          <a:p>
            <a:pPr>
              <a:spcAft>
                <a:spcPts val="700"/>
              </a:spcAft>
              <a:defRPr sz="4400" b="1">
                <a:solidFill>
                  <a:srgbClr val="183447"/>
                </a:solidFill>
                <a:latin typeface="Arial"/>
              </a:defRPr>
            </a:pPr>
            <a:r>
              <a:t>Credit Card</a:t>
            </a:r>
          </a:p>
          <a:p>
            <a:pPr>
              <a:spcAft>
                <a:spcPts val="700"/>
              </a:spcAft>
              <a:defRPr sz="4400" b="1">
                <a:solidFill>
                  <a:srgbClr val="183447"/>
                </a:solidFill>
                <a:latin typeface="Arial"/>
              </a:defRPr>
            </a:pPr>
            <a:r>
              <a:t>Default Prediction</a:t>
            </a:r>
          </a:p>
        </p:txBody>
      </p:sp>
      <p:cxnSp>
        <p:nvCxnSpPr>
          <p:cNvPr id="6" name="Connector 5"/>
          <p:cNvCxnSpPr/>
          <p:nvPr/>
        </p:nvCxnSpPr>
        <p:spPr>
          <a:xfrm>
            <a:off x="667512" y="3657600"/>
            <a:ext cx="1161288"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40080" y="3931920"/>
            <a:ext cx="6035040" cy="1097280"/>
          </a:xfrm>
          <a:prstGeom prst="rect">
            <a:avLst/>
          </a:prstGeom>
          <a:noFill/>
        </p:spPr>
        <p:txBody>
          <a:bodyPr wrap="square" lIns="27432" rIns="27432" tIns="18288" bIns="18288">
            <a:spAutoFit/>
          </a:bodyPr>
          <a:lstStyle/>
          <a:p>
            <a:pPr>
              <a:spcAft>
                <a:spcPts val="700"/>
              </a:spcAft>
              <a:defRPr sz="2500" b="0">
                <a:solidFill>
                  <a:srgbClr val="526575"/>
                </a:solidFill>
                <a:latin typeface="Arial"/>
              </a:defRPr>
            </a:pPr>
            <a:r>
              <a:t>Risk, interpretation and decision costs</a:t>
            </a:r>
          </a:p>
        </p:txBody>
      </p:sp>
      <p:sp>
        <p:nvSpPr>
          <p:cNvPr id="8" name="TextBox 7"/>
          <p:cNvSpPr txBox="1"/>
          <p:nvPr/>
        </p:nvSpPr>
        <p:spPr>
          <a:xfrm>
            <a:off x="640080" y="5852160"/>
            <a:ext cx="6217920" cy="45720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Emerging Topics in FinTech</a:t>
            </a:r>
          </a:p>
        </p:txBody>
      </p:sp>
      <p:sp>
        <p:nvSpPr>
          <p:cNvPr id="9" name="TextBox 8"/>
          <p:cNvSpPr txBox="1"/>
          <p:nvPr/>
        </p:nvSpPr>
        <p:spPr>
          <a:xfrm>
            <a:off x="7818120" y="594360"/>
            <a:ext cx="3840480" cy="457200"/>
          </a:xfrm>
          <a:prstGeom prst="rect">
            <a:avLst/>
          </a:prstGeom>
          <a:noFill/>
        </p:spPr>
        <p:txBody>
          <a:bodyPr wrap="square" lIns="27432" rIns="27432" tIns="18288" bIns="18288">
            <a:spAutoFit/>
          </a:bodyPr>
          <a:lstStyle/>
          <a:p>
            <a:pPr>
              <a:spcAft>
                <a:spcPts val="700"/>
              </a:spcAft>
              <a:defRPr sz="1300" b="1">
                <a:solidFill>
                  <a:srgbClr val="A6C8CB"/>
                </a:solidFill>
                <a:latin typeface="Arial"/>
              </a:defRPr>
            </a:pPr>
            <a:r>
              <a:t>THE TEAM</a:t>
            </a:r>
          </a:p>
        </p:txBody>
      </p:sp>
      <p:sp>
        <p:nvSpPr>
          <p:cNvPr id="10" name="TextBox 9"/>
          <p:cNvSpPr txBox="1"/>
          <p:nvPr/>
        </p:nvSpPr>
        <p:spPr>
          <a:xfrm>
            <a:off x="7818120" y="1417320"/>
            <a:ext cx="3794760" cy="365760"/>
          </a:xfrm>
          <a:prstGeom prst="rect">
            <a:avLst/>
          </a:prstGeom>
          <a:noFill/>
        </p:spPr>
        <p:txBody>
          <a:bodyPr wrap="square" lIns="27432" rIns="27432" tIns="18288" bIns="18288">
            <a:spAutoFit/>
          </a:bodyPr>
          <a:lstStyle/>
          <a:p>
            <a:pPr>
              <a:spcAft>
                <a:spcPts val="700"/>
              </a:spcAft>
              <a:defRPr sz="2300" b="1">
                <a:solidFill>
                  <a:srgbClr val="FFFFFF"/>
                </a:solidFill>
                <a:latin typeface="Arial"/>
              </a:defRPr>
            </a:pPr>
            <a:r>
              <a:t>Lei Peng</a:t>
            </a:r>
          </a:p>
        </p:txBody>
      </p:sp>
      <p:sp>
        <p:nvSpPr>
          <p:cNvPr id="11" name="TextBox 10"/>
          <p:cNvSpPr txBox="1"/>
          <p:nvPr/>
        </p:nvSpPr>
        <p:spPr>
          <a:xfrm>
            <a:off x="7818120" y="1828800"/>
            <a:ext cx="3794760" cy="365760"/>
          </a:xfrm>
          <a:prstGeom prst="rect">
            <a:avLst/>
          </a:prstGeom>
          <a:noFill/>
        </p:spPr>
        <p:txBody>
          <a:bodyPr wrap="square" lIns="27432" rIns="27432" tIns="18288" bIns="18288">
            <a:spAutoFit/>
          </a:bodyPr>
          <a:lstStyle/>
          <a:p>
            <a:pPr>
              <a:spcAft>
                <a:spcPts val="700"/>
              </a:spcAft>
              <a:defRPr sz="1400" b="0">
                <a:solidFill>
                  <a:srgbClr val="CBDADC"/>
                </a:solidFill>
                <a:latin typeface="Arial"/>
              </a:defRPr>
            </a:pPr>
            <a:r>
              <a:t>G2509090C  ·  Part 1</a:t>
            </a:r>
          </a:p>
        </p:txBody>
      </p:sp>
      <p:cxnSp>
        <p:nvCxnSpPr>
          <p:cNvPr id="12" name="Connector 11"/>
          <p:cNvCxnSpPr/>
          <p:nvPr/>
        </p:nvCxnSpPr>
        <p:spPr>
          <a:xfrm>
            <a:off x="7845552" y="2313432"/>
            <a:ext cx="3721608" cy="0"/>
          </a:xfrm>
          <a:prstGeom prst="line">
            <a:avLst/>
          </a:prstGeom>
          <a:ln w="8890">
            <a:solidFill>
              <a:srgbClr val="385365"/>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7818120" y="2551176"/>
            <a:ext cx="3794760" cy="365760"/>
          </a:xfrm>
          <a:prstGeom prst="rect">
            <a:avLst/>
          </a:prstGeom>
          <a:noFill/>
        </p:spPr>
        <p:txBody>
          <a:bodyPr wrap="square" lIns="27432" rIns="27432" tIns="18288" bIns="18288">
            <a:spAutoFit/>
          </a:bodyPr>
          <a:lstStyle/>
          <a:p>
            <a:pPr>
              <a:spcAft>
                <a:spcPts val="700"/>
              </a:spcAft>
              <a:defRPr sz="2300" b="1">
                <a:solidFill>
                  <a:srgbClr val="FFFFFF"/>
                </a:solidFill>
                <a:latin typeface="Arial"/>
              </a:defRPr>
            </a:pPr>
            <a:r>
              <a:t>Zhang Hanyu</a:t>
            </a:r>
          </a:p>
        </p:txBody>
      </p:sp>
      <p:sp>
        <p:nvSpPr>
          <p:cNvPr id="14" name="TextBox 13"/>
          <p:cNvSpPr txBox="1"/>
          <p:nvPr/>
        </p:nvSpPr>
        <p:spPr>
          <a:xfrm>
            <a:off x="7818120" y="2962656"/>
            <a:ext cx="3794760" cy="365760"/>
          </a:xfrm>
          <a:prstGeom prst="rect">
            <a:avLst/>
          </a:prstGeom>
          <a:noFill/>
        </p:spPr>
        <p:txBody>
          <a:bodyPr wrap="square" lIns="27432" rIns="27432" tIns="18288" bIns="18288">
            <a:spAutoFit/>
          </a:bodyPr>
          <a:lstStyle/>
          <a:p>
            <a:pPr>
              <a:spcAft>
                <a:spcPts val="700"/>
              </a:spcAft>
              <a:defRPr sz="1400" b="0">
                <a:solidFill>
                  <a:srgbClr val="CBDADC"/>
                </a:solidFill>
                <a:latin typeface="Arial"/>
              </a:defRPr>
            </a:pPr>
            <a:r>
              <a:t>G2509091L  ·  Part 2</a:t>
            </a:r>
          </a:p>
        </p:txBody>
      </p:sp>
      <p:cxnSp>
        <p:nvCxnSpPr>
          <p:cNvPr id="15" name="Connector 14"/>
          <p:cNvCxnSpPr/>
          <p:nvPr/>
        </p:nvCxnSpPr>
        <p:spPr>
          <a:xfrm>
            <a:off x="7845552" y="3447288"/>
            <a:ext cx="3721608" cy="0"/>
          </a:xfrm>
          <a:prstGeom prst="line">
            <a:avLst/>
          </a:prstGeom>
          <a:ln w="8890">
            <a:solidFill>
              <a:srgbClr val="385365"/>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7818120" y="3685032"/>
            <a:ext cx="3794760" cy="365760"/>
          </a:xfrm>
          <a:prstGeom prst="rect">
            <a:avLst/>
          </a:prstGeom>
          <a:noFill/>
        </p:spPr>
        <p:txBody>
          <a:bodyPr wrap="square" lIns="27432" rIns="27432" tIns="18288" bIns="18288">
            <a:spAutoFit/>
          </a:bodyPr>
          <a:lstStyle/>
          <a:p>
            <a:pPr>
              <a:spcAft>
                <a:spcPts val="700"/>
              </a:spcAft>
              <a:defRPr sz="2300" b="1">
                <a:solidFill>
                  <a:srgbClr val="FFFFFF"/>
                </a:solidFill>
                <a:latin typeface="Arial"/>
              </a:defRPr>
            </a:pPr>
            <a:r>
              <a:t>Zhou Xinzhe</a:t>
            </a:r>
          </a:p>
        </p:txBody>
      </p:sp>
      <p:sp>
        <p:nvSpPr>
          <p:cNvPr id="17" name="TextBox 16"/>
          <p:cNvSpPr txBox="1"/>
          <p:nvPr/>
        </p:nvSpPr>
        <p:spPr>
          <a:xfrm>
            <a:off x="7818120" y="4096512"/>
            <a:ext cx="3794760" cy="365760"/>
          </a:xfrm>
          <a:prstGeom prst="rect">
            <a:avLst/>
          </a:prstGeom>
          <a:noFill/>
        </p:spPr>
        <p:txBody>
          <a:bodyPr wrap="square" lIns="27432" rIns="27432" tIns="18288" bIns="18288">
            <a:spAutoFit/>
          </a:bodyPr>
          <a:lstStyle/>
          <a:p>
            <a:pPr>
              <a:spcAft>
                <a:spcPts val="700"/>
              </a:spcAft>
              <a:defRPr sz="1400" b="0">
                <a:solidFill>
                  <a:srgbClr val="CBDADC"/>
                </a:solidFill>
                <a:latin typeface="Arial"/>
              </a:defRPr>
            </a:pPr>
            <a:r>
              <a:t>G2509033F  ·  Part 3</a:t>
            </a:r>
          </a:p>
        </p:txBody>
      </p:sp>
      <p:cxnSp>
        <p:nvCxnSpPr>
          <p:cNvPr id="18" name="Connector 17"/>
          <p:cNvCxnSpPr/>
          <p:nvPr/>
        </p:nvCxnSpPr>
        <p:spPr>
          <a:xfrm>
            <a:off x="7845552" y="4581144"/>
            <a:ext cx="3721608" cy="0"/>
          </a:xfrm>
          <a:prstGeom prst="line">
            <a:avLst/>
          </a:prstGeom>
          <a:ln w="8890">
            <a:solidFill>
              <a:srgbClr val="385365"/>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7818120" y="4818888"/>
            <a:ext cx="3794760" cy="365760"/>
          </a:xfrm>
          <a:prstGeom prst="rect">
            <a:avLst/>
          </a:prstGeom>
          <a:noFill/>
        </p:spPr>
        <p:txBody>
          <a:bodyPr wrap="square" lIns="27432" rIns="27432" tIns="18288" bIns="18288">
            <a:spAutoFit/>
          </a:bodyPr>
          <a:lstStyle/>
          <a:p>
            <a:pPr>
              <a:spcAft>
                <a:spcPts val="700"/>
              </a:spcAft>
              <a:defRPr sz="2300" b="1">
                <a:solidFill>
                  <a:srgbClr val="FFFFFF"/>
                </a:solidFill>
                <a:latin typeface="Arial"/>
              </a:defRPr>
            </a:pPr>
            <a:r>
              <a:t>Xu Yiqun</a:t>
            </a:r>
          </a:p>
        </p:txBody>
      </p:sp>
      <p:sp>
        <p:nvSpPr>
          <p:cNvPr id="20" name="TextBox 19"/>
          <p:cNvSpPr txBox="1"/>
          <p:nvPr/>
        </p:nvSpPr>
        <p:spPr>
          <a:xfrm>
            <a:off x="7818120" y="5230368"/>
            <a:ext cx="3794760" cy="365760"/>
          </a:xfrm>
          <a:prstGeom prst="rect">
            <a:avLst/>
          </a:prstGeom>
          <a:noFill/>
        </p:spPr>
        <p:txBody>
          <a:bodyPr wrap="square" lIns="27432" rIns="27432" tIns="18288" bIns="18288">
            <a:spAutoFit/>
          </a:bodyPr>
          <a:lstStyle/>
          <a:p>
            <a:pPr>
              <a:spcAft>
                <a:spcPts val="700"/>
              </a:spcAft>
              <a:defRPr sz="1400" b="0">
                <a:solidFill>
                  <a:srgbClr val="CBDADC"/>
                </a:solidFill>
                <a:latin typeface="Arial"/>
              </a:defRPr>
            </a:pPr>
            <a:r>
              <a:t>G2509092H  ·  Part 4</a:t>
            </a:r>
          </a:p>
        </p:txBody>
      </p:sp>
      <p:sp>
        <p:nvSpPr>
          <p:cNvPr id="21" name="TextBox 20"/>
          <p:cNvSpPr txBox="1"/>
          <p:nvPr/>
        </p:nvSpPr>
        <p:spPr>
          <a:xfrm>
            <a:off x="7818120" y="6172200"/>
            <a:ext cx="3749039" cy="320040"/>
          </a:xfrm>
          <a:prstGeom prst="rect">
            <a:avLst/>
          </a:prstGeom>
          <a:noFill/>
        </p:spPr>
        <p:txBody>
          <a:bodyPr wrap="square" lIns="27432" rIns="27432" tIns="18288" bIns="18288">
            <a:spAutoFit/>
          </a:bodyPr>
          <a:lstStyle/>
          <a:p>
            <a:pPr>
              <a:spcAft>
                <a:spcPts val="700"/>
              </a:spcAft>
              <a:defRPr sz="1300" b="0">
                <a:solidFill>
                  <a:srgbClr val="CBDADC"/>
                </a:solidFill>
                <a:latin typeface="Arial"/>
              </a:defRPr>
            </a:pPr>
            <a:r>
              <a:t>Contribution: 25% each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1  /  Lei Peng  /  Data and logistic regression</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How we split and use the data</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30,000 clients • 23 predictors • 22.12% default</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Categories learned within each training fold</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Validation selects policies; historical test reports outcomes</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63640" y="2103120"/>
            <a:ext cx="4937760" cy="411480"/>
          </a:xfrm>
          <a:prstGeom prst="rect">
            <a:avLst/>
          </a:prstGeom>
          <a:noFill/>
        </p:spPr>
        <p:txBody>
          <a:bodyPr wrap="square" lIns="27432" rIns="27432" tIns="18288" bIns="18288">
            <a:spAutoFit/>
          </a:bodyPr>
          <a:lstStyle/>
          <a:p>
            <a:pPr>
              <a:spcAft>
                <a:spcPts val="700"/>
              </a:spcAft>
              <a:defRPr sz="2100" b="1">
                <a:solidFill>
                  <a:srgbClr val="187B78"/>
                </a:solidFill>
                <a:latin typeface="Arial"/>
              </a:defRPr>
            </a:pPr>
            <a:r>
              <a:t>Partition and purpose</a:t>
            </a:r>
          </a:p>
        </p:txBody>
      </p:sp>
      <p:sp>
        <p:nvSpPr>
          <p:cNvPr id="12" name="TextBox 11"/>
          <p:cNvSpPr txBox="1"/>
          <p:nvPr/>
        </p:nvSpPr>
        <p:spPr>
          <a:xfrm>
            <a:off x="6263640" y="2788920"/>
            <a:ext cx="3291840" cy="365760"/>
          </a:xfrm>
          <a:prstGeom prst="rect">
            <a:avLst/>
          </a:prstGeom>
          <a:noFill/>
        </p:spPr>
        <p:txBody>
          <a:bodyPr wrap="square" lIns="27432" rIns="27432" tIns="18288" bIns="18288">
            <a:spAutoFit/>
          </a:bodyPr>
          <a:lstStyle/>
          <a:p>
            <a:pPr>
              <a:spcAft>
                <a:spcPts val="700"/>
              </a:spcAft>
              <a:defRPr sz="2100" b="1">
                <a:solidFill>
                  <a:srgbClr val="183447"/>
                </a:solidFill>
                <a:latin typeface="Arial"/>
              </a:defRPr>
            </a:pPr>
            <a:r>
              <a:t>Fitting</a:t>
            </a:r>
          </a:p>
        </p:txBody>
      </p:sp>
      <p:sp>
        <p:nvSpPr>
          <p:cNvPr id="13" name="TextBox 12"/>
          <p:cNvSpPr txBox="1"/>
          <p:nvPr/>
        </p:nvSpPr>
        <p:spPr>
          <a:xfrm>
            <a:off x="9765792" y="2788920"/>
            <a:ext cx="1554480" cy="365760"/>
          </a:xfrm>
          <a:prstGeom prst="rect">
            <a:avLst/>
          </a:prstGeom>
          <a:noFill/>
        </p:spPr>
        <p:txBody>
          <a:bodyPr wrap="square" lIns="27432" rIns="27432" tIns="18288" bIns="18288">
            <a:spAutoFit/>
          </a:bodyPr>
          <a:lstStyle/>
          <a:p>
            <a:pPr>
              <a:spcAft>
                <a:spcPts val="700"/>
              </a:spcAft>
              <a:defRPr sz="2100" b="0">
                <a:solidFill>
                  <a:srgbClr val="187B78"/>
                </a:solidFill>
                <a:latin typeface="Arial"/>
              </a:defRPr>
            </a:pPr>
            <a:r>
              <a:t>18,000</a:t>
            </a:r>
          </a:p>
        </p:txBody>
      </p:sp>
      <p:sp>
        <p:nvSpPr>
          <p:cNvPr id="14" name="TextBox 13"/>
          <p:cNvSpPr txBox="1"/>
          <p:nvPr/>
        </p:nvSpPr>
        <p:spPr>
          <a:xfrm>
            <a:off x="6263640" y="3200400"/>
            <a:ext cx="4846320" cy="32004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Five-fold CV and final fitting</a:t>
            </a:r>
          </a:p>
        </p:txBody>
      </p:sp>
      <p:cxnSp>
        <p:nvCxnSpPr>
          <p:cNvPr id="15" name="Connector 14"/>
          <p:cNvCxnSpPr/>
          <p:nvPr/>
        </p:nvCxnSpPr>
        <p:spPr>
          <a:xfrm>
            <a:off x="6291072" y="3611879"/>
            <a:ext cx="5138928"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263640" y="3749039"/>
            <a:ext cx="3291840" cy="365760"/>
          </a:xfrm>
          <a:prstGeom prst="rect">
            <a:avLst/>
          </a:prstGeom>
          <a:noFill/>
        </p:spPr>
        <p:txBody>
          <a:bodyPr wrap="square" lIns="27432" rIns="27432" tIns="18288" bIns="18288">
            <a:spAutoFit/>
          </a:bodyPr>
          <a:lstStyle/>
          <a:p>
            <a:pPr>
              <a:spcAft>
                <a:spcPts val="700"/>
              </a:spcAft>
              <a:defRPr sz="2100" b="1">
                <a:solidFill>
                  <a:srgbClr val="183447"/>
                </a:solidFill>
                <a:latin typeface="Arial"/>
              </a:defRPr>
            </a:pPr>
            <a:r>
              <a:t>Validation</a:t>
            </a:r>
          </a:p>
        </p:txBody>
      </p:sp>
      <p:sp>
        <p:nvSpPr>
          <p:cNvPr id="17" name="TextBox 16"/>
          <p:cNvSpPr txBox="1"/>
          <p:nvPr/>
        </p:nvSpPr>
        <p:spPr>
          <a:xfrm>
            <a:off x="9765792" y="3749039"/>
            <a:ext cx="1554480" cy="365760"/>
          </a:xfrm>
          <a:prstGeom prst="rect">
            <a:avLst/>
          </a:prstGeom>
          <a:noFill/>
        </p:spPr>
        <p:txBody>
          <a:bodyPr wrap="square" lIns="27432" rIns="27432" tIns="18288" bIns="18288">
            <a:spAutoFit/>
          </a:bodyPr>
          <a:lstStyle/>
          <a:p>
            <a:pPr>
              <a:spcAft>
                <a:spcPts val="700"/>
              </a:spcAft>
              <a:defRPr sz="2100" b="0">
                <a:solidFill>
                  <a:srgbClr val="187B78"/>
                </a:solidFill>
                <a:latin typeface="Arial"/>
              </a:defRPr>
            </a:pPr>
            <a:r>
              <a:t>6,000</a:t>
            </a:r>
          </a:p>
        </p:txBody>
      </p:sp>
      <p:sp>
        <p:nvSpPr>
          <p:cNvPr id="18" name="TextBox 17"/>
          <p:cNvSpPr txBox="1"/>
          <p:nvPr/>
        </p:nvSpPr>
        <p:spPr>
          <a:xfrm>
            <a:off x="6263640" y="4160520"/>
            <a:ext cx="4846320" cy="32004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Select decision thresholds</a:t>
            </a:r>
          </a:p>
        </p:txBody>
      </p:sp>
      <p:cxnSp>
        <p:nvCxnSpPr>
          <p:cNvPr id="19" name="Connector 18"/>
          <p:cNvCxnSpPr/>
          <p:nvPr/>
        </p:nvCxnSpPr>
        <p:spPr>
          <a:xfrm>
            <a:off x="6291072" y="4572000"/>
            <a:ext cx="5138928"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6263640" y="4709160"/>
            <a:ext cx="3291840" cy="365760"/>
          </a:xfrm>
          <a:prstGeom prst="rect">
            <a:avLst/>
          </a:prstGeom>
          <a:noFill/>
        </p:spPr>
        <p:txBody>
          <a:bodyPr wrap="square" lIns="27432" rIns="27432" tIns="18288" bIns="18288">
            <a:spAutoFit/>
          </a:bodyPr>
          <a:lstStyle/>
          <a:p>
            <a:pPr>
              <a:spcAft>
                <a:spcPts val="700"/>
              </a:spcAft>
              <a:defRPr sz="2100" b="1">
                <a:solidFill>
                  <a:srgbClr val="183447"/>
                </a:solidFill>
                <a:latin typeface="Arial"/>
              </a:defRPr>
            </a:pPr>
            <a:r>
              <a:t>Test</a:t>
            </a:r>
          </a:p>
        </p:txBody>
      </p:sp>
      <p:sp>
        <p:nvSpPr>
          <p:cNvPr id="21" name="TextBox 20"/>
          <p:cNvSpPr txBox="1"/>
          <p:nvPr/>
        </p:nvSpPr>
        <p:spPr>
          <a:xfrm>
            <a:off x="9765792" y="4709160"/>
            <a:ext cx="1554480" cy="365760"/>
          </a:xfrm>
          <a:prstGeom prst="rect">
            <a:avLst/>
          </a:prstGeom>
          <a:noFill/>
        </p:spPr>
        <p:txBody>
          <a:bodyPr wrap="square" lIns="27432" rIns="27432" tIns="18288" bIns="18288">
            <a:spAutoFit/>
          </a:bodyPr>
          <a:lstStyle/>
          <a:p>
            <a:pPr>
              <a:spcAft>
                <a:spcPts val="700"/>
              </a:spcAft>
              <a:defRPr sz="2100" b="0">
                <a:solidFill>
                  <a:srgbClr val="187B78"/>
                </a:solidFill>
                <a:latin typeface="Arial"/>
              </a:defRPr>
            </a:pPr>
            <a:r>
              <a:t>6,000</a:t>
            </a:r>
          </a:p>
        </p:txBody>
      </p:sp>
      <p:sp>
        <p:nvSpPr>
          <p:cNvPr id="22" name="TextBox 21"/>
          <p:cNvSpPr txBox="1"/>
          <p:nvPr/>
        </p:nvSpPr>
        <p:spPr>
          <a:xfrm>
            <a:off x="6263640" y="5120640"/>
            <a:ext cx="4846320" cy="32004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Evaluate frozen decisions</a:t>
            </a:r>
          </a:p>
        </p:txBody>
      </p:sp>
      <p:cxnSp>
        <p:nvCxnSpPr>
          <p:cNvPr id="23" name="Connector 22"/>
          <p:cNvCxnSpPr/>
          <p:nvPr/>
        </p:nvCxnSpPr>
        <p:spPr>
          <a:xfrm>
            <a:off x="6291072" y="5532120"/>
            <a:ext cx="5138928"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data/splits; protocol_frozen.json; results/final/audit.json</a:t>
            </a:r>
          </a:p>
        </p:txBody>
      </p:sp>
      <p:cxnSp>
        <p:nvCxnSpPr>
          <p:cNvPr id="25" name="Connector 2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27" name="TextBox 2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1  /  Lei Peng  /  Data and logistic regression</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Logistic regression: the linear reference</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L2 model + fold-trained scaling + one-hot categories</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12 declared settings; CV selected C=0.1, unweighted</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Original LR notebook was empty; original process unverified</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AP 0.4967</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Baseline AP 0.4970</a:t>
            </a:r>
          </a:p>
          <a:p>
            <a:pPr>
              <a:spcAft>
                <a:spcPts val="700"/>
              </a:spcAft>
              <a:defRPr sz="2100" b="0">
                <a:solidFill>
                  <a:srgbClr val="526575"/>
                </a:solidFill>
                <a:latin typeface="Arial"/>
              </a:defRPr>
            </a:pPr>
            <a:r>
              <a:t>No ranking improvement from selection</a:t>
            </a:r>
          </a:p>
          <a:p>
            <a:pPr>
              <a:spcAft>
                <a:spcPts val="700"/>
              </a:spcAft>
              <a:defRPr sz="2100" b="0">
                <a:solidFill>
                  <a:srgbClr val="526575"/>
                </a:solidFill>
                <a:latin typeface="Arial"/>
              </a:defRPr>
            </a:pPr>
            <a:r>
              <a:t>LR* is a separate post-hoc supplement</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2  /  Zhang Hanyu  /  Decision tree and model comparison</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Decision tree: controlling overfitting</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average precision</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21 configurations: depth × minimum leaf size</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Unrestricted baseline fits training folds almost perfectly</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Selected minimum leaf size: 100 observations</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A large baseline gap signals overfitting.</a:t>
            </a:r>
          </a:p>
          <a:p>
            <a:pPr>
              <a:spcAft>
                <a:spcPts val="700"/>
              </a:spcAft>
              <a:defRPr sz="1500" b="0">
                <a:solidFill>
                  <a:srgbClr val="526575"/>
                </a:solidFill>
                <a:latin typeface="Arial"/>
              </a:defRPr>
            </a:pPr>
            <a:r>
              <a:t>CV selection improves this tree's ranking.</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2  /  Zhang Hanyu  /  Decision tree and model comparison</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Reading the tree’s first decision</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Root rule: recent repayment status PAY_0 ≤ 1.5</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Selected tree: depth 18, with 134 leaves</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Node proportions describe this fitting sample</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72784" y="2194560"/>
            <a:ext cx="5029200" cy="457200"/>
          </a:xfrm>
          <a:prstGeom prst="rect">
            <a:avLst/>
          </a:prstGeom>
          <a:noFill/>
        </p:spPr>
        <p:txBody>
          <a:bodyPr wrap="square" lIns="27432" rIns="27432" tIns="18288" bIns="18288">
            <a:spAutoFit/>
          </a:bodyPr>
          <a:lstStyle/>
          <a:p>
            <a:pPr>
              <a:spcAft>
                <a:spcPts val="700"/>
              </a:spcAft>
              <a:defRPr sz="2100" b="1">
                <a:solidFill>
                  <a:srgbClr val="187B78"/>
                </a:solidFill>
                <a:latin typeface="Arial"/>
              </a:defRPr>
            </a:pPr>
            <a:r>
              <a:t>Recent repayment status</a:t>
            </a:r>
          </a:p>
        </p:txBody>
      </p:sp>
      <p:sp>
        <p:nvSpPr>
          <p:cNvPr id="12" name="TextBox 11"/>
          <p:cNvSpPr txBox="1"/>
          <p:nvPr/>
        </p:nvSpPr>
        <p:spPr>
          <a:xfrm>
            <a:off x="7635240" y="2971800"/>
            <a:ext cx="2926080" cy="502920"/>
          </a:xfrm>
          <a:prstGeom prst="rect">
            <a:avLst/>
          </a:prstGeom>
          <a:noFill/>
        </p:spPr>
        <p:txBody>
          <a:bodyPr wrap="square" lIns="27432" rIns="27432" tIns="18288" bIns="18288">
            <a:spAutoFit/>
          </a:bodyPr>
          <a:lstStyle/>
          <a:p>
            <a:pPr>
              <a:spcAft>
                <a:spcPts val="700"/>
              </a:spcAft>
              <a:defRPr sz="2500" b="1">
                <a:solidFill>
                  <a:srgbClr val="183447"/>
                </a:solidFill>
                <a:latin typeface="Arial"/>
              </a:defRPr>
            </a:pPr>
            <a:r>
              <a:t>PAY_0 ≤ 1.5</a:t>
            </a:r>
          </a:p>
        </p:txBody>
      </p:sp>
      <p:cxnSp>
        <p:nvCxnSpPr>
          <p:cNvPr id="13" name="Connector 12"/>
          <p:cNvCxnSpPr/>
          <p:nvPr/>
        </p:nvCxnSpPr>
        <p:spPr>
          <a:xfrm flipH="1">
            <a:off x="7360920" y="3611880"/>
            <a:ext cx="1508760" cy="612648"/>
          </a:xfrm>
          <a:prstGeom prst="line">
            <a:avLst/>
          </a:prstGeom>
          <a:ln w="19050">
            <a:solidFill>
              <a:srgbClr val="187B78"/>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8869680" y="3611880"/>
            <a:ext cx="1417320" cy="612648"/>
          </a:xfrm>
          <a:prstGeom prst="line">
            <a:avLst/>
          </a:prstGeom>
          <a:ln w="1905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6611112" y="4389120"/>
            <a:ext cx="2468880" cy="411480"/>
          </a:xfrm>
          <a:prstGeom prst="rect">
            <a:avLst/>
          </a:prstGeom>
          <a:noFill/>
        </p:spPr>
        <p:txBody>
          <a:bodyPr wrap="square" lIns="27432" rIns="27432" tIns="18288" bIns="18288">
            <a:spAutoFit/>
          </a:bodyPr>
          <a:lstStyle/>
          <a:p>
            <a:pPr>
              <a:spcAft>
                <a:spcPts val="700"/>
              </a:spcAft>
              <a:defRPr sz="2500" b="0">
                <a:solidFill>
                  <a:srgbClr val="187B78"/>
                </a:solidFill>
                <a:latin typeface="Arial"/>
              </a:defRPr>
            </a:pPr>
            <a:r>
              <a:t>Yes · 16.51%</a:t>
            </a:r>
          </a:p>
        </p:txBody>
      </p:sp>
      <p:sp>
        <p:nvSpPr>
          <p:cNvPr id="16" name="TextBox 15"/>
          <p:cNvSpPr txBox="1"/>
          <p:nvPr/>
        </p:nvSpPr>
        <p:spPr>
          <a:xfrm>
            <a:off x="9372600" y="4389120"/>
            <a:ext cx="2103120" cy="411480"/>
          </a:xfrm>
          <a:prstGeom prst="rect">
            <a:avLst/>
          </a:prstGeom>
          <a:noFill/>
        </p:spPr>
        <p:txBody>
          <a:bodyPr wrap="square" lIns="27432" rIns="27432" tIns="18288" bIns="18288">
            <a:spAutoFit/>
          </a:bodyPr>
          <a:lstStyle/>
          <a:p>
            <a:pPr>
              <a:spcAft>
                <a:spcPts val="700"/>
              </a:spcAft>
              <a:defRPr sz="2500" b="0">
                <a:solidFill>
                  <a:srgbClr val="C8784A"/>
                </a:solidFill>
                <a:latin typeface="Arial"/>
              </a:defRPr>
            </a:pPr>
            <a:r>
              <a:t>No · 70.13%</a:t>
            </a:r>
          </a:p>
        </p:txBody>
      </p:sp>
      <p:sp>
        <p:nvSpPr>
          <p:cNvPr id="17" name="TextBox 16"/>
          <p:cNvSpPr txBox="1"/>
          <p:nvPr/>
        </p:nvSpPr>
        <p:spPr>
          <a:xfrm>
            <a:off x="6309360" y="5138928"/>
            <a:ext cx="5166360" cy="68580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Default proportion in each fitting-sample branch.</a:t>
            </a:r>
          </a:p>
          <a:p>
            <a:pPr>
              <a:spcAft>
                <a:spcPts val="700"/>
              </a:spcAft>
              <a:defRPr sz="1600" b="0">
                <a:solidFill>
                  <a:srgbClr val="526575"/>
                </a:solidFill>
                <a:latin typeface="Arial"/>
              </a:defRPr>
            </a:pPr>
            <a:r>
              <a:t>These are associations, not causal effects.</a:t>
            </a:r>
          </a:p>
        </p:txBody>
      </p:sp>
      <p:sp>
        <p:nvSpPr>
          <p:cNvPr id="18" name="TextBox 17"/>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saved decision-tree model; integration audit/report evidence.</a:t>
            </a:r>
          </a:p>
        </p:txBody>
      </p:sp>
      <p:cxnSp>
        <p:nvCxnSpPr>
          <p:cNvPr id="19" name="Connector 18"/>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21" name="TextBox 20"/>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2  /  Zhang Hanyu  /  Decision tree and model comparison</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Ranking performance across four models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average precision</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AP emphasizes positive-class retrieval</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AP is not trapezoidal PR-AUC</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CV selection precedes these test comparisons</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Baseline and selected models are both retained.</a:t>
            </a:r>
          </a:p>
          <a:p>
            <a:pPr>
              <a:spcAft>
                <a:spcPts val="700"/>
              </a:spcAft>
              <a:defRPr sz="1500" b="0">
                <a:solidFill>
                  <a:srgbClr val="526575"/>
                </a:solidFill>
                <a:latin typeface="Arial"/>
              </a:defRPr>
            </a:pPr>
            <a:r>
              <a:t>Small ensemble differences do not establish superiority.</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3  /  Zhou Xinzhe  /  Random forest and experiment audit</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Random forest: averaging and regularization</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average precision</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Baseline + 23 seeded candidate settings</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Selected: 500 trees, depth 8, minimum leaf 2</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Positive-class weight 3; feature fraction 0.5</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Averaging reduces dependence on one tree.</a:t>
            </a:r>
          </a:p>
          <a:p>
            <a:pPr>
              <a:spcAft>
                <a:spcPts val="700"/>
              </a:spcAft>
              <a:defRPr sz="1500" b="0">
                <a:solidFill>
                  <a:srgbClr val="526575"/>
                </a:solidFill>
                <a:latin typeface="Arial"/>
              </a:defRPr>
            </a:pPr>
            <a:r>
              <a:t>Weights also change the score distribution.</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3  /  Zhou Xinzhe  /  Random forest and experiment audit</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Random forest: the review workload</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Validation selected r=5 threshold: 0.3229</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Recall: 52.0% → 77.1%</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Alert rate: 21.1% → 48.4%</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3,758 → 3,404</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Test cost = FP + 5 × FN</a:t>
            </a:r>
          </a:p>
          <a:p>
            <a:pPr>
              <a:spcAft>
                <a:spcPts val="700"/>
              </a:spcAft>
              <a:defRPr sz="2100" b="0">
                <a:solidFill>
                  <a:srgbClr val="526575"/>
                </a:solidFill>
                <a:latin typeface="Arial"/>
              </a:defRPr>
            </a:pPr>
            <a:r>
              <a:t>Error cases checked under each policy</a:t>
            </a:r>
          </a:p>
          <a:p>
            <a:pPr>
              <a:spcAft>
                <a:spcPts val="700"/>
              </a:spcAft>
              <a:defRPr sz="2100" b="0">
                <a:solidFill>
                  <a:srgbClr val="526575"/>
                </a:solidFill>
                <a:latin typeface="Arial"/>
              </a:defRPr>
            </a:pPr>
            <a:r>
              <a:t>Same extreme cases can legitimately recur</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3  /  Zhou Xinzhe  /  Random forest and experiment audit</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What makes the comparison credible</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Identical fit / validation / five-fold memberships</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Metrics recomputed after row-ID alignment</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Frozen thresholds use score ≥ threshold at full precision</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Shared evidence, different searches</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Shared data and objective</a:t>
            </a:r>
          </a:p>
          <a:p>
            <a:pPr>
              <a:spcAft>
                <a:spcPts val="700"/>
              </a:spcAft>
              <a:defRPr sz="2100" b="0">
                <a:solidFill>
                  <a:srgbClr val="526575"/>
                </a:solidFill>
                <a:latin typeface="Arial"/>
              </a:defRPr>
            </a:pPr>
            <a:r>
              <a:t>Different search budgets</a:t>
            </a:r>
          </a:p>
          <a:p>
            <a:pPr>
              <a:spcAft>
                <a:spcPts val="700"/>
              </a:spcAft>
              <a:defRPr sz="2100" b="0">
                <a:solidFill>
                  <a:srgbClr val="526575"/>
                </a:solidFill>
                <a:latin typeface="Arial"/>
              </a:defRPr>
            </a:pPr>
            <a:r>
              <a:t>Historical exposure and LR* caveat remain</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results/final/audit.json; integration/LOGISTIC_PROVENANCE.md</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4  /  Xu Yiqun  /  XGBoost and cost analysis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XGBoost: no gain in test ranking</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average precision</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24 configurations; select by CV AP</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Selected: 150 trees, depth 4, rate 0.03</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Selected ROC-AUC: 0.7762</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Tuned − baseline AP: -0.0028</a:t>
            </a:r>
          </a:p>
          <a:p>
            <a:pPr>
              <a:spcAft>
                <a:spcPts val="700"/>
              </a:spcAft>
              <a:defRPr sz="1500" b="0">
                <a:solidFill>
                  <a:srgbClr val="526575"/>
                </a:solidFill>
                <a:latin typeface="Arial"/>
              </a:defRPr>
            </a:pPr>
            <a:r>
              <a:t>Conditional 95% interval: [-0.0106, 0.0054]</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4  /  Xu Yiqun  /  XGBoost and cost analysis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XGBoost: fewer misses, more reviews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confusion trade-off</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Validation r=5 cutoff: 0.3150</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Recall 54.9% → 82.5%; alerts 55.7%</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Cost 3,685 → 3,408: 7.5% reduction</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Same ranking scores, different action policy.</a:t>
            </a:r>
          </a:p>
          <a:p>
            <a:pPr>
              <a:spcAft>
                <a:spcPts val="700"/>
              </a:spcAft>
              <a:defRPr sz="1500" b="0">
                <a:solidFill>
                  <a:srgbClr val="526575"/>
                </a:solidFill>
                <a:latin typeface="Arial"/>
              </a:defRPr>
            </a:pPr>
            <a:r>
              <a:t>Review costs are hypothetical; capacity is unmeasured.</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4  /  Xu Yiqun  /  XGBoost and cost analysis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What the results mean for credit review</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Ranking, explanations, and workload need separate evidence</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No clear ensemble winner from these small differences</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Next: fresh temporal data, calibration, subgroup errors</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Discussion</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Set realistic costs and review capacity.</a:t>
            </a:r>
          </a:p>
          <a:p>
            <a:pPr>
              <a:spcAft>
                <a:spcPts val="700"/>
              </a:spcAft>
              <a:defRPr sz="2100" b="0">
                <a:solidFill>
                  <a:srgbClr val="526575"/>
                </a:solidFill>
                <a:latin typeface="Arial"/>
              </a:defRPr>
            </a:pPr>
            <a:r>
              <a:t>Validate the policy on fresh data.</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Historical educational study; no causal or deployment-readiness claim.</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Q&amp;A BACKUP  /  Zhang Hanyu  /  Decision tree and model comparison</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Backup A • AP, ROC-AUC and threshold metrics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AP = sum of recall increments × precision</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ROC-AUC measures positive/negative score ordering</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Precision, recall, F1 and accuracy require a threshold</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Two different definitions</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Saved continuous scores supply ranking metrics.</a:t>
            </a:r>
          </a:p>
          <a:p>
            <a:pPr>
              <a:spcAft>
                <a:spcPts val="700"/>
              </a:spcAft>
              <a:defRPr sz="2100" b="0">
                <a:solidFill>
                  <a:srgbClr val="526575"/>
                </a:solidFill>
                <a:latin typeface="Arial"/>
              </a:defRPr>
            </a:pPr>
            <a:r>
              <a:t>Changing the cutoff changes decisions only.</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scikit-learn average_precision_score documentation; part4/evaluation.py</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Q&amp;A BACKUP  /  Xu Yiqun  /  XGBoost and cost analysis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Backup B • Cost ratios and fixed-prediction uncertainty</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Predeclared ratios: r = 1, 3, 5, 10</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Validation minimum cost; ties prefer largest cutoff</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1,000 stratified paired bootstrap resamples</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What the intervals cover</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Fixed models / thresholds / class counts</a:t>
            </a:r>
          </a:p>
          <a:p>
            <a:pPr>
              <a:spcAft>
                <a:spcPts val="700"/>
              </a:spcAft>
              <a:defRPr sz="2100" b="0">
                <a:solidFill>
                  <a:srgbClr val="526575"/>
                </a:solidFill>
                <a:latin typeface="Arial"/>
              </a:defRPr>
            </a:pPr>
            <a:r>
              <a:t>Excludes fitting / selection uncertainty</a:t>
            </a:r>
          </a:p>
          <a:p>
            <a:pPr>
              <a:spcAft>
                <a:spcPts val="700"/>
              </a:spcAft>
              <a:defRPr sz="2100" b="0">
                <a:solidFill>
                  <a:srgbClr val="526575"/>
                </a:solidFill>
                <a:latin typeface="Arial"/>
              </a:defRPr>
            </a:pPr>
            <a:r>
              <a:t>Excludes population / prevalence shifts</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frozen protocols; integration/uncertainty.py; bootstrap_intervals.csv</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Q&amp;A BACKUP  /  Lei Peng  /  Data and logistic regression</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Backup C • Data provenance and evidence boundaries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UCI cleaning reproduced exactly from downloaded source</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EDUCATION 0/5/6 → 4; MARRIAGE 0 → 3</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Retained duplicate vectors can span partitions</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The limits of historical evidence</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Original LR process remains unverified.</a:t>
            </a:r>
          </a:p>
          <a:p>
            <a:pPr>
              <a:spcAft>
                <a:spcPts val="700"/>
              </a:spcAft>
              <a:defRPr sz="2100" b="0">
                <a:solidFill>
                  <a:srgbClr val="526575"/>
                </a:solidFill>
                <a:latin typeface="Arial"/>
              </a:defRPr>
            </a:pPr>
            <a:r>
              <a:t>LR* source was committed before its one run.</a:t>
            </a:r>
          </a:p>
          <a:p>
            <a:pPr>
              <a:spcAft>
                <a:spcPts val="700"/>
              </a:spcAft>
              <a:defRPr sz="2100" b="0">
                <a:solidFill>
                  <a:srgbClr val="526575"/>
                </a:solidFill>
                <a:latin typeface="Arial"/>
              </a:defRPr>
            </a:pPr>
            <a:r>
              <a:t>No new unseen-test claim is made.</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Sources: results/final/source_audit.json; integration/LOGISTIC_PROVENANCE.md</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Q&amp;A BACKUP  /  Zhou Xinzhe  /  Random forest and experiment audit</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Backup D • Sources, responsibilities and reproducibility</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UCI: doi.org/10.24432/C55S3H</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scikit-learn: average_precision_score documentation</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XGBoost paper: doi.org/10.1145/2939672.2939785</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63640" y="2103120"/>
            <a:ext cx="5120640" cy="457200"/>
          </a:xfrm>
          <a:prstGeom prst="rect">
            <a:avLst/>
          </a:prstGeom>
          <a:noFill/>
        </p:spPr>
        <p:txBody>
          <a:bodyPr wrap="square" lIns="27432" rIns="27432" tIns="18288" bIns="18288">
            <a:spAutoFit/>
          </a:bodyPr>
          <a:lstStyle/>
          <a:p>
            <a:pPr>
              <a:spcAft>
                <a:spcPts val="700"/>
              </a:spcAft>
              <a:defRPr sz="2100" b="1">
                <a:solidFill>
                  <a:srgbClr val="187B78"/>
                </a:solidFill>
                <a:latin typeface="Arial"/>
              </a:defRPr>
            </a:pPr>
            <a:r>
              <a:t>Member contributions · 25% each</a:t>
            </a:r>
          </a:p>
        </p:txBody>
      </p:sp>
      <p:sp>
        <p:nvSpPr>
          <p:cNvPr id="12" name="TextBox 11"/>
          <p:cNvSpPr txBox="1"/>
          <p:nvPr/>
        </p:nvSpPr>
        <p:spPr>
          <a:xfrm>
            <a:off x="6263640" y="2743200"/>
            <a:ext cx="5212080" cy="365760"/>
          </a:xfrm>
          <a:prstGeom prst="rect">
            <a:avLst/>
          </a:prstGeom>
          <a:noFill/>
        </p:spPr>
        <p:txBody>
          <a:bodyPr wrap="square" lIns="27432" rIns="27432" tIns="18288" bIns="18288">
            <a:spAutoFit/>
          </a:bodyPr>
          <a:lstStyle/>
          <a:p>
            <a:pPr>
              <a:spcAft>
                <a:spcPts val="700"/>
              </a:spcAft>
              <a:defRPr sz="1800" b="1">
                <a:solidFill>
                  <a:srgbClr val="183447"/>
                </a:solidFill>
                <a:latin typeface="Arial"/>
              </a:defRPr>
            </a:pPr>
            <a:r>
              <a:t>Lei Peng  ·  G2509090C</a:t>
            </a:r>
          </a:p>
        </p:txBody>
      </p:sp>
      <p:sp>
        <p:nvSpPr>
          <p:cNvPr id="13" name="TextBox 12"/>
          <p:cNvSpPr txBox="1"/>
          <p:nvPr/>
        </p:nvSpPr>
        <p:spPr>
          <a:xfrm>
            <a:off x="6263640" y="3090672"/>
            <a:ext cx="5212080" cy="320040"/>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Part 1 — Data and logistic regression</a:t>
            </a:r>
          </a:p>
        </p:txBody>
      </p:sp>
      <p:sp>
        <p:nvSpPr>
          <p:cNvPr id="14" name="TextBox 13"/>
          <p:cNvSpPr txBox="1"/>
          <p:nvPr/>
        </p:nvSpPr>
        <p:spPr>
          <a:xfrm>
            <a:off x="6263640" y="3474720"/>
            <a:ext cx="5212080" cy="365760"/>
          </a:xfrm>
          <a:prstGeom prst="rect">
            <a:avLst/>
          </a:prstGeom>
          <a:noFill/>
        </p:spPr>
        <p:txBody>
          <a:bodyPr wrap="square" lIns="27432" rIns="27432" tIns="18288" bIns="18288">
            <a:spAutoFit/>
          </a:bodyPr>
          <a:lstStyle/>
          <a:p>
            <a:pPr>
              <a:spcAft>
                <a:spcPts val="700"/>
              </a:spcAft>
              <a:defRPr sz="1800" b="1">
                <a:solidFill>
                  <a:srgbClr val="183447"/>
                </a:solidFill>
                <a:latin typeface="Arial"/>
              </a:defRPr>
            </a:pPr>
            <a:r>
              <a:t>Zhang Hanyu  ·  G2509091L</a:t>
            </a:r>
          </a:p>
        </p:txBody>
      </p:sp>
      <p:sp>
        <p:nvSpPr>
          <p:cNvPr id="15" name="TextBox 14"/>
          <p:cNvSpPr txBox="1"/>
          <p:nvPr/>
        </p:nvSpPr>
        <p:spPr>
          <a:xfrm>
            <a:off x="6263640" y="3822191"/>
            <a:ext cx="5212080" cy="320040"/>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Part 2 — Decision tree and model comparison</a:t>
            </a:r>
          </a:p>
        </p:txBody>
      </p:sp>
      <p:sp>
        <p:nvSpPr>
          <p:cNvPr id="16" name="TextBox 15"/>
          <p:cNvSpPr txBox="1"/>
          <p:nvPr/>
        </p:nvSpPr>
        <p:spPr>
          <a:xfrm>
            <a:off x="6263640" y="4206240"/>
            <a:ext cx="5212080" cy="365760"/>
          </a:xfrm>
          <a:prstGeom prst="rect">
            <a:avLst/>
          </a:prstGeom>
          <a:noFill/>
        </p:spPr>
        <p:txBody>
          <a:bodyPr wrap="square" lIns="27432" rIns="27432" tIns="18288" bIns="18288">
            <a:spAutoFit/>
          </a:bodyPr>
          <a:lstStyle/>
          <a:p>
            <a:pPr>
              <a:spcAft>
                <a:spcPts val="700"/>
              </a:spcAft>
              <a:defRPr sz="1800" b="1">
                <a:solidFill>
                  <a:srgbClr val="183447"/>
                </a:solidFill>
                <a:latin typeface="Arial"/>
              </a:defRPr>
            </a:pPr>
            <a:r>
              <a:t>Zhou Xinzhe  ·  G2509033F</a:t>
            </a:r>
          </a:p>
        </p:txBody>
      </p:sp>
      <p:sp>
        <p:nvSpPr>
          <p:cNvPr id="17" name="TextBox 16"/>
          <p:cNvSpPr txBox="1"/>
          <p:nvPr/>
        </p:nvSpPr>
        <p:spPr>
          <a:xfrm>
            <a:off x="6263640" y="4553712"/>
            <a:ext cx="5212080" cy="320040"/>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Part 3 — Random forest and experiment audit</a:t>
            </a:r>
          </a:p>
        </p:txBody>
      </p:sp>
      <p:sp>
        <p:nvSpPr>
          <p:cNvPr id="18" name="TextBox 17"/>
          <p:cNvSpPr txBox="1"/>
          <p:nvPr/>
        </p:nvSpPr>
        <p:spPr>
          <a:xfrm>
            <a:off x="6263640" y="4937760"/>
            <a:ext cx="5212080" cy="365760"/>
          </a:xfrm>
          <a:prstGeom prst="rect">
            <a:avLst/>
          </a:prstGeom>
          <a:noFill/>
        </p:spPr>
        <p:txBody>
          <a:bodyPr wrap="square" lIns="27432" rIns="27432" tIns="18288" bIns="18288">
            <a:spAutoFit/>
          </a:bodyPr>
          <a:lstStyle/>
          <a:p>
            <a:pPr>
              <a:spcAft>
                <a:spcPts val="700"/>
              </a:spcAft>
              <a:defRPr sz="1800" b="1">
                <a:solidFill>
                  <a:srgbClr val="183447"/>
                </a:solidFill>
                <a:latin typeface="Arial"/>
              </a:defRPr>
            </a:pPr>
            <a:r>
              <a:t>Xu Yiqun  ·  G2509092H</a:t>
            </a:r>
          </a:p>
        </p:txBody>
      </p:sp>
      <p:sp>
        <p:nvSpPr>
          <p:cNvPr id="19" name="TextBox 18"/>
          <p:cNvSpPr txBox="1"/>
          <p:nvPr/>
        </p:nvSpPr>
        <p:spPr>
          <a:xfrm>
            <a:off x="6263640" y="5285232"/>
            <a:ext cx="5212080" cy="320040"/>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Part 4 — XGBoost and cost analysis</a:t>
            </a:r>
          </a:p>
        </p:txBody>
      </p:sp>
      <p:sp>
        <p:nvSpPr>
          <p:cNvPr id="20" name="TextBox 19"/>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Sources: Group 5 repository, frozen protocols, row-level predictions and integration audit.</a:t>
            </a:r>
          </a:p>
        </p:txBody>
      </p:sp>
      <p:cxnSp>
        <p:nvCxnSpPr>
          <p:cNvPr id="21" name="Connector 20"/>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23" name="TextBox 22"/>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